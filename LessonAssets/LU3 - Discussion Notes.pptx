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7F58E2-CE16-47FB-ABAE-78610C39D1FC}" type="doc">
      <dgm:prSet loTypeId="urn:microsoft.com/office/officeart/2018/2/layout/IconLabelList" loCatId="icon" qsTypeId="urn:microsoft.com/office/officeart/2005/8/quickstyle/simple1#24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3089780-C34E-44D1-A332-51A46ABCC4B3}">
      <dgm:prSet/>
      <dgm:spPr/>
      <dgm:t>
        <a:bodyPr/>
        <a:lstStyle/>
        <a:p>
          <a:r>
            <a:rPr lang="en-SG"/>
            <a:t>Platform that is multi-sided </a:t>
          </a:r>
          <a:endParaRPr lang="en-US"/>
        </a:p>
      </dgm:t>
    </dgm:pt>
    <dgm:pt modelId="{89472341-D433-4535-ABBB-94BE63024E83}" type="parTrans" cxnId="{0561BD95-6DC1-4276-A97B-09E353F9EF80}">
      <dgm:prSet/>
      <dgm:spPr/>
      <dgm:t>
        <a:bodyPr/>
        <a:lstStyle/>
        <a:p>
          <a:endParaRPr lang="en-US"/>
        </a:p>
      </dgm:t>
    </dgm:pt>
    <dgm:pt modelId="{2E456FD0-9269-47E6-AE92-CEFB13787F93}" type="sibTrans" cxnId="{0561BD95-6DC1-4276-A97B-09E353F9EF80}">
      <dgm:prSet/>
      <dgm:spPr/>
      <dgm:t>
        <a:bodyPr/>
        <a:lstStyle/>
        <a:p>
          <a:endParaRPr lang="en-US"/>
        </a:p>
      </dgm:t>
    </dgm:pt>
    <dgm:pt modelId="{7A1E8E8C-A2C7-42EF-BD4A-25CCC9F3F198}">
      <dgm:prSet/>
      <dgm:spPr/>
      <dgm:t>
        <a:bodyPr/>
        <a:lstStyle/>
        <a:p>
          <a:r>
            <a:rPr lang="en-SG"/>
            <a:t>SaaS (Software as a Service) </a:t>
          </a:r>
          <a:endParaRPr lang="en-US"/>
        </a:p>
      </dgm:t>
    </dgm:pt>
    <dgm:pt modelId="{3D5812A5-5CE1-4CBE-815E-132F778E8B31}" type="parTrans" cxnId="{6D6DC795-ECB3-4C48-985D-CEFD6D4BCD9D}">
      <dgm:prSet/>
      <dgm:spPr/>
      <dgm:t>
        <a:bodyPr/>
        <a:lstStyle/>
        <a:p>
          <a:endParaRPr lang="en-US"/>
        </a:p>
      </dgm:t>
    </dgm:pt>
    <dgm:pt modelId="{E24BE166-D757-48F3-BEDE-9151B500CB32}" type="sibTrans" cxnId="{6D6DC795-ECB3-4C48-985D-CEFD6D4BCD9D}">
      <dgm:prSet/>
      <dgm:spPr/>
      <dgm:t>
        <a:bodyPr/>
        <a:lstStyle/>
        <a:p>
          <a:endParaRPr lang="en-US"/>
        </a:p>
      </dgm:t>
    </dgm:pt>
    <dgm:pt modelId="{BA90FE1E-8FC2-4AC7-84FB-4BBC6E47EDCE}">
      <dgm:prSet/>
      <dgm:spPr/>
      <dgm:t>
        <a:bodyPr/>
        <a:lstStyle/>
        <a:p>
          <a:r>
            <a:rPr lang="en-SG"/>
            <a:t>APIs (Application Programming Interface)</a:t>
          </a:r>
          <a:endParaRPr lang="en-US"/>
        </a:p>
      </dgm:t>
    </dgm:pt>
    <dgm:pt modelId="{CB5DA632-C464-48EC-8A68-A8EB2411EBC2}" type="parTrans" cxnId="{51C195D6-1694-4666-8066-4B5FAC6147D9}">
      <dgm:prSet/>
      <dgm:spPr/>
      <dgm:t>
        <a:bodyPr/>
        <a:lstStyle/>
        <a:p>
          <a:endParaRPr lang="en-US"/>
        </a:p>
      </dgm:t>
    </dgm:pt>
    <dgm:pt modelId="{70FCE1A5-4FA7-426D-8AAF-30BD2220BA50}" type="sibTrans" cxnId="{51C195D6-1694-4666-8066-4B5FAC6147D9}">
      <dgm:prSet/>
      <dgm:spPr/>
      <dgm:t>
        <a:bodyPr/>
        <a:lstStyle/>
        <a:p>
          <a:endParaRPr lang="en-US"/>
        </a:p>
      </dgm:t>
    </dgm:pt>
    <dgm:pt modelId="{2E8A1C14-BA38-4FFD-82A1-ECFDDB391294}">
      <dgm:prSet/>
      <dgm:spPr/>
      <dgm:t>
        <a:bodyPr/>
        <a:lstStyle/>
        <a:p>
          <a:r>
            <a:rPr lang="en-SG"/>
            <a:t>ERP (Enterprise Resource Planning)</a:t>
          </a:r>
          <a:endParaRPr lang="en-US"/>
        </a:p>
      </dgm:t>
    </dgm:pt>
    <dgm:pt modelId="{C2607F37-0223-432E-AE77-EBA33C36EC8B}" type="parTrans" cxnId="{6098F85F-AF3D-4E8C-89E5-F81EDE97F3CC}">
      <dgm:prSet/>
      <dgm:spPr/>
      <dgm:t>
        <a:bodyPr/>
        <a:lstStyle/>
        <a:p>
          <a:endParaRPr lang="en-US"/>
        </a:p>
      </dgm:t>
    </dgm:pt>
    <dgm:pt modelId="{121F1C2A-78CF-4476-8EF7-2B7168D476AA}" type="sibTrans" cxnId="{6098F85F-AF3D-4E8C-89E5-F81EDE97F3CC}">
      <dgm:prSet/>
      <dgm:spPr/>
      <dgm:t>
        <a:bodyPr/>
        <a:lstStyle/>
        <a:p>
          <a:endParaRPr lang="en-US"/>
        </a:p>
      </dgm:t>
    </dgm:pt>
    <dgm:pt modelId="{2E001694-42A9-41FD-8191-C2E66E1D2FE4}" type="pres">
      <dgm:prSet presAssocID="{177F58E2-CE16-47FB-ABAE-78610C39D1FC}" presName="root" presStyleCnt="0">
        <dgm:presLayoutVars>
          <dgm:dir/>
          <dgm:resizeHandles val="exact"/>
        </dgm:presLayoutVars>
      </dgm:prSet>
      <dgm:spPr/>
    </dgm:pt>
    <dgm:pt modelId="{B6B08811-DEA6-4E68-B412-346074A51676}" type="pres">
      <dgm:prSet presAssocID="{F3089780-C34E-44D1-A332-51A46ABCC4B3}" presName="compNode" presStyleCnt="0"/>
      <dgm:spPr/>
    </dgm:pt>
    <dgm:pt modelId="{B21F7DFA-EAB1-475E-8E33-3B47A80CE781}" type="pres">
      <dgm:prSet presAssocID="{F3089780-C34E-44D1-A332-51A46ABCC4B3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A6237E6-3EED-48DB-897F-AB110713B588}" type="pres">
      <dgm:prSet presAssocID="{F3089780-C34E-44D1-A332-51A46ABCC4B3}" presName="spaceRect" presStyleCnt="0"/>
      <dgm:spPr/>
    </dgm:pt>
    <dgm:pt modelId="{62465D2D-BA69-49C9-B2E0-927228B5FFFB}" type="pres">
      <dgm:prSet presAssocID="{F3089780-C34E-44D1-A332-51A46ABCC4B3}" presName="textRect" presStyleLbl="revTx" presStyleIdx="0" presStyleCnt="4">
        <dgm:presLayoutVars>
          <dgm:chMax val="1"/>
          <dgm:chPref val="1"/>
        </dgm:presLayoutVars>
      </dgm:prSet>
      <dgm:spPr/>
    </dgm:pt>
    <dgm:pt modelId="{6820D277-3740-42C7-9D23-C044B8C7BDAD}" type="pres">
      <dgm:prSet presAssocID="{2E456FD0-9269-47E6-AE92-CEFB13787F93}" presName="sibTrans" presStyleCnt="0"/>
      <dgm:spPr/>
    </dgm:pt>
    <dgm:pt modelId="{62F7D4C3-CED4-486E-AC63-82B7E45F3BFD}" type="pres">
      <dgm:prSet presAssocID="{7A1E8E8C-A2C7-42EF-BD4A-25CCC9F3F198}" presName="compNode" presStyleCnt="0"/>
      <dgm:spPr/>
    </dgm:pt>
    <dgm:pt modelId="{D6F0DCDF-DAD4-4A85-9356-EEC4D459F1A6}" type="pres">
      <dgm:prSet presAssocID="{7A1E8E8C-A2C7-42EF-BD4A-25CCC9F3F19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3B6BBB6C-B14A-4DFB-AC05-63220CFF0EF6}" type="pres">
      <dgm:prSet presAssocID="{7A1E8E8C-A2C7-42EF-BD4A-25CCC9F3F198}" presName="spaceRect" presStyleCnt="0"/>
      <dgm:spPr/>
    </dgm:pt>
    <dgm:pt modelId="{448C0BD1-E620-46C0-859E-C8802BCA15DD}" type="pres">
      <dgm:prSet presAssocID="{7A1E8E8C-A2C7-42EF-BD4A-25CCC9F3F198}" presName="textRect" presStyleLbl="revTx" presStyleIdx="1" presStyleCnt="4">
        <dgm:presLayoutVars>
          <dgm:chMax val="1"/>
          <dgm:chPref val="1"/>
        </dgm:presLayoutVars>
      </dgm:prSet>
      <dgm:spPr/>
    </dgm:pt>
    <dgm:pt modelId="{DE8F43BF-3525-4F61-92F1-6BEB1778E245}" type="pres">
      <dgm:prSet presAssocID="{E24BE166-D757-48F3-BEDE-9151B500CB32}" presName="sibTrans" presStyleCnt="0"/>
      <dgm:spPr/>
    </dgm:pt>
    <dgm:pt modelId="{21B2661D-8F69-4684-B74F-F28F501A1004}" type="pres">
      <dgm:prSet presAssocID="{BA90FE1E-8FC2-4AC7-84FB-4BBC6E47EDCE}" presName="compNode" presStyleCnt="0"/>
      <dgm:spPr/>
    </dgm:pt>
    <dgm:pt modelId="{C7BC32B2-C265-4771-BCFB-3B5FC353A68D}" type="pres">
      <dgm:prSet presAssocID="{BA90FE1E-8FC2-4AC7-84FB-4BBC6E47EDCE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3F0EEA33-A7F5-41F8-A60D-552E12FB8EE8}" type="pres">
      <dgm:prSet presAssocID="{BA90FE1E-8FC2-4AC7-84FB-4BBC6E47EDCE}" presName="spaceRect" presStyleCnt="0"/>
      <dgm:spPr/>
    </dgm:pt>
    <dgm:pt modelId="{50CB0AF8-5E7C-4AE7-BF7B-DA5558C31DA5}" type="pres">
      <dgm:prSet presAssocID="{BA90FE1E-8FC2-4AC7-84FB-4BBC6E47EDCE}" presName="textRect" presStyleLbl="revTx" presStyleIdx="2" presStyleCnt="4">
        <dgm:presLayoutVars>
          <dgm:chMax val="1"/>
          <dgm:chPref val="1"/>
        </dgm:presLayoutVars>
      </dgm:prSet>
      <dgm:spPr/>
    </dgm:pt>
    <dgm:pt modelId="{97559E66-E7C8-4132-9E24-9038E2C66D65}" type="pres">
      <dgm:prSet presAssocID="{70FCE1A5-4FA7-426D-8AAF-30BD2220BA50}" presName="sibTrans" presStyleCnt="0"/>
      <dgm:spPr/>
    </dgm:pt>
    <dgm:pt modelId="{8DF66131-C312-4A59-9C9D-A6563ECC6263}" type="pres">
      <dgm:prSet presAssocID="{2E8A1C14-BA38-4FFD-82A1-ECFDDB391294}" presName="compNode" presStyleCnt="0"/>
      <dgm:spPr/>
    </dgm:pt>
    <dgm:pt modelId="{D8670CD4-10E8-4465-B826-1C15E7C6E73B}" type="pres">
      <dgm:prSet presAssocID="{2E8A1C14-BA38-4FFD-82A1-ECFDDB391294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0C33FDD-1B3C-4647-B0B6-2D6F6F28089E}" type="pres">
      <dgm:prSet presAssocID="{2E8A1C14-BA38-4FFD-82A1-ECFDDB391294}" presName="spaceRect" presStyleCnt="0"/>
      <dgm:spPr/>
    </dgm:pt>
    <dgm:pt modelId="{E188964C-5D05-4AD5-8805-464C1B70DC22}" type="pres">
      <dgm:prSet presAssocID="{2E8A1C14-BA38-4FFD-82A1-ECFDDB391294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33947902-8568-40D1-8B15-08316A062634}" type="presOf" srcId="{F3089780-C34E-44D1-A332-51A46ABCC4B3}" destId="{62465D2D-BA69-49C9-B2E0-927228B5FFFB}" srcOrd="0" destOrd="0" presId="urn:microsoft.com/office/officeart/2018/2/layout/IconLabelList"/>
    <dgm:cxn modelId="{58E60C04-F8B3-413F-928F-DF9BE060A923}" type="presOf" srcId="{2E8A1C14-BA38-4FFD-82A1-ECFDDB391294}" destId="{E188964C-5D05-4AD5-8805-464C1B70DC22}" srcOrd="0" destOrd="0" presId="urn:microsoft.com/office/officeart/2018/2/layout/IconLabelList"/>
    <dgm:cxn modelId="{A856AB32-0DA3-4995-853E-98C74F9F2309}" type="presOf" srcId="{7A1E8E8C-A2C7-42EF-BD4A-25CCC9F3F198}" destId="{448C0BD1-E620-46C0-859E-C8802BCA15DD}" srcOrd="0" destOrd="0" presId="urn:microsoft.com/office/officeart/2018/2/layout/IconLabelList"/>
    <dgm:cxn modelId="{6098F85F-AF3D-4E8C-89E5-F81EDE97F3CC}" srcId="{177F58E2-CE16-47FB-ABAE-78610C39D1FC}" destId="{2E8A1C14-BA38-4FFD-82A1-ECFDDB391294}" srcOrd="3" destOrd="0" parTransId="{C2607F37-0223-432E-AE77-EBA33C36EC8B}" sibTransId="{121F1C2A-78CF-4476-8EF7-2B7168D476AA}"/>
    <dgm:cxn modelId="{7947246B-D67D-4D71-AC22-F24FF964130D}" type="presOf" srcId="{BA90FE1E-8FC2-4AC7-84FB-4BBC6E47EDCE}" destId="{50CB0AF8-5E7C-4AE7-BF7B-DA5558C31DA5}" srcOrd="0" destOrd="0" presId="urn:microsoft.com/office/officeart/2018/2/layout/IconLabelList"/>
    <dgm:cxn modelId="{0561BD95-6DC1-4276-A97B-09E353F9EF80}" srcId="{177F58E2-CE16-47FB-ABAE-78610C39D1FC}" destId="{F3089780-C34E-44D1-A332-51A46ABCC4B3}" srcOrd="0" destOrd="0" parTransId="{89472341-D433-4535-ABBB-94BE63024E83}" sibTransId="{2E456FD0-9269-47E6-AE92-CEFB13787F93}"/>
    <dgm:cxn modelId="{6D6DC795-ECB3-4C48-985D-CEFD6D4BCD9D}" srcId="{177F58E2-CE16-47FB-ABAE-78610C39D1FC}" destId="{7A1E8E8C-A2C7-42EF-BD4A-25CCC9F3F198}" srcOrd="1" destOrd="0" parTransId="{3D5812A5-5CE1-4CBE-815E-132F778E8B31}" sibTransId="{E24BE166-D757-48F3-BEDE-9151B500CB32}"/>
    <dgm:cxn modelId="{192D40BC-D7FE-4B3D-9AEF-6C7E5F8C2992}" type="presOf" srcId="{177F58E2-CE16-47FB-ABAE-78610C39D1FC}" destId="{2E001694-42A9-41FD-8191-C2E66E1D2FE4}" srcOrd="0" destOrd="0" presId="urn:microsoft.com/office/officeart/2018/2/layout/IconLabelList"/>
    <dgm:cxn modelId="{51C195D6-1694-4666-8066-4B5FAC6147D9}" srcId="{177F58E2-CE16-47FB-ABAE-78610C39D1FC}" destId="{BA90FE1E-8FC2-4AC7-84FB-4BBC6E47EDCE}" srcOrd="2" destOrd="0" parTransId="{CB5DA632-C464-48EC-8A68-A8EB2411EBC2}" sibTransId="{70FCE1A5-4FA7-426D-8AAF-30BD2220BA50}"/>
    <dgm:cxn modelId="{38759F65-7EDB-4761-90B4-587C43214791}" type="presParOf" srcId="{2E001694-42A9-41FD-8191-C2E66E1D2FE4}" destId="{B6B08811-DEA6-4E68-B412-346074A51676}" srcOrd="0" destOrd="0" presId="urn:microsoft.com/office/officeart/2018/2/layout/IconLabelList"/>
    <dgm:cxn modelId="{FB0BDB39-1E5E-4944-A562-63FDF2EDEC91}" type="presParOf" srcId="{B6B08811-DEA6-4E68-B412-346074A51676}" destId="{B21F7DFA-EAB1-475E-8E33-3B47A80CE781}" srcOrd="0" destOrd="0" presId="urn:microsoft.com/office/officeart/2018/2/layout/IconLabelList"/>
    <dgm:cxn modelId="{50E642D9-8B72-4E81-B5B4-2FACAF4CF4FF}" type="presParOf" srcId="{B6B08811-DEA6-4E68-B412-346074A51676}" destId="{3A6237E6-3EED-48DB-897F-AB110713B588}" srcOrd="1" destOrd="0" presId="urn:microsoft.com/office/officeart/2018/2/layout/IconLabelList"/>
    <dgm:cxn modelId="{29FE5EF5-51E5-499F-922A-CFBAE6426318}" type="presParOf" srcId="{B6B08811-DEA6-4E68-B412-346074A51676}" destId="{62465D2D-BA69-49C9-B2E0-927228B5FFFB}" srcOrd="2" destOrd="0" presId="urn:microsoft.com/office/officeart/2018/2/layout/IconLabelList"/>
    <dgm:cxn modelId="{F40EA2FC-7243-4FC4-86FB-090891174E9E}" type="presParOf" srcId="{2E001694-42A9-41FD-8191-C2E66E1D2FE4}" destId="{6820D277-3740-42C7-9D23-C044B8C7BDAD}" srcOrd="1" destOrd="0" presId="urn:microsoft.com/office/officeart/2018/2/layout/IconLabelList"/>
    <dgm:cxn modelId="{47C63C41-AA09-4DC2-A78C-AC402EF3EDF0}" type="presParOf" srcId="{2E001694-42A9-41FD-8191-C2E66E1D2FE4}" destId="{62F7D4C3-CED4-486E-AC63-82B7E45F3BFD}" srcOrd="2" destOrd="0" presId="urn:microsoft.com/office/officeart/2018/2/layout/IconLabelList"/>
    <dgm:cxn modelId="{5138E482-F7CD-4A3C-BAE3-E3FFD52FB781}" type="presParOf" srcId="{62F7D4C3-CED4-486E-AC63-82B7E45F3BFD}" destId="{D6F0DCDF-DAD4-4A85-9356-EEC4D459F1A6}" srcOrd="0" destOrd="0" presId="urn:microsoft.com/office/officeart/2018/2/layout/IconLabelList"/>
    <dgm:cxn modelId="{D3936E75-1EA2-4A77-9539-B41511123428}" type="presParOf" srcId="{62F7D4C3-CED4-486E-AC63-82B7E45F3BFD}" destId="{3B6BBB6C-B14A-4DFB-AC05-63220CFF0EF6}" srcOrd="1" destOrd="0" presId="urn:microsoft.com/office/officeart/2018/2/layout/IconLabelList"/>
    <dgm:cxn modelId="{890F0DA7-1EC2-4EE8-863F-7E9BF66B7781}" type="presParOf" srcId="{62F7D4C3-CED4-486E-AC63-82B7E45F3BFD}" destId="{448C0BD1-E620-46C0-859E-C8802BCA15DD}" srcOrd="2" destOrd="0" presId="urn:microsoft.com/office/officeart/2018/2/layout/IconLabelList"/>
    <dgm:cxn modelId="{C86072E1-6CB0-4457-A4E7-DA316E8145BA}" type="presParOf" srcId="{2E001694-42A9-41FD-8191-C2E66E1D2FE4}" destId="{DE8F43BF-3525-4F61-92F1-6BEB1778E245}" srcOrd="3" destOrd="0" presId="urn:microsoft.com/office/officeart/2018/2/layout/IconLabelList"/>
    <dgm:cxn modelId="{B8BC7027-B709-40D0-BEF1-939A8CCEFF33}" type="presParOf" srcId="{2E001694-42A9-41FD-8191-C2E66E1D2FE4}" destId="{21B2661D-8F69-4684-B74F-F28F501A1004}" srcOrd="4" destOrd="0" presId="urn:microsoft.com/office/officeart/2018/2/layout/IconLabelList"/>
    <dgm:cxn modelId="{3083D12C-7DAB-4AAF-BB3B-729B73C4C501}" type="presParOf" srcId="{21B2661D-8F69-4684-B74F-F28F501A1004}" destId="{C7BC32B2-C265-4771-BCFB-3B5FC353A68D}" srcOrd="0" destOrd="0" presId="urn:microsoft.com/office/officeart/2018/2/layout/IconLabelList"/>
    <dgm:cxn modelId="{F40A3F53-B5B6-4352-93A9-BA81836AA3A5}" type="presParOf" srcId="{21B2661D-8F69-4684-B74F-F28F501A1004}" destId="{3F0EEA33-A7F5-41F8-A60D-552E12FB8EE8}" srcOrd="1" destOrd="0" presId="urn:microsoft.com/office/officeart/2018/2/layout/IconLabelList"/>
    <dgm:cxn modelId="{616C237E-4144-43C7-B750-5E97DB76E04F}" type="presParOf" srcId="{21B2661D-8F69-4684-B74F-F28F501A1004}" destId="{50CB0AF8-5E7C-4AE7-BF7B-DA5558C31DA5}" srcOrd="2" destOrd="0" presId="urn:microsoft.com/office/officeart/2018/2/layout/IconLabelList"/>
    <dgm:cxn modelId="{146BCCF2-8637-4416-AE07-9CDF63C86134}" type="presParOf" srcId="{2E001694-42A9-41FD-8191-C2E66E1D2FE4}" destId="{97559E66-E7C8-4132-9E24-9038E2C66D65}" srcOrd="5" destOrd="0" presId="urn:microsoft.com/office/officeart/2018/2/layout/IconLabelList"/>
    <dgm:cxn modelId="{39C2A9F3-CB5F-4475-BD84-CA9F516D4414}" type="presParOf" srcId="{2E001694-42A9-41FD-8191-C2E66E1D2FE4}" destId="{8DF66131-C312-4A59-9C9D-A6563ECC6263}" srcOrd="6" destOrd="0" presId="urn:microsoft.com/office/officeart/2018/2/layout/IconLabelList"/>
    <dgm:cxn modelId="{2D7C41CF-9FB2-4B7D-BB98-160EB8FE98E9}" type="presParOf" srcId="{8DF66131-C312-4A59-9C9D-A6563ECC6263}" destId="{D8670CD4-10E8-4465-B826-1C15E7C6E73B}" srcOrd="0" destOrd="0" presId="urn:microsoft.com/office/officeart/2018/2/layout/IconLabelList"/>
    <dgm:cxn modelId="{653557B2-1279-43B0-900A-3679D602BC93}" type="presParOf" srcId="{8DF66131-C312-4A59-9C9D-A6563ECC6263}" destId="{00C33FDD-1B3C-4647-B0B6-2D6F6F28089E}" srcOrd="1" destOrd="0" presId="urn:microsoft.com/office/officeart/2018/2/layout/IconLabelList"/>
    <dgm:cxn modelId="{61A5CAAE-6728-4FD9-BCB2-CC2E0830DC85}" type="presParOf" srcId="{8DF66131-C312-4A59-9C9D-A6563ECC6263}" destId="{E188964C-5D05-4AD5-8805-464C1B70DC2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1F7DFA-EAB1-475E-8E33-3B47A80CE781}">
      <dsp:nvSpPr>
        <dsp:cNvPr id="0" name=""/>
        <dsp:cNvSpPr/>
      </dsp:nvSpPr>
      <dsp:spPr>
        <a:xfrm>
          <a:off x="1014853" y="1197320"/>
          <a:ext cx="928576" cy="9285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465D2D-BA69-49C9-B2E0-927228B5FFFB}">
      <dsp:nvSpPr>
        <dsp:cNvPr id="0" name=""/>
        <dsp:cNvSpPr/>
      </dsp:nvSpPr>
      <dsp:spPr>
        <a:xfrm>
          <a:off x="447389" y="2416935"/>
          <a:ext cx="20635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/>
            <a:t>Platform that is multi-sided </a:t>
          </a:r>
          <a:endParaRPr lang="en-US" sz="1700" kern="1200"/>
        </a:p>
      </dsp:txBody>
      <dsp:txXfrm>
        <a:off x="447389" y="2416935"/>
        <a:ext cx="2063504" cy="720000"/>
      </dsp:txXfrm>
    </dsp:sp>
    <dsp:sp modelId="{D6F0DCDF-DAD4-4A85-9356-EEC4D459F1A6}">
      <dsp:nvSpPr>
        <dsp:cNvPr id="0" name=""/>
        <dsp:cNvSpPr/>
      </dsp:nvSpPr>
      <dsp:spPr>
        <a:xfrm>
          <a:off x="3439470" y="1197320"/>
          <a:ext cx="928576" cy="9285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8C0BD1-E620-46C0-859E-C8802BCA15DD}">
      <dsp:nvSpPr>
        <dsp:cNvPr id="0" name=""/>
        <dsp:cNvSpPr/>
      </dsp:nvSpPr>
      <dsp:spPr>
        <a:xfrm>
          <a:off x="2872007" y="2416935"/>
          <a:ext cx="20635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/>
            <a:t>SaaS (Software as a Service) </a:t>
          </a:r>
          <a:endParaRPr lang="en-US" sz="1700" kern="1200"/>
        </a:p>
      </dsp:txBody>
      <dsp:txXfrm>
        <a:off x="2872007" y="2416935"/>
        <a:ext cx="2063504" cy="720000"/>
      </dsp:txXfrm>
    </dsp:sp>
    <dsp:sp modelId="{C7BC32B2-C265-4771-BCFB-3B5FC353A68D}">
      <dsp:nvSpPr>
        <dsp:cNvPr id="0" name=""/>
        <dsp:cNvSpPr/>
      </dsp:nvSpPr>
      <dsp:spPr>
        <a:xfrm>
          <a:off x="5864088" y="1197320"/>
          <a:ext cx="928576" cy="9285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CB0AF8-5E7C-4AE7-BF7B-DA5558C31DA5}">
      <dsp:nvSpPr>
        <dsp:cNvPr id="0" name=""/>
        <dsp:cNvSpPr/>
      </dsp:nvSpPr>
      <dsp:spPr>
        <a:xfrm>
          <a:off x="5296624" y="2416935"/>
          <a:ext cx="20635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/>
            <a:t>APIs (Application Programming Interface)</a:t>
          </a:r>
          <a:endParaRPr lang="en-US" sz="1700" kern="1200"/>
        </a:p>
      </dsp:txBody>
      <dsp:txXfrm>
        <a:off x="5296624" y="2416935"/>
        <a:ext cx="2063504" cy="720000"/>
      </dsp:txXfrm>
    </dsp:sp>
    <dsp:sp modelId="{D8670CD4-10E8-4465-B826-1C15E7C6E73B}">
      <dsp:nvSpPr>
        <dsp:cNvPr id="0" name=""/>
        <dsp:cNvSpPr/>
      </dsp:nvSpPr>
      <dsp:spPr>
        <a:xfrm>
          <a:off x="8288705" y="1197320"/>
          <a:ext cx="928576" cy="92857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88964C-5D05-4AD5-8805-464C1B70DC22}">
      <dsp:nvSpPr>
        <dsp:cNvPr id="0" name=""/>
        <dsp:cNvSpPr/>
      </dsp:nvSpPr>
      <dsp:spPr>
        <a:xfrm>
          <a:off x="7721242" y="2416935"/>
          <a:ext cx="2063504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700" kern="1200"/>
            <a:t>ERP (Enterprise Resource Planning)</a:t>
          </a:r>
          <a:endParaRPr lang="en-US" sz="1700" kern="1200"/>
        </a:p>
      </dsp:txBody>
      <dsp:txXfrm>
        <a:off x="7721242" y="2416935"/>
        <a:ext cx="2063504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50487-E90B-5864-2C1A-AE49F33B9D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E77239-308B-1B70-43A1-76FAA55157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A3C46-463D-9726-1BCC-993D2381D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873C8-DDE8-4E94-B59D-A8D577222426}" type="datetimeFigureOut">
              <a:rPr lang="en-SG" smtClean="0"/>
              <a:t>16/9/2026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83D14F-5B50-E2FA-F4ED-890BE9983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82687-CD1C-1A70-857C-8434AB487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7E59-8CEB-4305-93C2-44665E3DE9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83599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331C0-4470-4195-E0FA-F07ED34C5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8D479-80BA-181A-06C7-45F8F09180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F2BF7-19BD-9F41-6793-E0F6FF998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873C8-DDE8-4E94-B59D-A8D577222426}" type="datetimeFigureOut">
              <a:rPr lang="en-SG" smtClean="0"/>
              <a:t>16/9/2026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677EC-B069-9536-863A-3640FB48D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5ADDC6-E1EF-3E7C-9088-B239D470C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7E59-8CEB-4305-93C2-44665E3DE9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7259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E8A3B-A853-70A3-29BC-2C0445EF21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1285D-5CE0-6F75-032F-6DBA83E42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A23CC1-E11E-62DA-6444-26391A4B7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873C8-DDE8-4E94-B59D-A8D577222426}" type="datetimeFigureOut">
              <a:rPr lang="en-SG" smtClean="0"/>
              <a:t>16/9/2026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B23593-A5D1-97B2-2E80-CBAB44C5E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4983EA-C497-1EB0-6744-FB1D5B5DA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7E59-8CEB-4305-93C2-44665E3DE9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03873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EE2FFF-D5CE-0FBD-9CB3-C60883EF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35B23D-0ECF-CCEA-73B6-72101D6FA3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70F67A-38E2-208B-0B14-44B1176A3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924171-28C3-6E7D-5B63-AD4A7B712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873C8-DDE8-4E94-B59D-A8D577222426}" type="datetimeFigureOut">
              <a:rPr lang="en-SG" smtClean="0"/>
              <a:t>16/9/2026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D1A915-11C2-B778-EC80-F2B506B0D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96E295-D3AC-CBB7-56A1-BB1966ACA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7E59-8CEB-4305-93C2-44665E3DE9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13094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64835-22E4-D7B4-177D-2CA123ED6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C95EC3-6189-0A4D-3049-7C9917F272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71BFFD-ACF6-C8C5-A7E7-D14DA76707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DD9239-F1A5-6A1A-6A74-EA5CFC442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AF5D8A-71C6-7533-5B7D-74760DBC45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EFDC15-EFBC-3739-BD42-FE3A8C493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873C8-DDE8-4E94-B59D-A8D577222426}" type="datetimeFigureOut">
              <a:rPr lang="en-SG" smtClean="0"/>
              <a:t>16/9/2026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DAE40A-2E55-0411-39B0-6B1C299DD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4985C9-E03D-5912-7F54-DA15B3788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7E59-8CEB-4305-93C2-44665E3DE9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94885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C2AAB-960D-0137-46AE-9175099BA0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D556FF-6D48-1616-6317-B334824E5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873C8-DDE8-4E94-B59D-A8D577222426}" type="datetimeFigureOut">
              <a:rPr lang="en-SG" smtClean="0"/>
              <a:t>16/9/2026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A9C6EB-3E40-51FC-0651-19E8397D3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63B18F-A70D-9FDD-ED81-D6A7063CD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7E59-8CEB-4305-93C2-44665E3DE9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943629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CE4AD-BDAA-DB08-7E78-A0D0C2708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873C8-DDE8-4E94-B59D-A8D577222426}" type="datetimeFigureOut">
              <a:rPr lang="en-SG" smtClean="0"/>
              <a:t>16/9/2026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66DBAE-15FE-0E04-0886-FD14047E5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9E9791-E9CE-2059-4C57-7269C1E0D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7E59-8CEB-4305-93C2-44665E3DE9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334473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5B418-9493-6747-4682-5558E1A20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378D1-47A0-999B-4C4E-06F1C6FB7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BCAC6D-A9D6-72E9-860A-2276982E4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61254A-A75A-993D-CC9A-6A3F2DB2A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873C8-DDE8-4E94-B59D-A8D577222426}" type="datetimeFigureOut">
              <a:rPr lang="en-SG" smtClean="0"/>
              <a:t>16/9/2026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A08B74-FBD9-0703-2AF8-8F1275BB2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45C61E-A7AF-4F03-F510-7090A8005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7E59-8CEB-4305-93C2-44665E3DE9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872510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E134A-8EEC-143B-08CC-37DD5B80E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5876E2-C8AC-31D5-A636-3D7E6A0E65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A34662-4B0B-641C-8297-D83E622FB8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84643-CB13-C785-EC55-9F1E25BC1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873C8-DDE8-4E94-B59D-A8D577222426}" type="datetimeFigureOut">
              <a:rPr lang="en-SG" smtClean="0"/>
              <a:t>16/9/2026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59F331-FC2A-1C10-EB18-EC710FF5A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0E20D1-358A-8302-EABE-2BBF77C00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7E59-8CEB-4305-93C2-44665E3DE9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006908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0986B-A18E-86E4-2DEE-3422A3C92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57952E-28B7-141F-B6E7-39BEDB31AD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519AC-04A3-72BF-CE64-1199C6421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873C8-DDE8-4E94-B59D-A8D577222426}" type="datetimeFigureOut">
              <a:rPr lang="en-SG" smtClean="0"/>
              <a:t>16/9/2026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F917C-A138-788D-4ABB-C2CCABF9E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B591FD-F544-3BC9-BCA1-D6C272AA1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7E59-8CEB-4305-93C2-44665E3DE9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15104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39822A-A9AB-F400-8B48-91F5013746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957738-0028-7C63-9EFD-8CFA04D3C2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5675E-2614-3811-7A0B-97EC7563F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873C8-DDE8-4E94-B59D-A8D577222426}" type="datetimeFigureOut">
              <a:rPr lang="en-SG" smtClean="0"/>
              <a:t>16/9/2026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93B82-9378-6F91-6F2E-6638F7DE0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D3D80-60C8-05DE-74EB-22C465B54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D7E59-8CEB-4305-93C2-44665E3DE9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74377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80ABFF-9BEE-F450-B836-4C891A27D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E761C2-C65C-6847-86DF-4E589D170A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F717BD-37E0-DE1F-78C1-2AA956B8A4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4873C8-DDE8-4E94-B59D-A8D577222426}" type="datetimeFigureOut">
              <a:rPr lang="en-SG" smtClean="0"/>
              <a:t>16/9/2026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C4BCD-CB53-EDB7-CC76-C1FF0E8FEB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DEC73-08B1-8CC5-FA64-A704809A74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0D7E59-8CEB-4305-93C2-44665E3DE9BD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50948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85F4E-9BFD-5CCD-8EA4-F5439E6D36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SG" dirty="0"/>
              <a:t>LU3 – Digital Business Models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5EA9B7-3D73-2D09-63C0-6F1D4CE60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602381"/>
          </a:xfrm>
        </p:spPr>
        <p:txBody>
          <a:bodyPr>
            <a:normAutofit fontScale="92500" lnSpcReduction="10000"/>
          </a:bodyPr>
          <a:lstStyle/>
          <a:p>
            <a:r>
              <a:rPr lang="en-SG" dirty="0"/>
              <a:t>Key Takeaway – For you to decide which Model you have to apply for your own business (Mono Design or other business structure)</a:t>
            </a:r>
          </a:p>
          <a:p>
            <a:endParaRPr lang="en-SG" dirty="0"/>
          </a:p>
          <a:p>
            <a:r>
              <a:rPr lang="en-SG" dirty="0"/>
              <a:t>Note: Not only thinking about buying and selling but rather the entire ecosystem</a:t>
            </a:r>
          </a:p>
          <a:p>
            <a:endParaRPr lang="en-SG" dirty="0"/>
          </a:p>
          <a:p>
            <a:r>
              <a:rPr lang="en-SG" dirty="0"/>
              <a:t>Not only E-commerce but E-business</a:t>
            </a:r>
          </a:p>
        </p:txBody>
      </p:sp>
    </p:spTree>
    <p:extLst>
      <p:ext uri="{BB962C8B-B14F-4D97-AF65-F5344CB8AC3E}">
        <p14:creationId xmlns:p14="http://schemas.microsoft.com/office/powerpoint/2010/main" val="3804876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260019"/>
            <a:ext cx="11167447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B74033-76DF-CC68-A4C5-EDDE200D7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09521"/>
            <a:ext cx="10232136" cy="1014984"/>
          </a:xfrm>
        </p:spPr>
        <p:txBody>
          <a:bodyPr>
            <a:normAutofit/>
          </a:bodyPr>
          <a:lstStyle/>
          <a:p>
            <a:r>
              <a:rPr lang="en-SG" sz="4000" dirty="0"/>
              <a:t>Decide what to build/develop (Manus AI, Base44)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658327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B6E6B1B2-BF0F-70F2-4BEC-2DF503C52C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6995778"/>
              </p:ext>
            </p:extLst>
          </p:nvPr>
        </p:nvGraphicFramePr>
        <p:xfrm>
          <a:off x="1115568" y="1673352"/>
          <a:ext cx="10232136" cy="43342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16763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FD698-3CC4-3D6B-6438-7B283D62F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Multi-Sided Platform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E31E6-AFAE-0B0A-48EF-FE90F6919E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SG" dirty="0"/>
              <a:t>Designers </a:t>
            </a:r>
            <a:r>
              <a:rPr lang="en-SG" dirty="0">
                <a:sym typeface="Wingdings" panose="05000000000000000000" pitchFamily="2" charset="2"/>
              </a:rPr>
              <a:t> Mono Design  Clients</a:t>
            </a:r>
          </a:p>
          <a:p>
            <a:pPr marL="0" indent="0">
              <a:buNone/>
            </a:pPr>
            <a:endParaRPr lang="en-SG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SG" dirty="0">
                <a:sym typeface="Wingdings" panose="05000000000000000000" pitchFamily="2" charset="2"/>
              </a:rPr>
              <a:t>The platform includes:</a:t>
            </a:r>
          </a:p>
          <a:p>
            <a:r>
              <a:rPr lang="en-SG" dirty="0"/>
              <a:t>Profile (Designers)</a:t>
            </a:r>
            <a:endParaRPr lang="en-SG" b="0" dirty="0">
              <a:effectLst/>
            </a:endParaRPr>
          </a:p>
          <a:p>
            <a:r>
              <a:rPr lang="en-SG" dirty="0"/>
              <a:t>Portfolios (Designers)</a:t>
            </a:r>
            <a:endParaRPr lang="en-SG" b="0" dirty="0">
              <a:effectLst/>
            </a:endParaRPr>
          </a:p>
          <a:p>
            <a:r>
              <a:rPr lang="en-SG" dirty="0"/>
              <a:t>Projects (Designers)</a:t>
            </a:r>
            <a:endParaRPr lang="en-SG" b="0" dirty="0">
              <a:effectLst/>
            </a:endParaRPr>
          </a:p>
          <a:p>
            <a:r>
              <a:rPr lang="en-SG" dirty="0"/>
              <a:t>Design Proposal (Tier Revenue Stream – from the client)</a:t>
            </a:r>
            <a:endParaRPr lang="en-SG" b="0" dirty="0">
              <a:effectLst/>
            </a:endParaRPr>
          </a:p>
          <a:p>
            <a:r>
              <a:rPr lang="en-SG" dirty="0"/>
              <a:t>Payment (Client)</a:t>
            </a:r>
            <a:endParaRPr lang="en-SG" b="0" dirty="0">
              <a:effectLst/>
            </a:endParaRPr>
          </a:p>
          <a:p>
            <a:r>
              <a:rPr lang="en-SG" dirty="0"/>
              <a:t>Review (Client towards designers)</a:t>
            </a:r>
          </a:p>
          <a:p>
            <a:r>
              <a:rPr lang="en-SG" dirty="0"/>
              <a:t>Commission based fee from Designers projects/tasks (Revenue from designer)</a:t>
            </a:r>
            <a:br>
              <a:rPr lang="en-SG" dirty="0"/>
            </a:br>
            <a:endParaRPr lang="en-SG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89112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D73894-D8AE-2B1B-7BD8-D2E47352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2D9A2-1EBC-8168-60D6-1F41788CC4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Mono Platform SaaS tier (Mono Design Platform </a:t>
            </a:r>
            <a:r>
              <a:rPr lang="en-SG" dirty="0">
                <a:sym typeface="Wingdings" panose="05000000000000000000" pitchFamily="2" charset="2"/>
              </a:rPr>
              <a:t> Designer</a:t>
            </a:r>
            <a:r>
              <a:rPr lang="en-SG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EB6938-8981-48FE-FCDF-804FD77D1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Mono Starter</a:t>
            </a:r>
          </a:p>
          <a:p>
            <a:r>
              <a:rPr lang="en-SG" dirty="0"/>
              <a:t>Mono Growth</a:t>
            </a:r>
          </a:p>
          <a:p>
            <a:r>
              <a:rPr lang="en-SG" dirty="0"/>
              <a:t>Mono Pro</a:t>
            </a:r>
          </a:p>
        </p:txBody>
      </p:sp>
    </p:spTree>
    <p:extLst>
      <p:ext uri="{BB962C8B-B14F-4D97-AF65-F5344CB8AC3E}">
        <p14:creationId xmlns:p14="http://schemas.microsoft.com/office/powerpoint/2010/main" val="4977186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29D78-4606-F076-B9E5-6891F9AA2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C2485-4406-F35F-ECC3-A2439E879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Mono Platform SaaS tier (Mono Design Platform </a:t>
            </a:r>
            <a:r>
              <a:rPr lang="en-SG" dirty="0">
                <a:sym typeface="Wingdings" panose="05000000000000000000" pitchFamily="2" charset="2"/>
              </a:rPr>
              <a:t> Client</a:t>
            </a:r>
            <a:r>
              <a:rPr lang="en-SG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CFF6C-20DD-B547-9D66-BDD4B181B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Mono Starter</a:t>
            </a:r>
          </a:p>
          <a:p>
            <a:r>
              <a:rPr lang="en-SG" dirty="0"/>
              <a:t>Mono Growth</a:t>
            </a:r>
          </a:p>
          <a:p>
            <a:r>
              <a:rPr lang="en-SG" dirty="0"/>
              <a:t>Mono Pro</a:t>
            </a:r>
          </a:p>
        </p:txBody>
      </p:sp>
    </p:spTree>
    <p:extLst>
      <p:ext uri="{BB962C8B-B14F-4D97-AF65-F5344CB8AC3E}">
        <p14:creationId xmlns:p14="http://schemas.microsoft.com/office/powerpoint/2010/main" val="1144437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18D879-7BE0-6279-0A5E-6C1D9DC40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405CE8-B935-56FB-56F3-E07E405FC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Mono Tier (Design Proposal) – Mono Designer </a:t>
            </a:r>
            <a:r>
              <a:rPr lang="en-SG" dirty="0">
                <a:sym typeface="Wingdings" panose="05000000000000000000" pitchFamily="2" charset="2"/>
              </a:rPr>
              <a:t> Mono Client</a:t>
            </a:r>
            <a:endParaRPr lang="en-SG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C930F60-C8DB-55E4-144E-BBC760A1291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0671604"/>
              </p:ext>
            </p:extLst>
          </p:nvPr>
        </p:nvGraphicFramePr>
        <p:xfrm>
          <a:off x="838200" y="1825625"/>
          <a:ext cx="10515600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32438834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48987117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9737340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06927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Design Job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 Basic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Standard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Premium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95589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SGD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SGD 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SGD 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59635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Design 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2 concepts and colors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4 concepts and colors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6 concepts and colors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97439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Design Transparency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069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Vector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751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Include 3D </a:t>
                      </a:r>
                      <a:r>
                        <a:rPr lang="en-SG" dirty="0" err="1"/>
                        <a:t>mockup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3113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Include Original 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7149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Stationary Designs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Yes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44221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Social Media Designs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08373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dirty="0"/>
                        <a:t>Delivery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3-days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3-days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SG" dirty="0"/>
                        <a:t>5-days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679061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267DD157-2759-877E-4EDD-B011D3015B26}"/>
              </a:ext>
            </a:extLst>
          </p:cNvPr>
          <p:cNvSpPr txBox="1"/>
          <p:nvPr/>
        </p:nvSpPr>
        <p:spPr>
          <a:xfrm>
            <a:off x="895989" y="6143050"/>
            <a:ext cx="107721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As mono platform, you may take 15% of the price once it is paid by the client. So, if the client selected Basic</a:t>
            </a:r>
          </a:p>
          <a:p>
            <a:r>
              <a:rPr lang="en-SG" dirty="0"/>
              <a:t>Then Mono Design Platform will take SGD 15 and the designer will get SGD 85</a:t>
            </a:r>
          </a:p>
        </p:txBody>
      </p:sp>
    </p:spTree>
    <p:extLst>
      <p:ext uri="{BB962C8B-B14F-4D97-AF65-F5344CB8AC3E}">
        <p14:creationId xmlns:p14="http://schemas.microsoft.com/office/powerpoint/2010/main" val="606777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295</Words>
  <Application>Microsoft Office PowerPoint</Application>
  <PresentationFormat>Widescreen</PresentationFormat>
  <Paragraphs>73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Wingdings</vt:lpstr>
      <vt:lpstr>Office Theme</vt:lpstr>
      <vt:lpstr>LU3 – Digital Business Models</vt:lpstr>
      <vt:lpstr>Decide what to build/develop (Manus AI, Base44)</vt:lpstr>
      <vt:lpstr>Multi-Sided Platform</vt:lpstr>
      <vt:lpstr>Mono Platform SaaS tier (Mono Design Platform  Designer)</vt:lpstr>
      <vt:lpstr>Mono Platform SaaS tier (Mono Design Platform  Client)</vt:lpstr>
      <vt:lpstr>Mono Tier (Design Proposal) – Mono Designer  Mono Client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Marie Chris Soque</dc:creator>
  <cp:lastModifiedBy>Marie Chris Soque</cp:lastModifiedBy>
  <cp:revision>1</cp:revision>
  <dcterms:created xsi:type="dcterms:W3CDTF">2026-09-16T00:42:25Z</dcterms:created>
  <dcterms:modified xsi:type="dcterms:W3CDTF">2026-09-16T03:38:44Z</dcterms:modified>
</cp:coreProperties>
</file>
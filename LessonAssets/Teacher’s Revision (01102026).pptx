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DAC2D2-66DB-4DAA-8562-79C687F66947}" v="24" dt="2026-10-01T03:01:14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2324" autoAdjust="0"/>
  </p:normalViewPr>
  <p:slideViewPr>
    <p:cSldViewPr snapToGrid="0">
      <p:cViewPr>
        <p:scale>
          <a:sx n="100" d="100"/>
          <a:sy n="100" d="100"/>
        </p:scale>
        <p:origin x="348" y="-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 Chris Soque" userId="9ebdbcbf79932a9a" providerId="LiveId" clId="{9996B585-DEE5-4E12-AD1C-26FF1EBC02C0}"/>
    <pc:docChg chg="undo custSel addSld modSld">
      <pc:chgData name="Marie Chris Soque" userId="9ebdbcbf79932a9a" providerId="LiveId" clId="{9996B585-DEE5-4E12-AD1C-26FF1EBC02C0}" dt="2026-10-01T03:10:26.489" v="3741" actId="20577"/>
      <pc:docMkLst>
        <pc:docMk/>
      </pc:docMkLst>
      <pc:sldChg chg="modSp mod">
        <pc:chgData name="Marie Chris Soque" userId="9ebdbcbf79932a9a" providerId="LiveId" clId="{9996B585-DEE5-4E12-AD1C-26FF1EBC02C0}" dt="2026-10-01T00:56:41.413" v="460" actId="20577"/>
        <pc:sldMkLst>
          <pc:docMk/>
          <pc:sldMk cId="3346186341" sldId="257"/>
        </pc:sldMkLst>
        <pc:spChg chg="mod">
          <ac:chgData name="Marie Chris Soque" userId="9ebdbcbf79932a9a" providerId="LiveId" clId="{9996B585-DEE5-4E12-AD1C-26FF1EBC02C0}" dt="2026-10-01T00:56:41.413" v="460" actId="20577"/>
          <ac:spMkLst>
            <pc:docMk/>
            <pc:sldMk cId="3346186341" sldId="257"/>
            <ac:spMk id="3" creationId="{5CE37CD1-C7D4-7C4F-0053-1E49BBD3011E}"/>
          </ac:spMkLst>
        </pc:spChg>
      </pc:sldChg>
      <pc:sldChg chg="modSp mod">
        <pc:chgData name="Marie Chris Soque" userId="9ebdbcbf79932a9a" providerId="LiveId" clId="{9996B585-DEE5-4E12-AD1C-26FF1EBC02C0}" dt="2026-10-01T01:17:36.781" v="1569" actId="20577"/>
        <pc:sldMkLst>
          <pc:docMk/>
          <pc:sldMk cId="3175404145" sldId="258"/>
        </pc:sldMkLst>
        <pc:spChg chg="mod">
          <ac:chgData name="Marie Chris Soque" userId="9ebdbcbf79932a9a" providerId="LiveId" clId="{9996B585-DEE5-4E12-AD1C-26FF1EBC02C0}" dt="2026-10-01T01:17:36.781" v="1569" actId="20577"/>
          <ac:spMkLst>
            <pc:docMk/>
            <pc:sldMk cId="3175404145" sldId="258"/>
            <ac:spMk id="3" creationId="{C426CF78-D65E-980A-3122-D41533B91DA9}"/>
          </ac:spMkLst>
        </pc:spChg>
      </pc:sldChg>
      <pc:sldChg chg="modSp mod">
        <pc:chgData name="Marie Chris Soque" userId="9ebdbcbf79932a9a" providerId="LiveId" clId="{9996B585-DEE5-4E12-AD1C-26FF1EBC02C0}" dt="2026-10-01T01:23:25.550" v="1975" actId="20577"/>
        <pc:sldMkLst>
          <pc:docMk/>
          <pc:sldMk cId="192877287" sldId="259"/>
        </pc:sldMkLst>
        <pc:spChg chg="mod">
          <ac:chgData name="Marie Chris Soque" userId="9ebdbcbf79932a9a" providerId="LiveId" clId="{9996B585-DEE5-4E12-AD1C-26FF1EBC02C0}" dt="2026-10-01T01:23:25.550" v="1975" actId="20577"/>
          <ac:spMkLst>
            <pc:docMk/>
            <pc:sldMk cId="192877287" sldId="259"/>
            <ac:spMk id="3" creationId="{ABEC5D29-E562-B9CC-1DF7-76B122879838}"/>
          </ac:spMkLst>
        </pc:spChg>
      </pc:sldChg>
      <pc:sldChg chg="modSp mod">
        <pc:chgData name="Marie Chris Soque" userId="9ebdbcbf79932a9a" providerId="LiveId" clId="{9996B585-DEE5-4E12-AD1C-26FF1EBC02C0}" dt="2026-10-01T01:33:14.538" v="2565" actId="20577"/>
        <pc:sldMkLst>
          <pc:docMk/>
          <pc:sldMk cId="2453481556" sldId="260"/>
        </pc:sldMkLst>
        <pc:spChg chg="mod">
          <ac:chgData name="Marie Chris Soque" userId="9ebdbcbf79932a9a" providerId="LiveId" clId="{9996B585-DEE5-4E12-AD1C-26FF1EBC02C0}" dt="2026-10-01T01:33:14.538" v="2565" actId="20577"/>
          <ac:spMkLst>
            <pc:docMk/>
            <pc:sldMk cId="2453481556" sldId="260"/>
            <ac:spMk id="3" creationId="{FC74D0D4-AAED-AC80-0D52-186A8C571ECB}"/>
          </ac:spMkLst>
        </pc:spChg>
      </pc:sldChg>
      <pc:sldChg chg="modSp mod">
        <pc:chgData name="Marie Chris Soque" userId="9ebdbcbf79932a9a" providerId="LiveId" clId="{9996B585-DEE5-4E12-AD1C-26FF1EBC02C0}" dt="2026-10-01T01:43:31.834" v="3345" actId="20577"/>
        <pc:sldMkLst>
          <pc:docMk/>
          <pc:sldMk cId="3542284309" sldId="261"/>
        </pc:sldMkLst>
        <pc:spChg chg="mod">
          <ac:chgData name="Marie Chris Soque" userId="9ebdbcbf79932a9a" providerId="LiveId" clId="{9996B585-DEE5-4E12-AD1C-26FF1EBC02C0}" dt="2026-10-01T01:43:31.834" v="3345" actId="20577"/>
          <ac:spMkLst>
            <pc:docMk/>
            <pc:sldMk cId="3542284309" sldId="261"/>
            <ac:spMk id="3" creationId="{222D9EE1-EFDC-754B-7970-57F42A7C17C2}"/>
          </ac:spMkLst>
        </pc:spChg>
      </pc:sldChg>
      <pc:sldChg chg="modNotesTx">
        <pc:chgData name="Marie Chris Soque" userId="9ebdbcbf79932a9a" providerId="LiveId" clId="{9996B585-DEE5-4E12-AD1C-26FF1EBC02C0}" dt="2026-10-01T00:38:22.685" v="22" actId="20577"/>
        <pc:sldMkLst>
          <pc:docMk/>
          <pc:sldMk cId="337505266" sldId="262"/>
        </pc:sldMkLst>
      </pc:sldChg>
      <pc:sldChg chg="modSp add mod modNotesTx">
        <pc:chgData name="Marie Chris Soque" userId="9ebdbcbf79932a9a" providerId="LiveId" clId="{9996B585-DEE5-4E12-AD1C-26FF1EBC02C0}" dt="2026-10-01T00:38:40.634" v="24" actId="20577"/>
        <pc:sldMkLst>
          <pc:docMk/>
          <pc:sldMk cId="3200948146" sldId="263"/>
        </pc:sldMkLst>
        <pc:spChg chg="mod">
          <ac:chgData name="Marie Chris Soque" userId="9ebdbcbf79932a9a" providerId="LiveId" clId="{9996B585-DEE5-4E12-AD1C-26FF1EBC02C0}" dt="2026-10-01T00:36:59.510" v="4" actId="20577"/>
          <ac:spMkLst>
            <pc:docMk/>
            <pc:sldMk cId="3200948146" sldId="263"/>
            <ac:spMk id="3" creationId="{85B7A168-DAE7-1BF1-9D58-5B72E96FACAD}"/>
          </ac:spMkLst>
        </pc:spChg>
      </pc:sldChg>
      <pc:sldChg chg="modSp add mod modNotesTx">
        <pc:chgData name="Marie Chris Soque" userId="9ebdbcbf79932a9a" providerId="LiveId" clId="{9996B585-DEE5-4E12-AD1C-26FF1EBC02C0}" dt="2026-10-01T00:39:18.228" v="34" actId="6549"/>
        <pc:sldMkLst>
          <pc:docMk/>
          <pc:sldMk cId="3705843745" sldId="264"/>
        </pc:sldMkLst>
        <pc:spChg chg="mod">
          <ac:chgData name="Marie Chris Soque" userId="9ebdbcbf79932a9a" providerId="LiveId" clId="{9996B585-DEE5-4E12-AD1C-26FF1EBC02C0}" dt="2026-10-01T00:39:18.228" v="34" actId="6549"/>
          <ac:spMkLst>
            <pc:docMk/>
            <pc:sldMk cId="3705843745" sldId="264"/>
            <ac:spMk id="3" creationId="{01F32F03-0C69-7EDA-5B3E-CBFB756E2C4B}"/>
          </ac:spMkLst>
        </pc:spChg>
      </pc:sldChg>
      <pc:sldChg chg="modSp add mod modNotesTx">
        <pc:chgData name="Marie Chris Soque" userId="9ebdbcbf79932a9a" providerId="LiveId" clId="{9996B585-DEE5-4E12-AD1C-26FF1EBC02C0}" dt="2026-10-01T00:39:44.832" v="52" actId="20577"/>
        <pc:sldMkLst>
          <pc:docMk/>
          <pc:sldMk cId="1151116175" sldId="265"/>
        </pc:sldMkLst>
        <pc:spChg chg="mod">
          <ac:chgData name="Marie Chris Soque" userId="9ebdbcbf79932a9a" providerId="LiveId" clId="{9996B585-DEE5-4E12-AD1C-26FF1EBC02C0}" dt="2026-10-01T00:39:35.389" v="49" actId="6549"/>
          <ac:spMkLst>
            <pc:docMk/>
            <pc:sldMk cId="1151116175" sldId="265"/>
            <ac:spMk id="3" creationId="{69A5E27A-3FB5-192B-883F-13A964E3365A}"/>
          </ac:spMkLst>
        </pc:spChg>
      </pc:sldChg>
      <pc:sldChg chg="modSp add mod modNotesTx">
        <pc:chgData name="Marie Chris Soque" userId="9ebdbcbf79932a9a" providerId="LiveId" clId="{9996B585-DEE5-4E12-AD1C-26FF1EBC02C0}" dt="2026-10-01T00:40:38.583" v="73" actId="20577"/>
        <pc:sldMkLst>
          <pc:docMk/>
          <pc:sldMk cId="2769075265" sldId="266"/>
        </pc:sldMkLst>
        <pc:spChg chg="mod">
          <ac:chgData name="Marie Chris Soque" userId="9ebdbcbf79932a9a" providerId="LiveId" clId="{9996B585-DEE5-4E12-AD1C-26FF1EBC02C0}" dt="2026-10-01T00:40:32.362" v="71" actId="6549"/>
          <ac:spMkLst>
            <pc:docMk/>
            <pc:sldMk cId="2769075265" sldId="266"/>
            <ac:spMk id="3" creationId="{7EE00307-ED14-7DCC-D308-D242B2D6563B}"/>
          </ac:spMkLst>
        </pc:spChg>
      </pc:sldChg>
      <pc:sldChg chg="addSp modSp add mod modNotesTx">
        <pc:chgData name="Marie Chris Soque" userId="9ebdbcbf79932a9a" providerId="LiveId" clId="{9996B585-DEE5-4E12-AD1C-26FF1EBC02C0}" dt="2026-10-01T00:41:35.656" v="98" actId="20577"/>
        <pc:sldMkLst>
          <pc:docMk/>
          <pc:sldMk cId="913632275" sldId="267"/>
        </pc:sldMkLst>
        <pc:spChg chg="mod">
          <ac:chgData name="Marie Chris Soque" userId="9ebdbcbf79932a9a" providerId="LiveId" clId="{9996B585-DEE5-4E12-AD1C-26FF1EBC02C0}" dt="2026-10-01T00:41:25.428" v="95" actId="6549"/>
          <ac:spMkLst>
            <pc:docMk/>
            <pc:sldMk cId="913632275" sldId="267"/>
            <ac:spMk id="3" creationId="{9EC19B7C-7132-3EA4-F12B-E22BB9D99326}"/>
          </ac:spMkLst>
        </pc:spChg>
        <pc:spChg chg="add mod">
          <ac:chgData name="Marie Chris Soque" userId="9ebdbcbf79932a9a" providerId="LiveId" clId="{9996B585-DEE5-4E12-AD1C-26FF1EBC02C0}" dt="2026-10-01T00:41:06.098" v="76" actId="571"/>
          <ac:spMkLst>
            <pc:docMk/>
            <pc:sldMk cId="913632275" sldId="267"/>
            <ac:spMk id="4" creationId="{9E24FA88-131B-8A7B-F283-0DF8BCACCA94}"/>
          </ac:spMkLst>
        </pc:spChg>
      </pc:sldChg>
      <pc:sldChg chg="modSp add mod modNotesTx">
        <pc:chgData name="Marie Chris Soque" userId="9ebdbcbf79932a9a" providerId="LiveId" clId="{9996B585-DEE5-4E12-AD1C-26FF1EBC02C0}" dt="2026-10-01T00:42:31.841" v="130" actId="20577"/>
        <pc:sldMkLst>
          <pc:docMk/>
          <pc:sldMk cId="4227183348" sldId="268"/>
        </pc:sldMkLst>
        <pc:spChg chg="mod">
          <ac:chgData name="Marie Chris Soque" userId="9ebdbcbf79932a9a" providerId="LiveId" clId="{9996B585-DEE5-4E12-AD1C-26FF1EBC02C0}" dt="2026-10-01T00:42:31.841" v="130" actId="20577"/>
          <ac:spMkLst>
            <pc:docMk/>
            <pc:sldMk cId="4227183348" sldId="268"/>
            <ac:spMk id="3" creationId="{635040A8-7D3E-93AD-6A7B-FFB35E6F2871}"/>
          </ac:spMkLst>
        </pc:spChg>
      </pc:sldChg>
      <pc:sldChg chg="modSp add mod modNotesTx">
        <pc:chgData name="Marie Chris Soque" userId="9ebdbcbf79932a9a" providerId="LiveId" clId="{9996B585-DEE5-4E12-AD1C-26FF1EBC02C0}" dt="2026-10-01T00:43:22.461" v="149" actId="20577"/>
        <pc:sldMkLst>
          <pc:docMk/>
          <pc:sldMk cId="1683345451" sldId="269"/>
        </pc:sldMkLst>
        <pc:spChg chg="mod">
          <ac:chgData name="Marie Chris Soque" userId="9ebdbcbf79932a9a" providerId="LiveId" clId="{9996B585-DEE5-4E12-AD1C-26FF1EBC02C0}" dt="2026-10-01T00:43:09.581" v="146" actId="6549"/>
          <ac:spMkLst>
            <pc:docMk/>
            <pc:sldMk cId="1683345451" sldId="269"/>
            <ac:spMk id="3" creationId="{61EFA7BB-0300-6847-A5BE-CF6FDBA7B77D}"/>
          </ac:spMkLst>
        </pc:spChg>
      </pc:sldChg>
      <pc:sldChg chg="modSp add mod modNotesTx">
        <pc:chgData name="Marie Chris Soque" userId="9ebdbcbf79932a9a" providerId="LiveId" clId="{9996B585-DEE5-4E12-AD1C-26FF1EBC02C0}" dt="2026-10-01T00:44:29.118" v="171" actId="20577"/>
        <pc:sldMkLst>
          <pc:docMk/>
          <pc:sldMk cId="414171842" sldId="270"/>
        </pc:sldMkLst>
        <pc:spChg chg="mod">
          <ac:chgData name="Marie Chris Soque" userId="9ebdbcbf79932a9a" providerId="LiveId" clId="{9996B585-DEE5-4E12-AD1C-26FF1EBC02C0}" dt="2026-10-01T00:44:20.605" v="167" actId="6549"/>
          <ac:spMkLst>
            <pc:docMk/>
            <pc:sldMk cId="414171842" sldId="270"/>
            <ac:spMk id="3" creationId="{5372D397-8B4C-AD74-AE4C-2E9E007C8ED9}"/>
          </ac:spMkLst>
        </pc:spChg>
      </pc:sldChg>
      <pc:sldChg chg="modSp add mod modNotesTx">
        <pc:chgData name="Marie Chris Soque" userId="9ebdbcbf79932a9a" providerId="LiveId" clId="{9996B585-DEE5-4E12-AD1C-26FF1EBC02C0}" dt="2026-10-01T00:45:21.280" v="192" actId="20577"/>
        <pc:sldMkLst>
          <pc:docMk/>
          <pc:sldMk cId="3435310213" sldId="271"/>
        </pc:sldMkLst>
        <pc:spChg chg="mod">
          <ac:chgData name="Marie Chris Soque" userId="9ebdbcbf79932a9a" providerId="LiveId" clId="{9996B585-DEE5-4E12-AD1C-26FF1EBC02C0}" dt="2026-10-01T00:45:10.717" v="189" actId="6549"/>
          <ac:spMkLst>
            <pc:docMk/>
            <pc:sldMk cId="3435310213" sldId="271"/>
            <ac:spMk id="3" creationId="{5499B530-DFBF-6690-AADE-DECFFD75AF66}"/>
          </ac:spMkLst>
        </pc:spChg>
      </pc:sldChg>
      <pc:sldChg chg="modSp add mod modNotesTx">
        <pc:chgData name="Marie Chris Soque" userId="9ebdbcbf79932a9a" providerId="LiveId" clId="{9996B585-DEE5-4E12-AD1C-26FF1EBC02C0}" dt="2026-10-01T00:46:03.238" v="212" actId="20577"/>
        <pc:sldMkLst>
          <pc:docMk/>
          <pc:sldMk cId="715794591" sldId="272"/>
        </pc:sldMkLst>
        <pc:spChg chg="mod">
          <ac:chgData name="Marie Chris Soque" userId="9ebdbcbf79932a9a" providerId="LiveId" clId="{9996B585-DEE5-4E12-AD1C-26FF1EBC02C0}" dt="2026-10-01T00:45:57.799" v="209" actId="6549"/>
          <ac:spMkLst>
            <pc:docMk/>
            <pc:sldMk cId="715794591" sldId="272"/>
            <ac:spMk id="3" creationId="{5A5B776A-851B-AA94-80D3-0B492D507B03}"/>
          </ac:spMkLst>
        </pc:spChg>
      </pc:sldChg>
      <pc:sldChg chg="modSp new mod">
        <pc:chgData name="Marie Chris Soque" userId="9ebdbcbf79932a9a" providerId="LiveId" clId="{9996B585-DEE5-4E12-AD1C-26FF1EBC02C0}" dt="2026-10-01T01:14:38.074" v="1554" actId="20577"/>
        <pc:sldMkLst>
          <pc:docMk/>
          <pc:sldMk cId="3566336521" sldId="273"/>
        </pc:sldMkLst>
        <pc:spChg chg="mod">
          <ac:chgData name="Marie Chris Soque" userId="9ebdbcbf79932a9a" providerId="LiveId" clId="{9996B585-DEE5-4E12-AD1C-26FF1EBC02C0}" dt="2026-10-01T01:07:40.781" v="1085" actId="20577"/>
          <ac:spMkLst>
            <pc:docMk/>
            <pc:sldMk cId="3566336521" sldId="273"/>
            <ac:spMk id="2" creationId="{430228C1-D5B6-8BB8-9443-3BBE954027AB}"/>
          </ac:spMkLst>
        </pc:spChg>
        <pc:spChg chg="mod">
          <ac:chgData name="Marie Chris Soque" userId="9ebdbcbf79932a9a" providerId="LiveId" clId="{9996B585-DEE5-4E12-AD1C-26FF1EBC02C0}" dt="2026-10-01T01:14:38.074" v="1554" actId="20577"/>
          <ac:spMkLst>
            <pc:docMk/>
            <pc:sldMk cId="3566336521" sldId="273"/>
            <ac:spMk id="3" creationId="{F77CE0E6-A438-D81D-FE51-C30D30CD2532}"/>
          </ac:spMkLst>
        </pc:spChg>
      </pc:sldChg>
      <pc:sldChg chg="addSp delSp modSp new mod setBg">
        <pc:chgData name="Marie Chris Soque" userId="9ebdbcbf79932a9a" providerId="LiveId" clId="{9996B585-DEE5-4E12-AD1C-26FF1EBC02C0}" dt="2026-10-01T03:10:26.489" v="3741" actId="20577"/>
        <pc:sldMkLst>
          <pc:docMk/>
          <pc:sldMk cId="1491928618" sldId="274"/>
        </pc:sldMkLst>
        <pc:spChg chg="mod">
          <ac:chgData name="Marie Chris Soque" userId="9ebdbcbf79932a9a" providerId="LiveId" clId="{9996B585-DEE5-4E12-AD1C-26FF1EBC02C0}" dt="2026-10-01T03:00:58.552" v="3451" actId="20577"/>
          <ac:spMkLst>
            <pc:docMk/>
            <pc:sldMk cId="1491928618" sldId="274"/>
            <ac:spMk id="2" creationId="{88AFBF6B-B3B3-1640-3883-AB73063D9436}"/>
          </ac:spMkLst>
        </pc:spChg>
        <pc:spChg chg="del">
          <ac:chgData name="Marie Chris Soque" userId="9ebdbcbf79932a9a" providerId="LiveId" clId="{9996B585-DEE5-4E12-AD1C-26FF1EBC02C0}" dt="2026-10-01T02:59:42.821" v="3432" actId="478"/>
          <ac:spMkLst>
            <pc:docMk/>
            <pc:sldMk cId="1491928618" sldId="274"/>
            <ac:spMk id="3" creationId="{1F621C44-0BB4-DC9B-6BB3-AE8702342C68}"/>
          </ac:spMkLst>
        </pc:spChg>
        <pc:spChg chg="add mod">
          <ac:chgData name="Marie Chris Soque" userId="9ebdbcbf79932a9a" providerId="LiveId" clId="{9996B585-DEE5-4E12-AD1C-26FF1EBC02C0}" dt="2026-10-01T03:10:26.489" v="3741" actId="20577"/>
          <ac:spMkLst>
            <pc:docMk/>
            <pc:sldMk cId="1491928618" sldId="274"/>
            <ac:spMk id="6" creationId="{B657E3F9-58C2-3AD4-CF8F-15991EDF1362}"/>
          </ac:spMkLst>
        </pc:spChg>
        <pc:spChg chg="add del">
          <ac:chgData name="Marie Chris Soque" userId="9ebdbcbf79932a9a" providerId="LiveId" clId="{9996B585-DEE5-4E12-AD1C-26FF1EBC02C0}" dt="2026-10-01T02:59:52.965" v="3437" actId="26606"/>
          <ac:spMkLst>
            <pc:docMk/>
            <pc:sldMk cId="1491928618" sldId="274"/>
            <ac:spMk id="10" creationId="{D4771268-CB57-404A-9271-370EB28F6090}"/>
          </ac:spMkLst>
        </pc:spChg>
        <pc:picChg chg="add mod">
          <ac:chgData name="Marie Chris Soque" userId="9ebdbcbf79932a9a" providerId="LiveId" clId="{9996B585-DEE5-4E12-AD1C-26FF1EBC02C0}" dt="2026-10-01T02:59:52.965" v="3437" actId="26606"/>
          <ac:picMkLst>
            <pc:docMk/>
            <pc:sldMk cId="1491928618" sldId="274"/>
            <ac:picMk id="5" creationId="{703D3459-9745-8F90-0E76-2EE6E47DB9C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80D39-940B-44C0-9867-BCC4D10C4910}" type="datetimeFigureOut">
              <a:rPr lang="en-SG" smtClean="0"/>
              <a:t>1/10/2026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71B11-6187-4E3F-ADB2-58463CB57E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8482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C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Digital business involves end-to-end transformation across operations, supply chains, partners and customer touchpoints, rather than simply selling online.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71B11-6187-4E3F-ADB2-58463CB57E51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47294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B</a:t>
            </a:r>
          </a:p>
          <a:p>
            <a:r>
              <a:rPr lang="en-SG" dirty="0"/>
              <a:t>The progression presented is </a:t>
            </a:r>
            <a:r>
              <a:rPr lang="en-SG" b="1" dirty="0"/>
              <a:t>Web Presence → E-Commerce → Digital Business</a:t>
            </a:r>
            <a:r>
              <a:rPr lang="en-SG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71B11-6187-4E3F-ADB2-58463CB57E51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4165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C</a:t>
            </a:r>
          </a:p>
          <a:p>
            <a:r>
              <a:rPr lang="en-SG" dirty="0"/>
              <a:t>In a digital value network, customers can become active co-creators, data sources and ecosystem participants.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71B11-6187-4E3F-ADB2-58463CB57E51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7621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C3292-D51B-D777-79FE-CAD52F532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A2C34-E642-9B91-D677-C0287DBA6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8B2298-178C-0726-4E85-4C32FF2C4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C</a:t>
            </a:r>
          </a:p>
          <a:p>
            <a:r>
              <a:rPr lang="en-SG" dirty="0"/>
              <a:t>LU1 identifies demand for personalised experiences, omnichannel access, instant fulfilment and transparent interactions as customer drivers.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FE244-3BC7-4A6B-58C8-60E61F3F8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71B11-6187-4E3F-ADB2-58463CB57E51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0772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23000-3249-D569-CF7A-29FB4EB0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8BB90-F429-547F-D314-A9ED4E7E8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0BD4F-B369-CF68-6701-1E2A43B12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B</a:t>
            </a:r>
          </a:p>
          <a:p>
            <a:r>
              <a:rPr lang="en-SG" dirty="0"/>
              <a:t>Digital SWOT gives greater attention to data assets, API ecosystems and technological change.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FC8D-3651-A8C0-9114-9371775BF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71B11-6187-4E3F-ADB2-58463CB57E51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0767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04EF5-1E0C-D4CC-DF3B-291A165B7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AA3AF-130B-C32E-8CB4-D642EBCF1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E7072D-15F9-19C1-8D08-783DB286B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B</a:t>
            </a:r>
          </a:p>
          <a:p>
            <a:r>
              <a:rPr lang="en-SG" dirty="0"/>
              <a:t>Customer journey mapping identifies customer steps, emotions, pain points and moments of truth.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57967-97BA-E9FD-E5F0-92EC2ABAB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71B11-6187-4E3F-ADB2-58463CB57E51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9715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6BE73-F5E5-5EBE-B75E-CE54C104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DB0B2-5B98-5309-5862-8119515ED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9069C-1D1A-FFAF-3CEB-3BD9F0A66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A</a:t>
            </a:r>
          </a:p>
          <a:p>
            <a:r>
              <a:rPr lang="en-SG" dirty="0"/>
              <a:t>OTIF (On-Time In-Full) is an operational fulfilment KPI used in digital dashboards.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5D780-D59E-315E-AAAD-2350A3A81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71B11-6187-4E3F-ADB2-58463CB57E51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2368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0C25B-F4F5-B653-30E9-F1D7BA700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00A1BC-2038-0FE5-6C54-CE23D8174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E5E55-F0ED-1C49-7735-EDFBD5282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B</a:t>
            </a:r>
          </a:p>
          <a:p>
            <a:r>
              <a:rPr lang="en-SG" dirty="0"/>
              <a:t>IoT captures real-time telemetry from physical assets, supply chains and operating environments.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97F20-5729-E82F-3D20-5FEC2FCCA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71B11-6187-4E3F-ADB2-58463CB57E51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9602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BE4AB-DA71-687F-7E65-7B7229F8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B658E-EA98-E112-0E85-6FED6974A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6765D-3388-5ADB-EBBF-BA27B67B3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A</a:t>
            </a:r>
          </a:p>
          <a:p>
            <a:r>
              <a:rPr lang="en-SG" dirty="0"/>
              <a:t>LU5 provides the example of combining IoT sensor data, Cloud storage and AI prediction for logistics optimisation.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50D88-B4A4-C51F-B27B-E0C98F6A3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71B11-6187-4E3F-ADB2-58463CB57E51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8175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FC31E-C9EE-5946-3DA7-C7688287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ECA83-5840-B939-53AB-E016CAC4B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89AB8-BAFF-6B80-1FDD-456C04440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C</a:t>
            </a:r>
          </a:p>
          <a:p>
            <a:r>
              <a:rPr lang="en-SG" dirty="0"/>
              <a:t>The Early Majority are pragmatic adopters who generally require proven ROI and case studies before adoption.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016E9-CEB2-1E2C-D183-5FC64813D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71B11-6187-4E3F-ADB2-58463CB57E51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0119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2C87D-237F-C459-748A-180532814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04446-4211-249C-3568-FFC537BE7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0A5D44-E13E-1EE0-907E-F90B425C6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Zero Trust uses the principle </a:t>
            </a:r>
            <a:r>
              <a:rPr lang="en-SG" b="1" dirty="0"/>
              <a:t>"Never Trust, Always Verify."</a:t>
            </a:r>
            <a:r>
              <a:rPr lang="en-SG" dirty="0"/>
              <a:t> 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33FF7-54F3-C6EF-6AFC-F52E8D151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71B11-6187-4E3F-ADB2-58463CB57E51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8151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C6DB7-8E5E-FA8A-D4D2-EAC7591DF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40248-7FA0-7552-2225-39E67E99E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49C70-C95B-EEC7-399E-6E0D70DA7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612C-E521-4EE1-8629-FC4C04899686}" type="datetimeFigureOut">
              <a:rPr lang="en-SG" smtClean="0"/>
              <a:t>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98983-3CDF-8C40-F916-96C274780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22015-DA5F-9D5D-F3CE-BB65FBEA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8BCB-C8CB-498A-BCD5-909C444E33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35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30FF-FD1A-D3BA-4304-63206C15D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66842-7731-32DC-8529-60DAF8283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0CD64-08C2-DCE9-B847-6A1B0EEF7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612C-E521-4EE1-8629-FC4C04899686}" type="datetimeFigureOut">
              <a:rPr lang="en-SG" smtClean="0"/>
              <a:t>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F3B11-08E5-CE08-DB09-C1EF7712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48C36-0AE8-8998-AE7D-5D2952F4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8BCB-C8CB-498A-BCD5-909C444E33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6114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FEDF-B8AE-72DA-CC87-2844C121B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044A1-C949-9C69-0846-FC7727E94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15DC6-99BD-0292-C9FB-82EBFA5F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612C-E521-4EE1-8629-FC4C04899686}" type="datetimeFigureOut">
              <a:rPr lang="en-SG" smtClean="0"/>
              <a:t>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48C56-507B-CF17-B238-FED7D33FA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235D3-F73A-1F6F-38B1-848A5714D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8BCB-C8CB-498A-BCD5-909C444E33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4983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CB45-32F5-7B25-16D0-006CB716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3B8C0-4BDE-B108-FA24-EB4110E0B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B3C01-F05D-DE2D-D5CB-CFA22C888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7ABA7-48A9-8415-3C34-2A24CD2DB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612C-E521-4EE1-8629-FC4C04899686}" type="datetimeFigureOut">
              <a:rPr lang="en-SG" smtClean="0"/>
              <a:t>1/10/2026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91E59-C4E3-04DD-4810-731EDF6E2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CDD28-8FF6-D2B2-9559-02FA2F41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8BCB-C8CB-498A-BCD5-909C444E33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98121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9FE4-360C-3C5D-D1C8-97646730C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CD101-0F56-8FAE-50E9-12F7FB4B5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E486B-4D4D-96F6-B039-F29E7DA75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4975F6-B5A1-D505-2D93-E8634A9C3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59B12-A108-EAEA-52E2-6B7F086C5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1A892-14D8-0BF1-7907-EFAFCF80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612C-E521-4EE1-8629-FC4C04899686}" type="datetimeFigureOut">
              <a:rPr lang="en-SG" smtClean="0"/>
              <a:t>1/10/2026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34274-B5B5-12FB-C1A8-CC9D66FA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A5839D-0EEC-118A-8008-CC986DAD0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8BCB-C8CB-498A-BCD5-909C444E33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5955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4E35-4E6E-A8E0-1E75-C8B26E89E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23351C-89F6-856D-AE20-A7BC45199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612C-E521-4EE1-8629-FC4C04899686}" type="datetimeFigureOut">
              <a:rPr lang="en-SG" smtClean="0"/>
              <a:t>1/10/2026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5F0BC-1B33-0B40-9C53-1B43CA1C4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6E272-BB97-2F7D-9C64-27A287BB7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8BCB-C8CB-498A-BCD5-909C444E33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4663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F330A-8C06-213B-7DF1-7A8ECAE7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612C-E521-4EE1-8629-FC4C04899686}" type="datetimeFigureOut">
              <a:rPr lang="en-SG" smtClean="0"/>
              <a:t>1/10/2026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D1B20-B632-B190-6206-F1A12897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A2463-68FF-BADE-2E04-A9A9D0D0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8BCB-C8CB-498A-BCD5-909C444E33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6261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A4DC-3578-04F7-C249-251DC76E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71150-5BA0-010E-6DC9-38A8A2618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CC0D2-2074-4BE3-58DF-BBB06A3B4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B8F2B-08B6-F24D-F171-7F24796BE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612C-E521-4EE1-8629-FC4C04899686}" type="datetimeFigureOut">
              <a:rPr lang="en-SG" smtClean="0"/>
              <a:t>1/10/2026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68849-7EB7-809F-1F92-4BD63825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AA9CE-5444-5D72-ECF4-59090190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8BCB-C8CB-498A-BCD5-909C444E33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7302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82F3-301F-669F-4994-E51385234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4E321-DCDE-3300-1C0C-77CDB9C4553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B9F2A-6742-BB94-B0E2-C74B61DAC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DC938-7BA6-6A21-AFF9-9632F92A1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612C-E521-4EE1-8629-FC4C04899686}" type="datetimeFigureOut">
              <a:rPr lang="en-SG" smtClean="0"/>
              <a:t>1/10/2026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53213-DD4B-EFA7-F3D4-31ABC9B5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B27E7-5916-D182-FFB4-266F5BF2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8BCB-C8CB-498A-BCD5-909C444E33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31400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FCE92-7A57-F506-4732-AD50A5FD2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28937-59DF-6A61-C00E-D1644CC4F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79CA8-E291-C049-BD28-6B585C63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612C-E521-4EE1-8629-FC4C04899686}" type="datetimeFigureOut">
              <a:rPr lang="en-SG" smtClean="0"/>
              <a:t>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DDDA0-975C-76BA-0829-657D7CE1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48124-D15A-A98D-C521-7AABD155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8BCB-C8CB-498A-BCD5-909C444E33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7121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6ACC4-9B96-E45B-CA1B-B3AE1AE98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E1756-9BF2-675B-7D87-22904A941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29401-8D59-6114-7C56-569FC05E9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612C-E521-4EE1-8629-FC4C04899686}" type="datetimeFigureOut">
              <a:rPr lang="en-SG" smtClean="0"/>
              <a:t>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94EE6-0333-D856-064D-7D8EC76A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0D363-63DB-86DB-5318-9B28CD6BA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8BCB-C8CB-498A-BCD5-909C444E33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5885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1B317-25D3-143C-4F91-8D6A81B8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D75A9-B681-842C-EBF2-0D773A010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A83F2-979F-8A71-6B96-454428434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5612C-E521-4EE1-8629-FC4C04899686}" type="datetimeFigureOut">
              <a:rPr lang="en-SG" smtClean="0"/>
              <a:t>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CA21C-0BA1-BB1C-44A7-EF9388DB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A7798-A461-811E-BC12-10FCBEAB0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198BCB-C8CB-498A-BCD5-909C444E33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687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5670-8227-7474-437F-AB01133019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Teacher’s Revision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56E92-7E3F-F748-C0ED-3C48369C31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Topics to Study </a:t>
            </a:r>
          </a:p>
          <a:p>
            <a:r>
              <a:rPr lang="en-SG" dirty="0"/>
              <a:t>Digital Business Strategies and Operations</a:t>
            </a:r>
          </a:p>
        </p:txBody>
      </p:sp>
    </p:spTree>
    <p:extLst>
      <p:ext uri="{BB962C8B-B14F-4D97-AF65-F5344CB8AC3E}">
        <p14:creationId xmlns:p14="http://schemas.microsoft.com/office/powerpoint/2010/main" val="2851630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228C1-D5B6-8BB8-9443-3BBE9540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Type of Exams (Written + Lab) – 2 Hours and 10 minutes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CE0E6-A438-D81D-FE51-C30D30CD2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Part I – MCQ (20 Questions) – 20 Marks (Written)</a:t>
            </a:r>
          </a:p>
          <a:p>
            <a:r>
              <a:rPr lang="en-SG" dirty="0"/>
              <a:t>Part II – Short-Answer Questions (5 Questions) – 30 Marks</a:t>
            </a:r>
          </a:p>
          <a:p>
            <a:pPr marL="0" indent="0">
              <a:buNone/>
            </a:pPr>
            <a:r>
              <a:rPr lang="en-SG" dirty="0"/>
              <a:t>Each Question is worth 6 Marks (Written)</a:t>
            </a:r>
          </a:p>
          <a:p>
            <a:r>
              <a:rPr lang="en-SG" dirty="0"/>
              <a:t>Part III – Practical/Laboratory – (Manus AI and/or Base44) prompt it with a workflow and build the system prototype (50 Marks)</a:t>
            </a:r>
          </a:p>
          <a:p>
            <a:pPr marL="0" indent="0">
              <a:buNone/>
            </a:pPr>
            <a:r>
              <a:rPr lang="en-SG" dirty="0"/>
              <a:t>Task 1 – Writing </a:t>
            </a:r>
          </a:p>
          <a:p>
            <a:pPr marL="0" indent="0">
              <a:buNone/>
            </a:pPr>
            <a:r>
              <a:rPr lang="en-SG" dirty="0"/>
              <a:t>Task 2 – Writing</a:t>
            </a:r>
          </a:p>
          <a:p>
            <a:pPr marL="0" indent="0">
              <a:buNone/>
            </a:pPr>
            <a:r>
              <a:rPr lang="en-SG" dirty="0"/>
              <a:t>Task 3 – Manus AI/Base 44</a:t>
            </a:r>
          </a:p>
          <a:p>
            <a:pPr marL="0" indent="0">
              <a:buNone/>
            </a:pPr>
            <a:r>
              <a:rPr lang="en-SG" dirty="0"/>
              <a:t>Task 4 - Writing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6633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48830-0872-4638-1859-0D2816EAB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LU1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37CD1-C7D4-7C4F-0053-1E49BBD30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Difference between E-commerce and Digital Business (Focus, Value Creation, Scope). Provide real-world examples in terms of difference</a:t>
            </a:r>
          </a:p>
          <a:p>
            <a:r>
              <a:rPr lang="en-SG" dirty="0"/>
              <a:t>Understand the concept of Digital Value Network (Digital Transformation)</a:t>
            </a:r>
          </a:p>
        </p:txBody>
      </p:sp>
    </p:spTree>
    <p:extLst>
      <p:ext uri="{BB962C8B-B14F-4D97-AF65-F5344CB8AC3E}">
        <p14:creationId xmlns:p14="http://schemas.microsoft.com/office/powerpoint/2010/main" val="3346186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7C93-1CA5-21DD-0F34-D624E7727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LU2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6CF78-D65E-980A-3122-D41533B91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concepts of Digital Strategic Tools (E.g., PESTLE, SWOT, Porter’s Five Forces Model)</a:t>
            </a:r>
          </a:p>
          <a:p>
            <a:r>
              <a:rPr lang="en-SG" dirty="0"/>
              <a:t>Explain the concept of Digital Value Chain (BMC) – Tech-Driven</a:t>
            </a:r>
          </a:p>
          <a:p>
            <a:r>
              <a:rPr lang="en-SG" dirty="0"/>
              <a:t>Understand how Blue Ocean is used to come up with Digital Transformations for a business (Eliminate, Raise, Reduce, Create) – Looking at Traditional/Legacy towards Digitalized Workflows/</a:t>
            </a:r>
            <a:r>
              <a:rPr lang="en-SG" dirty="0" err="1"/>
              <a:t>Syste,s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75404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4CE73-B0EC-3BA5-0583-801DEE47B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LU3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C5D29-E562-B9CC-1DF7-76B122879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Give examples of a multi-sided platform Architecture (Healthcare, SCM, Manufacturing, Buying-Selling, Education, Hotel)</a:t>
            </a:r>
          </a:p>
          <a:p>
            <a:r>
              <a:rPr lang="en-SG" dirty="0"/>
              <a:t>Understand the components of Digital Transformation Strategies (Cloud Computing, ERP, AI Workflows, IoT) </a:t>
            </a:r>
          </a:p>
          <a:p>
            <a:r>
              <a:rPr lang="en-SG" dirty="0"/>
              <a:t>Differentiation between a Digital Native and Legacy System (Traditional)</a:t>
            </a:r>
          </a:p>
        </p:txBody>
      </p:sp>
    </p:spTree>
    <p:extLst>
      <p:ext uri="{BB962C8B-B14F-4D97-AF65-F5344CB8AC3E}">
        <p14:creationId xmlns:p14="http://schemas.microsoft.com/office/powerpoint/2010/main" val="19287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53988-17C8-821B-F243-924E39885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LU4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4D0D4-AAED-AC80-0D52-186A8C571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Understand the Agile and lean operations (Healthcare, SCM/Logistics, Education, Hotel, Typical buying-selling) – Identification of Digital Waste, Kaizen (Continuous improvement)</a:t>
            </a:r>
          </a:p>
          <a:p>
            <a:r>
              <a:rPr lang="en-SG" dirty="0"/>
              <a:t>What is RPA? How RPA works? – Logistics/SCM</a:t>
            </a:r>
          </a:p>
          <a:p>
            <a:r>
              <a:rPr lang="en-SG" dirty="0"/>
              <a:t>What makes the customer experience better? How to improve customer experience in the context of Technology? – Synergy (Omnichannel vs. Multichannel)</a:t>
            </a:r>
          </a:p>
          <a:p>
            <a:r>
              <a:rPr lang="en-SG" dirty="0"/>
              <a:t>OTIF (On-Time In Full) – Core Operational KPIs should be reflected in the Digital E-Business Model through Dashboards</a:t>
            </a:r>
          </a:p>
        </p:txBody>
      </p:sp>
    </p:spTree>
    <p:extLst>
      <p:ext uri="{BB962C8B-B14F-4D97-AF65-F5344CB8AC3E}">
        <p14:creationId xmlns:p14="http://schemas.microsoft.com/office/powerpoint/2010/main" val="2453481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170A3-3A1D-5177-C992-6BBE54700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56AD-F82E-C5FF-FD82-2A5C732D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LU5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D9EE1-EFDC-754B-7970-57F42A7C1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SG" dirty="0"/>
              <a:t>How cloud computing, IoT, AI and Blockchain is used/integrated in the process/workflow to streamline and correct gaps? </a:t>
            </a:r>
          </a:p>
          <a:p>
            <a:r>
              <a:rPr lang="en-SG" dirty="0"/>
              <a:t>Why integrate these technologies? – the purpose is for cost/time effectiveness</a:t>
            </a:r>
          </a:p>
          <a:p>
            <a:r>
              <a:rPr lang="en-SG" dirty="0"/>
              <a:t>The software/system/digital solutions should integrate different operations of the organization and be able to provide data that can be used in decision making.</a:t>
            </a:r>
          </a:p>
          <a:p>
            <a:r>
              <a:rPr lang="en-SG" dirty="0"/>
              <a:t>Elements/Components of Roger’s Innovation Framework (Innovators, Early Adopters, Early Majority, Late Majority, Laggards)</a:t>
            </a:r>
          </a:p>
          <a:p>
            <a:r>
              <a:rPr lang="en-SG" dirty="0"/>
              <a:t>Understand the concepts of security in software/system/digital solutions and zero trust</a:t>
            </a:r>
          </a:p>
        </p:txBody>
      </p:sp>
    </p:spTree>
    <p:extLst>
      <p:ext uri="{BB962C8B-B14F-4D97-AF65-F5344CB8AC3E}">
        <p14:creationId xmlns:p14="http://schemas.microsoft.com/office/powerpoint/2010/main" val="3542284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E19A3-5868-119B-101B-64A1483A6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Sample MCQ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A537F-BF71-18AD-D74D-240E65BB8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 Which statement best distinguishes digital business from traditional e-commerce? </a:t>
            </a:r>
          </a:p>
          <a:p>
            <a:pPr marL="514350" indent="-514350">
              <a:buAutoNum type="alphaUcPeriod"/>
            </a:pPr>
            <a:r>
              <a:rPr lang="en-SG" dirty="0"/>
              <a:t>Digital business only focuses on online payment processing. </a:t>
            </a:r>
          </a:p>
          <a:p>
            <a:pPr marL="514350" indent="-514350">
              <a:buAutoNum type="alphaUcPeriod"/>
            </a:pPr>
            <a:r>
              <a:rPr lang="en-SG" dirty="0"/>
              <a:t>Digital business focuses exclusively on digital marketing. </a:t>
            </a:r>
          </a:p>
          <a:p>
            <a:pPr marL="514350" indent="-514350">
              <a:buAutoNum type="alphaUcPeriod"/>
            </a:pPr>
            <a:r>
              <a:rPr lang="en-SG" dirty="0"/>
              <a:t>Digital business integrates technology across operations, supply chains, partners and customer touchpoints. </a:t>
            </a:r>
          </a:p>
          <a:p>
            <a:pPr marL="514350" indent="-514350">
              <a:buAutoNum type="alphaUcPeriod"/>
            </a:pPr>
            <a:r>
              <a:rPr lang="en-SG" dirty="0"/>
              <a:t>Digital business is simply a website with an online shopping cart. </a:t>
            </a:r>
          </a:p>
        </p:txBody>
      </p:sp>
    </p:spTree>
    <p:extLst>
      <p:ext uri="{BB962C8B-B14F-4D97-AF65-F5344CB8AC3E}">
        <p14:creationId xmlns:p14="http://schemas.microsoft.com/office/powerpoint/2010/main" val="337505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24D07-0822-68CA-B004-671F7675C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1648-7096-6A69-56B9-ADFE2B46D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Sample MCQ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7A168-DAE7-1BF1-9D58-5B72E96FA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Which sequence best represents the evolution of digital strategy? A. AI → Web Presence → E-Commerce </a:t>
            </a:r>
          </a:p>
          <a:p>
            <a:pPr marL="0" indent="0">
              <a:buNone/>
            </a:pPr>
            <a:r>
              <a:rPr lang="en-SG" dirty="0"/>
              <a:t>B. Web Presence → E-Commerce → Digital Business </a:t>
            </a:r>
          </a:p>
          <a:p>
            <a:pPr marL="0" indent="0">
              <a:buNone/>
            </a:pPr>
            <a:r>
              <a:rPr lang="en-SG" dirty="0"/>
              <a:t>C. E-Commerce → Web Presence → Digital Business </a:t>
            </a:r>
          </a:p>
          <a:p>
            <a:pPr marL="0" indent="0">
              <a:buNone/>
            </a:pPr>
            <a:r>
              <a:rPr lang="en-SG" dirty="0"/>
              <a:t>D. Web Presence → Digital Business → E-Commerce</a:t>
            </a:r>
          </a:p>
        </p:txBody>
      </p:sp>
    </p:spTree>
    <p:extLst>
      <p:ext uri="{BB962C8B-B14F-4D97-AF65-F5344CB8AC3E}">
        <p14:creationId xmlns:p14="http://schemas.microsoft.com/office/powerpoint/2010/main" val="3200948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D98A3-6D21-CB52-028B-7578AC9C5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2516-8A67-5CDD-283B-DE40643A1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Sample MCQ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2F03-0C69-7EDA-5B3E-CBFB756E2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In a digital value network, customers are more likely to be viewed as: </a:t>
            </a:r>
          </a:p>
          <a:p>
            <a:pPr marL="514350" indent="-514350">
              <a:buAutoNum type="alphaUcPeriod"/>
            </a:pPr>
            <a:r>
              <a:rPr lang="en-SG" dirty="0"/>
              <a:t>Passive recipients </a:t>
            </a:r>
          </a:p>
          <a:p>
            <a:pPr marL="514350" indent="-514350">
              <a:buAutoNum type="alphaUcPeriod"/>
            </a:pPr>
            <a:r>
              <a:rPr lang="en-SG" dirty="0"/>
              <a:t>End points in a supply chain </a:t>
            </a:r>
          </a:p>
          <a:p>
            <a:pPr marL="514350" indent="-514350">
              <a:buAutoNum type="alphaUcPeriod"/>
            </a:pPr>
            <a:r>
              <a:rPr lang="en-SG" dirty="0"/>
              <a:t>Co-creators and ecosystem participants </a:t>
            </a:r>
          </a:p>
          <a:p>
            <a:pPr marL="514350" indent="-514350">
              <a:buAutoNum type="alphaUcPeriod"/>
            </a:pPr>
            <a:r>
              <a:rPr lang="en-SG" dirty="0"/>
              <a:t>Suppliers of physical inventory only</a:t>
            </a:r>
          </a:p>
        </p:txBody>
      </p:sp>
    </p:spTree>
    <p:extLst>
      <p:ext uri="{BB962C8B-B14F-4D97-AF65-F5344CB8AC3E}">
        <p14:creationId xmlns:p14="http://schemas.microsoft.com/office/powerpoint/2010/main" val="370584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48DE8-BF1A-88DB-0FA5-2F11E7C8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C140-97C6-FF89-B370-F938CEF0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Sample MCQ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5E27A-3FB5-192B-883F-13A964E33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Which of the following is primarily a customer driver for digital transformation? </a:t>
            </a:r>
          </a:p>
          <a:p>
            <a:pPr marL="514350" indent="-514350">
              <a:buAutoNum type="alphaUcPeriod"/>
            </a:pPr>
            <a:r>
              <a:rPr lang="en-SG" dirty="0"/>
              <a:t>Cloud computing </a:t>
            </a:r>
          </a:p>
          <a:p>
            <a:pPr marL="514350" indent="-514350">
              <a:buAutoNum type="alphaUcPeriod"/>
            </a:pPr>
            <a:r>
              <a:rPr lang="en-SG" dirty="0"/>
              <a:t>Artificial intelligence </a:t>
            </a:r>
          </a:p>
          <a:p>
            <a:pPr marL="514350" indent="-514350">
              <a:buAutoNum type="alphaUcPeriod"/>
            </a:pPr>
            <a:r>
              <a:rPr lang="en-SG" dirty="0"/>
              <a:t>Demand for personalised and omnichannel experiences </a:t>
            </a:r>
          </a:p>
          <a:p>
            <a:pPr marL="514350" indent="-514350">
              <a:buAutoNum type="alphaUcPeriod"/>
            </a:pPr>
            <a:r>
              <a:rPr lang="en-SG" dirty="0"/>
              <a:t>Legacy hardware replacement </a:t>
            </a:r>
          </a:p>
        </p:txBody>
      </p:sp>
    </p:spTree>
    <p:extLst>
      <p:ext uri="{BB962C8B-B14F-4D97-AF65-F5344CB8AC3E}">
        <p14:creationId xmlns:p14="http://schemas.microsoft.com/office/powerpoint/2010/main" val="1151116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1F211-94FD-A84F-C40E-69D63B63E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56D4-3B42-31D3-E4FB-2AE8A5F9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Sample MCQ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00307-ED14-7DCC-D308-D242B2D65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A Digital SWOT analysis places greater emphasis on which of the following? </a:t>
            </a:r>
          </a:p>
          <a:p>
            <a:pPr marL="514350" indent="-514350">
              <a:buAutoNum type="alphaUcPeriod"/>
            </a:pPr>
            <a:r>
              <a:rPr lang="en-SG" dirty="0"/>
              <a:t>Physical buildings and machinery only </a:t>
            </a:r>
          </a:p>
          <a:p>
            <a:pPr marL="514350" indent="-514350">
              <a:buAutoNum type="alphaUcPeriod"/>
            </a:pPr>
            <a:r>
              <a:rPr lang="en-SG" dirty="0"/>
              <a:t>Data assets and API ecosystems </a:t>
            </a:r>
          </a:p>
          <a:p>
            <a:pPr marL="514350" indent="-514350">
              <a:buAutoNum type="alphaUcPeriod"/>
            </a:pPr>
            <a:r>
              <a:rPr lang="en-SG" dirty="0"/>
              <a:t>Employee uniforms </a:t>
            </a:r>
          </a:p>
          <a:p>
            <a:pPr marL="514350" indent="-514350">
              <a:buAutoNum type="alphaUcPeriod"/>
            </a:pPr>
            <a:r>
              <a:rPr lang="en-SG" dirty="0"/>
              <a:t>Traditional distribution channels only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2769075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AEA1-E9A8-4F44-CACA-848CAF0F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0BB66-05B3-7E17-9E6B-EB1BC455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Sample MCQ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19B7C-7132-3EA4-F12B-E22BB9D99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Customer journey mapping is primarily used to identify: </a:t>
            </a:r>
          </a:p>
          <a:p>
            <a:pPr marL="514350" indent="-514350">
              <a:buAutoNum type="alphaUcPeriod"/>
            </a:pPr>
            <a:r>
              <a:rPr lang="en-SG" dirty="0"/>
              <a:t>Employee salaries </a:t>
            </a:r>
          </a:p>
          <a:p>
            <a:pPr marL="514350" indent="-514350">
              <a:buAutoNum type="alphaUcPeriod"/>
            </a:pPr>
            <a:r>
              <a:rPr lang="en-SG" dirty="0"/>
              <a:t>Customer steps, pain points and digital touchpoints </a:t>
            </a:r>
          </a:p>
          <a:p>
            <a:pPr marL="514350" indent="-514350">
              <a:buAutoNum type="alphaUcPeriod"/>
            </a:pPr>
            <a:r>
              <a:rPr lang="en-SG" dirty="0"/>
              <a:t>Competitor financial statements </a:t>
            </a:r>
          </a:p>
          <a:p>
            <a:pPr marL="514350" indent="-514350">
              <a:buAutoNum type="alphaUcPeriod"/>
            </a:pPr>
            <a:r>
              <a:rPr lang="en-SG" dirty="0"/>
              <a:t>Network security protocols only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913632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AD9DA-D0D4-EC78-C871-D1C1E0D9C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C5281-0183-DC3E-0EC5-1D41736C0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Sample MCQ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040A8-7D3E-93AD-6A7B-FFB35E6F2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Which KPI is particularly relevant to order fulfilment performance? A. OTIF (On-Time In-Full)</a:t>
            </a:r>
          </a:p>
          <a:p>
            <a:pPr marL="0" indent="0">
              <a:buNone/>
            </a:pPr>
            <a:r>
              <a:rPr lang="en-SG" dirty="0"/>
              <a:t>B. Number of employees </a:t>
            </a:r>
          </a:p>
          <a:p>
            <a:pPr marL="0" indent="0">
              <a:buNone/>
            </a:pPr>
            <a:r>
              <a:rPr lang="en-SG" dirty="0"/>
              <a:t>C. Office size </a:t>
            </a:r>
          </a:p>
          <a:p>
            <a:pPr marL="0" indent="0">
              <a:buNone/>
            </a:pPr>
            <a:r>
              <a:rPr lang="en-SG" dirty="0"/>
              <a:t>D. Number of company websites 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4227183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C968E-6444-8DBF-097D-A041918AA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91D1B-B006-1B50-3A59-E934D7D3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Sample MCQ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FA7BB-0300-6847-A5BE-CF6FDBA7B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Which technology captures real-time telemetry from physical assets? </a:t>
            </a:r>
          </a:p>
          <a:p>
            <a:pPr marL="514350" indent="-514350">
              <a:buAutoNum type="alphaUcPeriod"/>
            </a:pPr>
            <a:r>
              <a:rPr lang="en-SG" dirty="0"/>
              <a:t>Blockchain </a:t>
            </a:r>
          </a:p>
          <a:p>
            <a:pPr marL="514350" indent="-514350">
              <a:buAutoNum type="alphaUcPeriod"/>
            </a:pPr>
            <a:r>
              <a:rPr lang="en-SG" dirty="0"/>
              <a:t>IoT </a:t>
            </a:r>
          </a:p>
          <a:p>
            <a:pPr marL="514350" indent="-514350">
              <a:buAutoNum type="alphaUcPeriod"/>
            </a:pPr>
            <a:r>
              <a:rPr lang="en-SG" dirty="0"/>
              <a:t>SaaS </a:t>
            </a:r>
          </a:p>
          <a:p>
            <a:pPr marL="514350" indent="-514350">
              <a:buAutoNum type="alphaUcPeriod"/>
            </a:pPr>
            <a:r>
              <a:rPr lang="en-SG" dirty="0"/>
              <a:t>CRM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683345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54BBE-7E0E-A7C5-6738-D1164651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D8476-24A9-F8F3-3D97-0315C7BAC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Sample MCQ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2D397-8B4C-AD74-AE4C-2E9E007C8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Which combination best represents the logistics architecture? </a:t>
            </a:r>
          </a:p>
          <a:p>
            <a:pPr marL="514350" indent="-514350">
              <a:buAutoNum type="alphaUcPeriod"/>
            </a:pPr>
            <a:r>
              <a:rPr lang="en-SG" dirty="0"/>
              <a:t>IoT → Cloud → AI </a:t>
            </a:r>
          </a:p>
          <a:p>
            <a:pPr marL="514350" indent="-514350">
              <a:buAutoNum type="alphaUcPeriod"/>
            </a:pPr>
            <a:r>
              <a:rPr lang="en-SG" dirty="0"/>
              <a:t>Blockchain → Website → Email </a:t>
            </a:r>
          </a:p>
          <a:p>
            <a:pPr marL="514350" indent="-514350">
              <a:buAutoNum type="alphaUcPeriod"/>
            </a:pPr>
            <a:r>
              <a:rPr lang="en-SG" dirty="0"/>
              <a:t>CRM → Spreadsheet → Printer </a:t>
            </a:r>
          </a:p>
          <a:p>
            <a:pPr marL="514350" indent="-514350">
              <a:buAutoNum type="alphaUcPeriod"/>
            </a:pPr>
            <a:r>
              <a:rPr lang="en-SG" dirty="0"/>
              <a:t>Website → Social Media → Payment Gateway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414171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BE708-4379-0E93-64A7-2B712A6B5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16A1-881D-2C09-E180-5BFD9077B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Sample MCQ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9B530-DFBF-6690-AADE-DECFFD75A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According to Rogers' Diffusion of Innovation framework, which group generally requires proven ROI and case studies? </a:t>
            </a:r>
          </a:p>
          <a:p>
            <a:pPr marL="514350" indent="-514350">
              <a:buAutoNum type="alphaUcPeriod"/>
            </a:pPr>
            <a:r>
              <a:rPr lang="en-SG" dirty="0"/>
              <a:t>Innovators </a:t>
            </a:r>
          </a:p>
          <a:p>
            <a:pPr marL="514350" indent="-514350">
              <a:buAutoNum type="alphaUcPeriod"/>
            </a:pPr>
            <a:r>
              <a:rPr lang="en-SG" dirty="0"/>
              <a:t>Early Adopters </a:t>
            </a:r>
          </a:p>
          <a:p>
            <a:pPr marL="514350" indent="-514350">
              <a:buAutoNum type="alphaUcPeriod"/>
            </a:pPr>
            <a:r>
              <a:rPr lang="en-SG" dirty="0"/>
              <a:t>Early Majority </a:t>
            </a:r>
          </a:p>
          <a:p>
            <a:pPr marL="514350" indent="-514350">
              <a:buAutoNum type="alphaUcPeriod"/>
            </a:pPr>
            <a:r>
              <a:rPr lang="en-SG" dirty="0"/>
              <a:t>Laggards </a:t>
            </a:r>
          </a:p>
        </p:txBody>
      </p:sp>
    </p:spTree>
    <p:extLst>
      <p:ext uri="{BB962C8B-B14F-4D97-AF65-F5344CB8AC3E}">
        <p14:creationId xmlns:p14="http://schemas.microsoft.com/office/powerpoint/2010/main" val="3435310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7CABE-F286-C9DD-E2C3-92BF50AC1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18FBB-9E18-4D49-013E-48E3A6D5B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Sample MCQ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B776A-851B-AA94-80D3-0B492D50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Which principle is central to Zero Trust? </a:t>
            </a:r>
          </a:p>
          <a:p>
            <a:pPr marL="514350" indent="-514350">
              <a:buAutoNum type="alphaUcPeriod"/>
            </a:pPr>
            <a:r>
              <a:rPr lang="en-SG" dirty="0"/>
              <a:t>Trust all internal users </a:t>
            </a:r>
          </a:p>
          <a:p>
            <a:pPr marL="514350" indent="-514350">
              <a:buAutoNum type="alphaUcPeriod"/>
            </a:pPr>
            <a:r>
              <a:rPr lang="en-SG" dirty="0"/>
              <a:t>Trust users once they enter the network </a:t>
            </a:r>
          </a:p>
          <a:p>
            <a:pPr marL="514350" indent="-514350">
              <a:buAutoNum type="alphaUcPeriod"/>
            </a:pPr>
            <a:r>
              <a:rPr lang="en-SG" dirty="0"/>
              <a:t>Never Trust, Always Verify </a:t>
            </a:r>
          </a:p>
          <a:p>
            <a:pPr marL="514350" indent="-514350">
              <a:buAutoNum type="alphaUcPeriod"/>
            </a:pPr>
            <a:r>
              <a:rPr lang="en-SG" dirty="0"/>
              <a:t>Give all users administrator access</a:t>
            </a:r>
          </a:p>
        </p:txBody>
      </p:sp>
    </p:spTree>
    <p:extLst>
      <p:ext uri="{BB962C8B-B14F-4D97-AF65-F5344CB8AC3E}">
        <p14:creationId xmlns:p14="http://schemas.microsoft.com/office/powerpoint/2010/main" val="715794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BF6B-B3B3-1640-3883-AB73063D9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Generate a Manus AI/Base44 Application to streamline the workflow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D3459-9745-8F90-0E76-2EE6E47DB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50" y="1843077"/>
            <a:ext cx="4293125" cy="4649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7E3F9-58C2-3AD4-CF8F-15991EDF1362}"/>
              </a:ext>
            </a:extLst>
          </p:cNvPr>
          <p:cNvSpPr txBox="1"/>
          <p:nvPr/>
        </p:nvSpPr>
        <p:spPr>
          <a:xfrm>
            <a:off x="4987613" y="2386012"/>
            <a:ext cx="64452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What are the digital waste to eliminate?</a:t>
            </a:r>
          </a:p>
          <a:p>
            <a:endParaRPr lang="en-SG" sz="2400" dirty="0"/>
          </a:p>
          <a:p>
            <a:r>
              <a:rPr lang="en-SG" sz="2400" dirty="0"/>
              <a:t>1.  Manual Data Entry (Overprocessing)</a:t>
            </a:r>
          </a:p>
          <a:p>
            <a:r>
              <a:rPr lang="en-SG" sz="2400" dirty="0"/>
              <a:t>2.  Defects (Error in data entry, system bugs, operational glitches)</a:t>
            </a:r>
          </a:p>
          <a:p>
            <a:r>
              <a:rPr lang="en-SG" sz="2400" dirty="0"/>
              <a:t>3.  </a:t>
            </a:r>
            <a:r>
              <a:rPr lang="en-SG" sz="2400"/>
              <a:t>Waiting Time </a:t>
            </a:r>
            <a:endParaRPr lang="en-SG" sz="2400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91928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1078</Words>
  <Application>Microsoft Office PowerPoint</Application>
  <PresentationFormat>Widescreen</PresentationFormat>
  <Paragraphs>138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Teacher’s Revision</vt:lpstr>
      <vt:lpstr>Type of Exams (Written + Lab) – 2 Hours and 10 minutes </vt:lpstr>
      <vt:lpstr>LU1</vt:lpstr>
      <vt:lpstr>LU2</vt:lpstr>
      <vt:lpstr>LU3</vt:lpstr>
      <vt:lpstr>LU4</vt:lpstr>
      <vt:lpstr>LU5</vt:lpstr>
      <vt:lpstr>Sample MCQ Questions</vt:lpstr>
      <vt:lpstr>Sample MCQ Questions</vt:lpstr>
      <vt:lpstr>Sample MCQ Questions</vt:lpstr>
      <vt:lpstr>Sample MCQ Questions</vt:lpstr>
      <vt:lpstr>Sample MCQ Questions</vt:lpstr>
      <vt:lpstr>Sample MCQ Questions</vt:lpstr>
      <vt:lpstr>Sample MCQ Questions</vt:lpstr>
      <vt:lpstr>Sample MCQ Questions</vt:lpstr>
      <vt:lpstr>Sample MCQ Questions</vt:lpstr>
      <vt:lpstr>Sample MCQ Questions</vt:lpstr>
      <vt:lpstr>Sample MCQ Questions</vt:lpstr>
      <vt:lpstr>Generate a Manus AI/Base44 Application to streamline the workflow below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1</cp:revision>
  <dcterms:created xsi:type="dcterms:W3CDTF">2026-10-01T00:34:59Z</dcterms:created>
  <dcterms:modified xsi:type="dcterms:W3CDTF">2026-10-01T03:10:35Z</dcterms:modified>
</cp:coreProperties>
</file>
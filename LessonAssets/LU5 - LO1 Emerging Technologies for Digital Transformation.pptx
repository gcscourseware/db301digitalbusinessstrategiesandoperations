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lus Jakarta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.fntdata"/><Relationship Id="rId11" Type="http://schemas.openxmlformats.org/officeDocument/2006/relationships/slide" Target="slides/slide6.xml"/><Relationship Id="rId22" Type="http://schemas.openxmlformats.org/officeDocument/2006/relationships/font" Target="fonts/PlusJakartaSans-boldItalic.fntdata"/><Relationship Id="rId10" Type="http://schemas.openxmlformats.org/officeDocument/2006/relationships/slide" Target="slides/slide5.xml"/><Relationship Id="rId21" Type="http://schemas.openxmlformats.org/officeDocument/2006/relationships/font" Target="fonts/PlusJakarta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lusJakartaSans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Relationship Id="rId5" Type="http://schemas.openxmlformats.org/officeDocument/2006/relationships/image" Target="../media/image3.png"/><Relationship Id="rId6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0" Type="http://schemas.openxmlformats.org/officeDocument/2006/relationships/image" Target="../media/image19.png"/><Relationship Id="rId9" Type="http://schemas.openxmlformats.org/officeDocument/2006/relationships/image" Target="../media/image25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1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34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31.png"/><Relationship Id="rId5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Relationship Id="rId4" Type="http://schemas.openxmlformats.org/officeDocument/2006/relationships/image" Target="../media/image20.png"/><Relationship Id="rId5" Type="http://schemas.openxmlformats.org/officeDocument/2006/relationships/image" Target="../media/image28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4332833"/>
            <a:ext cx="10668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62000" y="2048767"/>
            <a:ext cx="3400425" cy="285750"/>
          </a:xfrm>
          <a:prstGeom prst="roundRect">
            <a:avLst>
              <a:gd fmla="val 50000" name="adj"/>
            </a:avLst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762000" y="4332833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613820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05100" y="461382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0125" y="4613820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5125" y="4613820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762000" y="2563117"/>
            <a:ext cx="11251406" cy="56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Cloud, AI, IoT &amp; Blockchain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762000" y="3323183"/>
            <a:ext cx="6953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Understanding four core technologies driving data-driven, automated modern enterprise operations.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914400" y="2105917"/>
            <a:ext cx="31908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DIGITAL TRANSFORMATION FOUNDATIONS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1114425" y="4609058"/>
            <a:ext cx="160734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Cloud Computing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3009900" y="4609058"/>
            <a:ext cx="186928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Artificial Intelligence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5162550" y="4609058"/>
            <a:ext cx="155971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Internet of Things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7067550" y="4609058"/>
            <a:ext cx="10953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Blockchain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/>
          <p:nvPr/>
        </p:nvSpPr>
        <p:spPr>
          <a:xfrm>
            <a:off x="609600" y="2473821"/>
            <a:ext cx="2600325" cy="2939057"/>
          </a:xfrm>
          <a:prstGeom prst="roundRect">
            <a:avLst>
              <a:gd fmla="val 586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3400425" y="2473821"/>
            <a:ext cx="2600325" cy="2939057"/>
          </a:xfrm>
          <a:prstGeom prst="roundRect">
            <a:avLst>
              <a:gd fmla="val 586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6191250" y="2473821"/>
            <a:ext cx="2600325" cy="2939057"/>
          </a:xfrm>
          <a:prstGeom prst="roundRect">
            <a:avLst>
              <a:gd fmla="val 586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8982075" y="2473821"/>
            <a:ext cx="2600325" cy="2939057"/>
          </a:xfrm>
          <a:prstGeom prst="roundRect">
            <a:avLst>
              <a:gd fmla="val 586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278814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8550" y="278814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75" y="278814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20200" y="278814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2975" y="2911971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33800" y="2911971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53200" y="2911971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15450" y="2911971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609600" y="533400"/>
            <a:ext cx="110680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Executive Overview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09600" y="790575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Four Pillars at a Glance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838200" y="2778621"/>
            <a:ext cx="2238375" cy="23294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IoT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3629025" y="2778621"/>
            <a:ext cx="2238375" cy="23294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Cloud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6419850" y="2778621"/>
            <a:ext cx="2238375" cy="23294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9210675" y="2778621"/>
            <a:ext cx="2238375" cy="23294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Blockchain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847725" y="3693021"/>
            <a:ext cx="278784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COLLECT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847725" y="4093071"/>
            <a:ext cx="2219325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Captures real-world telemetry from physical objects and sensors.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3638550" y="3693021"/>
            <a:ext cx="233029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STORE &amp; PROCESS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3638550" y="4378821"/>
            <a:ext cx="2219325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Provides scalable compute infrastructure accessible anywhere.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6429375" y="3693021"/>
            <a:ext cx="233029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ANALYSE &amp; PREDICT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6429375" y="4378821"/>
            <a:ext cx="2219325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Evaluates patterns to automate workflows and intelligent decisions.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9220200" y="3693021"/>
            <a:ext cx="278784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VERIFY &amp; TRACE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9220200" y="4093071"/>
            <a:ext cx="2219325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Maintains immutable, shared digital transaction records.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/>
          <p:nvPr/>
        </p:nvSpPr>
        <p:spPr>
          <a:xfrm>
            <a:off x="609600" y="3978473"/>
            <a:ext cx="5257800" cy="13144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609600" y="3978473"/>
            <a:ext cx="38100" cy="13144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4" name="Google Shape;13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600" y="2066925"/>
            <a:ext cx="52578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2066925"/>
            <a:ext cx="52578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609600" y="533400"/>
            <a:ext cx="110680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Pillar 01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Cloud Computing: Elastic Resources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609600" y="2460277"/>
            <a:ext cx="690086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On-Demand Infrastructure Over Internet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609600" y="2927002"/>
            <a:ext cx="53530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Instead of purchasing physical servers, organisations deliver and manage computing power, databases, storage, and software through web-accessible platforms.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876300" y="4168973"/>
            <a:ext cx="625078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Traditional vs Cloud Paradigm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876300" y="4445198"/>
            <a:ext cx="48577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Traditional hardware maintenance requires high upfront capital. Cloud allows dynamic resource scaling as demand shifts.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/>
          <p:nvPr/>
        </p:nvSpPr>
        <p:spPr>
          <a:xfrm>
            <a:off x="609600" y="2686050"/>
            <a:ext cx="3505200" cy="2457450"/>
          </a:xfrm>
          <a:prstGeom prst="roundRect">
            <a:avLst>
              <a:gd fmla="val 620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4343400" y="2686050"/>
            <a:ext cx="3505200" cy="2457450"/>
          </a:xfrm>
          <a:prstGeom prst="roundRect">
            <a:avLst>
              <a:gd fmla="val 620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8077200" y="2686050"/>
            <a:ext cx="3505200" cy="2457450"/>
          </a:xfrm>
          <a:prstGeom prst="roundRect">
            <a:avLst>
              <a:gd fmla="val 620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300037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9625" y="3000375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3425" y="3000375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609600" y="533400"/>
            <a:ext cx="110680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Cloud Architecture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Benefits &amp; Enterprise Application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885825" y="3419475"/>
            <a:ext cx="387548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Dynamic Scalability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885825" y="3800475"/>
            <a:ext cx="3048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Instant capacity expansion during spike events like Black Friday sales without physical hardware upgrades.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4619625" y="3419475"/>
            <a:ext cx="387548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Cost Efficiency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4619625" y="3800475"/>
            <a:ext cx="30480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Eliminates high initial server acquisition costs and continuous on-premises infrastructure maintenance expenses.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8353425" y="3419475"/>
            <a:ext cx="38385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Global Access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8353425" y="3800475"/>
            <a:ext cx="30480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Enables remote multi-user document collaboration across Netflix streaming, Google Drive, and Microsoft 365.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066925"/>
            <a:ext cx="52578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2066925"/>
            <a:ext cx="52578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4600" y="399276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4600" y="454521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4600" y="5097660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609600" y="533400"/>
            <a:ext cx="110680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Pillar 02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Artificial Intelligence: Cognitive Automation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324600" y="2345977"/>
            <a:ext cx="58674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Simulating Human Cognitive Tasks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6324600" y="2812702"/>
            <a:ext cx="53530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enables systems to analyse massive datasets, recognise complex patterns, make predictive recommendations, and automate administrative decision workflows.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6610350" y="3864173"/>
            <a:ext cx="50673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Pattern Recognition: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Detects subtle anomalies and customer trends.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610350" y="4416623"/>
            <a:ext cx="50673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Predictive Insights: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Forecasts future demand and operational needs.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610350" y="4969073"/>
            <a:ext cx="50673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Hyper-Personalisation: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Tailors content directly to user preferences.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"/>
          <p:cNvSpPr/>
          <p:nvPr/>
        </p:nvSpPr>
        <p:spPr>
          <a:xfrm>
            <a:off x="609600" y="2686050"/>
            <a:ext cx="3505200" cy="2457450"/>
          </a:xfrm>
          <a:prstGeom prst="roundRect">
            <a:avLst>
              <a:gd fmla="val 620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4343400" y="2686050"/>
            <a:ext cx="3505200" cy="2457450"/>
          </a:xfrm>
          <a:prstGeom prst="roundRect">
            <a:avLst>
              <a:gd fmla="val 620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8077200" y="2686050"/>
            <a:ext cx="3505200" cy="2457450"/>
          </a:xfrm>
          <a:prstGeom prst="roundRect">
            <a:avLst>
              <a:gd fmla="val 620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3" name="Google Shape;18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3000375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9625" y="300037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3425" y="3000375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609600" y="533400"/>
            <a:ext cx="110680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Implementations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Real-World Industry Applications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885825" y="3419475"/>
            <a:ext cx="387548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E-Commerce &amp; Media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885825" y="3800475"/>
            <a:ext cx="3048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Personalises shopping suggestions and content feeds based on viewing habits and search queries.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4619625" y="3419475"/>
            <a:ext cx="387548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Banking Fraud Detection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4619625" y="3800475"/>
            <a:ext cx="30480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Identifies unusual transaction patterns instantly to block suspicious overseas financial activity.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8353425" y="3419475"/>
            <a:ext cx="38385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Adaptive Education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8353425" y="3800475"/>
            <a:ext cx="3048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Evaluates student performance metrics to deliver customized learning materials and support.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"/>
          <p:cNvSpPr/>
          <p:nvPr/>
        </p:nvSpPr>
        <p:spPr>
          <a:xfrm>
            <a:off x="609600" y="4083248"/>
            <a:ext cx="5257800" cy="1104900"/>
          </a:xfrm>
          <a:prstGeom prst="roundRect">
            <a:avLst>
              <a:gd fmla="val 10344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9" name="Google Shape;19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600" y="2066925"/>
            <a:ext cx="52578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2066925"/>
            <a:ext cx="52578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609600" y="533400"/>
            <a:ext cx="110680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Pillar 03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Internet of Things: Physical Connectivity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609600" y="2565052"/>
            <a:ext cx="690086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Connecting Physical Assets to Networks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609600" y="3031777"/>
            <a:ext cx="53530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Physical objects embedded with sensors, software, and network capability gather real-time telemetry from the environment without manual human intervention.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847725" y="4283273"/>
            <a:ext cx="59769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IoT Execution Pipeline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847725" y="4540448"/>
            <a:ext cx="48768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Physical Object → Sensor → Network → Data → Automated Action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"/>
          <p:cNvSpPr/>
          <p:nvPr/>
        </p:nvSpPr>
        <p:spPr>
          <a:xfrm>
            <a:off x="609600" y="2686050"/>
            <a:ext cx="3505200" cy="2457450"/>
          </a:xfrm>
          <a:prstGeom prst="roundRect">
            <a:avLst>
              <a:gd fmla="val 620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4343400" y="2686050"/>
            <a:ext cx="3505200" cy="2457450"/>
          </a:xfrm>
          <a:prstGeom prst="roundRect">
            <a:avLst>
              <a:gd fmla="val 620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8077200" y="2686050"/>
            <a:ext cx="3505200" cy="2457450"/>
          </a:xfrm>
          <a:prstGeom prst="roundRect">
            <a:avLst>
              <a:gd fmla="val 620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4" name="Google Shape;21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300037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9625" y="3000375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3425" y="3000375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 txBox="1"/>
          <p:nvPr/>
        </p:nvSpPr>
        <p:spPr>
          <a:xfrm>
            <a:off x="609600" y="533400"/>
            <a:ext cx="110680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IoT Applications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Real-Time Operational Intelligence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885825" y="3419475"/>
            <a:ext cx="387548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Smart Agriculture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885825" y="3800475"/>
            <a:ext cx="3048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Soil sensors detect moisture levels at 20% and automatically trigger precision field irrigation systems.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4619625" y="3419475"/>
            <a:ext cx="387548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Cold Chain Storage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4619625" y="3800475"/>
            <a:ext cx="30480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Temperature monitors alert warehouse staff immediately if vaccine or fresh produce storage exceeds 12°C.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8353425" y="3419475"/>
            <a:ext cx="38385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Predictive Maintenance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8353425" y="3800475"/>
            <a:ext cx="30480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Vibration sensors flag machinery anomalies before catastrophic failure occurs in manufacturing plants.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"/>
          <p:cNvSpPr/>
          <p:nvPr/>
        </p:nvSpPr>
        <p:spPr>
          <a:xfrm>
            <a:off x="6324600" y="3902273"/>
            <a:ext cx="438150" cy="352425"/>
          </a:xfrm>
          <a:prstGeom prst="roundRect">
            <a:avLst>
              <a:gd fmla="val 21621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6324600" y="4711898"/>
            <a:ext cx="466725" cy="352425"/>
          </a:xfrm>
          <a:prstGeom prst="roundRect">
            <a:avLst>
              <a:gd fmla="val 21621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1" name="Google Shape;23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066925"/>
            <a:ext cx="52578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2066925"/>
            <a:ext cx="52578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609600" y="533400"/>
            <a:ext cx="110680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Pillar 04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Blockchain: Verifiable Shared Ledgers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6324600" y="2384077"/>
            <a:ext cx="58674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Tamper-Resistant Decentralised Records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6324600" y="2850802"/>
            <a:ext cx="53530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Information is recorded in sequential blocks distributed across network participants, ensuring records remain immutable once confirmed.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6457950" y="3978473"/>
            <a:ext cx="266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6457950" y="4788098"/>
            <a:ext cx="2952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6915150" y="3902273"/>
            <a:ext cx="52768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Full Traceability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6915150" y="4121348"/>
            <a:ext cx="47625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Track product origins and financial movements end-to-end.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6943725" y="4711898"/>
            <a:ext cx="52482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Smart Contracts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6943725" y="4930973"/>
            <a:ext cx="47339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Automatically release payments when delivery conditions are verified.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"/>
          <p:cNvSpPr/>
          <p:nvPr/>
        </p:nvSpPr>
        <p:spPr>
          <a:xfrm>
            <a:off x="685800" y="3238500"/>
            <a:ext cx="2590800" cy="1390650"/>
          </a:xfrm>
          <a:prstGeom prst="roundRect">
            <a:avLst>
              <a:gd fmla="val 821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3429000" y="3238500"/>
            <a:ext cx="2590800" cy="1390650"/>
          </a:xfrm>
          <a:prstGeom prst="roundRect">
            <a:avLst>
              <a:gd fmla="val 821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6172200" y="3238500"/>
            <a:ext cx="2590800" cy="1390650"/>
          </a:xfrm>
          <a:prstGeom prst="roundRect">
            <a:avLst>
              <a:gd fmla="val 821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8915400" y="3238500"/>
            <a:ext cx="2590800" cy="1390650"/>
          </a:xfrm>
          <a:prstGeom prst="roundRect">
            <a:avLst>
              <a:gd fmla="val 821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 txBox="1"/>
          <p:nvPr/>
        </p:nvSpPr>
        <p:spPr>
          <a:xfrm>
            <a:off x="609600" y="533400"/>
            <a:ext cx="110680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Supply Chain Verification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Traceability Case: Ethical Organic Coffee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876300" y="3429000"/>
            <a:ext cx="230505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STAGE 1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3619500" y="3429000"/>
            <a:ext cx="230505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STAGE 2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6362700" y="3429000"/>
            <a:ext cx="230505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STAGE 3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9105900" y="3429000"/>
            <a:ext cx="230505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STAGE 4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885825" y="3676650"/>
            <a:ext cx="287535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Farmer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885825" y="3990975"/>
            <a:ext cx="2286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Records harvest origin and organic verification.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3629025" y="3676650"/>
            <a:ext cx="287535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Processor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3629025" y="3990975"/>
            <a:ext cx="2286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Logs batch processing metrics and date stamps.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6372225" y="3676650"/>
            <a:ext cx="287535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Distributor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6372225" y="3990975"/>
            <a:ext cx="2286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Tracks shipment route and transit conditions.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9115425" y="3676650"/>
            <a:ext cx="287535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Retailer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9115425" y="3990975"/>
            <a:ext cx="2286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Verifies inventory receipt and shelf display.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"/>
          <p:cNvSpPr/>
          <p:nvPr/>
        </p:nvSpPr>
        <p:spPr>
          <a:xfrm>
            <a:off x="609600" y="2376487"/>
            <a:ext cx="10972800" cy="600075"/>
          </a:xfrm>
          <a:prstGeom prst="roundRect">
            <a:avLst>
              <a:gd fmla="val 1269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609600" y="3128962"/>
            <a:ext cx="10972800" cy="600075"/>
          </a:xfrm>
          <a:prstGeom prst="roundRect">
            <a:avLst>
              <a:gd fmla="val 1269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609600" y="3881437"/>
            <a:ext cx="10972800" cy="600075"/>
          </a:xfrm>
          <a:prstGeom prst="roundRect">
            <a:avLst>
              <a:gd fmla="val 1269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609600" y="4633912"/>
            <a:ext cx="10972800" cy="819150"/>
          </a:xfrm>
          <a:prstGeom prst="roundRect">
            <a:avLst>
              <a:gd fmla="val 930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609600" y="2376487"/>
            <a:ext cx="57150" cy="6000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609600" y="3128962"/>
            <a:ext cx="57150" cy="6000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609600" y="3881437"/>
            <a:ext cx="57150" cy="6000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609600" y="4633912"/>
            <a:ext cx="57150" cy="8191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 txBox="1"/>
          <p:nvPr/>
        </p:nvSpPr>
        <p:spPr>
          <a:xfrm>
            <a:off x="609600" y="533400"/>
            <a:ext cx="110680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Synergy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How The Four Pillars Integrate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895350" y="2566987"/>
            <a:ext cx="1428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IoT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2038350" y="2566987"/>
            <a:ext cx="10153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Collects Data: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Vehicle sensors record truck GPS, temperature, fuel rate, and mechanical metrics.</a:t>
            </a:r>
            <a:endParaRPr/>
          </a:p>
        </p:txBody>
      </p:sp>
      <p:sp>
        <p:nvSpPr>
          <p:cNvPr id="281" name="Google Shape;281;p23"/>
          <p:cNvSpPr txBox="1"/>
          <p:nvPr/>
        </p:nvSpPr>
        <p:spPr>
          <a:xfrm>
            <a:off x="895350" y="3319462"/>
            <a:ext cx="1428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Cloud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2038350" y="3319462"/>
            <a:ext cx="10153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Stores Data: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Sensor telematics stream securely into central cloud infrastructure dashboards.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895350" y="4071937"/>
            <a:ext cx="1428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AI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2038350" y="4071937"/>
            <a:ext cx="10153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Analyses Data: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Algorithms detect fuel anomalies and schedule preventive maintenance alerts.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895350" y="4824412"/>
            <a:ext cx="1238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Blockchain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2038350" y="4933950"/>
            <a:ext cx="10153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Verifies Data: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Records delivery confirmation and contract execution permanently across parties.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4"/>
          <p:cNvSpPr/>
          <p:nvPr/>
        </p:nvSpPr>
        <p:spPr>
          <a:xfrm>
            <a:off x="609600" y="2185987"/>
            <a:ext cx="5295900" cy="1038225"/>
          </a:xfrm>
          <a:prstGeom prst="roundRect">
            <a:avLst>
              <a:gd fmla="val 11009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609600" y="3376612"/>
            <a:ext cx="5295900" cy="1038225"/>
          </a:xfrm>
          <a:prstGeom prst="roundRect">
            <a:avLst>
              <a:gd fmla="val 11009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609600" y="4567237"/>
            <a:ext cx="5295900" cy="1038225"/>
          </a:xfrm>
          <a:prstGeom prst="roundRect">
            <a:avLst>
              <a:gd fmla="val 11009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4" name="Google Shape;29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2181225"/>
            <a:ext cx="52959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81225"/>
            <a:ext cx="52959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4"/>
          <p:cNvSpPr txBox="1"/>
          <p:nvPr/>
        </p:nvSpPr>
        <p:spPr>
          <a:xfrm>
            <a:off x="609600" y="533400"/>
            <a:ext cx="110680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Integrated Scenario</a:t>
            </a:r>
            <a:endParaRPr/>
          </a:p>
        </p:txBody>
      </p:sp>
      <p:sp>
        <p:nvSpPr>
          <p:cNvPr id="297" name="Google Shape;297;p24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Modern Smart Supermarket</a:t>
            </a:r>
            <a:endParaRPr/>
          </a:p>
        </p:txBody>
      </p:sp>
      <p:sp>
        <p:nvSpPr>
          <p:cNvPr id="298" name="Google Shape;298;p24"/>
          <p:cNvSpPr txBox="1"/>
          <p:nvPr/>
        </p:nvSpPr>
        <p:spPr>
          <a:xfrm>
            <a:off x="800100" y="2357437"/>
            <a:ext cx="501015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IoT + CLOUD</a:t>
            </a:r>
            <a:endParaRPr/>
          </a:p>
        </p:txBody>
      </p:sp>
      <p:sp>
        <p:nvSpPr>
          <p:cNvPr id="299" name="Google Shape;299;p24"/>
          <p:cNvSpPr txBox="1"/>
          <p:nvPr/>
        </p:nvSpPr>
        <p:spPr>
          <a:xfrm>
            <a:off x="800100" y="3548062"/>
            <a:ext cx="501015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084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PREDICTION</a:t>
            </a: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800100" y="4738687"/>
            <a:ext cx="501015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BBF2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BLOCKCHAIN TRUST</a:t>
            </a:r>
            <a:endParaRPr/>
          </a:p>
        </p:txBody>
      </p:sp>
      <p:sp>
        <p:nvSpPr>
          <p:cNvPr id="301" name="Google Shape;301;p24"/>
          <p:cNvSpPr txBox="1"/>
          <p:nvPr/>
        </p:nvSpPr>
        <p:spPr>
          <a:xfrm>
            <a:off x="809625" y="2605087"/>
            <a:ext cx="49911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Sensors monitor fridge temperature and stock levels; streams directly to management dashboard.</a:t>
            </a:r>
            <a:endParaRPr/>
          </a:p>
        </p:txBody>
      </p:sp>
      <p:sp>
        <p:nvSpPr>
          <p:cNvPr id="302" name="Google Shape;302;p24"/>
          <p:cNvSpPr txBox="1"/>
          <p:nvPr/>
        </p:nvSpPr>
        <p:spPr>
          <a:xfrm>
            <a:off x="809625" y="3795712"/>
            <a:ext cx="49911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Predicts 30% weekend demand surges for stock items and automates reordering.</a:t>
            </a:r>
            <a:endParaRPr/>
          </a:p>
        </p:txBody>
      </p:sp>
      <p:sp>
        <p:nvSpPr>
          <p:cNvPr id="303" name="Google Shape;303;p24"/>
          <p:cNvSpPr txBox="1"/>
          <p:nvPr/>
        </p:nvSpPr>
        <p:spPr>
          <a:xfrm>
            <a:off x="809625" y="4986337"/>
            <a:ext cx="49911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Customers scan product tags to verify farm-to-shelf organic supply chain history.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5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5"/>
          <p:cNvSpPr/>
          <p:nvPr/>
        </p:nvSpPr>
        <p:spPr>
          <a:xfrm>
            <a:off x="571500" y="16287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/>
          <p:cNvSpPr/>
          <p:nvPr/>
        </p:nvSpPr>
        <p:spPr>
          <a:xfrm>
            <a:off x="571500" y="24003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5"/>
          <p:cNvSpPr/>
          <p:nvPr/>
        </p:nvSpPr>
        <p:spPr>
          <a:xfrm>
            <a:off x="571500" y="31718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5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5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5"/>
          <p:cNvSpPr/>
          <p:nvPr/>
        </p:nvSpPr>
        <p:spPr>
          <a:xfrm>
            <a:off x="571500" y="2390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5"/>
          <p:cNvSpPr/>
          <p:nvPr/>
        </p:nvSpPr>
        <p:spPr>
          <a:xfrm>
            <a:off x="571500" y="2390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5"/>
          <p:cNvSpPr/>
          <p:nvPr/>
        </p:nvSpPr>
        <p:spPr>
          <a:xfrm>
            <a:off x="571500" y="3162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5"/>
          <p:cNvSpPr/>
          <p:nvPr/>
        </p:nvSpPr>
        <p:spPr>
          <a:xfrm>
            <a:off x="571500" y="3162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571500" y="3933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5"/>
          <p:cNvSpPr/>
          <p:nvPr/>
        </p:nvSpPr>
        <p:spPr>
          <a:xfrm>
            <a:off x="571500" y="3933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0" name="Google Shape;32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00012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7165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4317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1470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862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5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  <p:sp>
        <p:nvSpPr>
          <p:cNvPr id="326" name="Google Shape;326;p25"/>
          <p:cNvSpPr txBox="1"/>
          <p:nvPr/>
        </p:nvSpPr>
        <p:spPr>
          <a:xfrm>
            <a:off x="1666875" y="1038225"/>
            <a:ext cx="482203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https://www.itaf.eu/wp-content/uploads/2021/08/Picture3.png</a:t>
            </a:r>
            <a:endParaRPr/>
          </a:p>
        </p:txBody>
      </p:sp>
      <p:sp>
        <p:nvSpPr>
          <p:cNvPr id="327" name="Google Shape;327;p25"/>
          <p:cNvSpPr txBox="1"/>
          <p:nvPr/>
        </p:nvSpPr>
        <p:spPr>
          <a:xfrm>
            <a:off x="1666875" y="1238250"/>
            <a:ext cx="18335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www.itaf.eu</a:t>
            </a:r>
            <a:endParaRPr/>
          </a:p>
        </p:txBody>
      </p:sp>
      <p:sp>
        <p:nvSpPr>
          <p:cNvPr id="328" name="Google Shape;328;p25"/>
          <p:cNvSpPr txBox="1"/>
          <p:nvPr/>
        </p:nvSpPr>
        <p:spPr>
          <a:xfrm>
            <a:off x="1666875" y="1809750"/>
            <a:ext cx="863203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https://flexiv.com.pk/wp-content/uploads/2026/05/The-Role-of-AI-in-Shaping-the-Future-of-SEO-in-2026.webp</a:t>
            </a:r>
            <a:endParaRPr/>
          </a:p>
        </p:txBody>
      </p:sp>
      <p:sp>
        <p:nvSpPr>
          <p:cNvPr id="329" name="Google Shape;329;p25"/>
          <p:cNvSpPr txBox="1"/>
          <p:nvPr/>
        </p:nvSpPr>
        <p:spPr>
          <a:xfrm>
            <a:off x="1666875" y="2009775"/>
            <a:ext cx="19764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flexiv.com.pk</a:t>
            </a:r>
            <a:endParaRPr/>
          </a:p>
        </p:txBody>
      </p:sp>
      <p:sp>
        <p:nvSpPr>
          <p:cNvPr id="330" name="Google Shape;330;p25"/>
          <p:cNvSpPr txBox="1"/>
          <p:nvPr/>
        </p:nvSpPr>
        <p:spPr>
          <a:xfrm>
            <a:off x="1666875" y="2581275"/>
            <a:ext cx="60721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https://www.niubol.com/static/upload/image/20251110/1762760391210487.jpeg</a:t>
            </a:r>
            <a:endParaRPr/>
          </a:p>
        </p:txBody>
      </p:sp>
      <p:sp>
        <p:nvSpPr>
          <p:cNvPr id="331" name="Google Shape;331;p25"/>
          <p:cNvSpPr txBox="1"/>
          <p:nvPr/>
        </p:nvSpPr>
        <p:spPr>
          <a:xfrm>
            <a:off x="1666875" y="2781300"/>
            <a:ext cx="2286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www.niubol.com</a:t>
            </a:r>
            <a:endParaRPr/>
          </a:p>
        </p:txBody>
      </p:sp>
      <p:sp>
        <p:nvSpPr>
          <p:cNvPr id="332" name="Google Shape;332;p25"/>
          <p:cNvSpPr txBox="1"/>
          <p:nvPr/>
        </p:nvSpPr>
        <p:spPr>
          <a:xfrm>
            <a:off x="1666875" y="3352800"/>
            <a:ext cx="6524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https://nordico.coffee/wp-content/uploads/2023/07/26249625_7174293-scaled.jpg</a:t>
            </a:r>
            <a:endParaRPr/>
          </a:p>
        </p:txBody>
      </p:sp>
      <p:sp>
        <p:nvSpPr>
          <p:cNvPr id="333" name="Google Shape;333;p25"/>
          <p:cNvSpPr txBox="1"/>
          <p:nvPr/>
        </p:nvSpPr>
        <p:spPr>
          <a:xfrm>
            <a:off x="1666875" y="3552825"/>
            <a:ext cx="21193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nordico.coffee</a:t>
            </a:r>
            <a:endParaRPr/>
          </a:p>
        </p:txBody>
      </p:sp>
      <p:sp>
        <p:nvSpPr>
          <p:cNvPr id="334" name="Google Shape;334;p25"/>
          <p:cNvSpPr txBox="1"/>
          <p:nvPr/>
        </p:nvSpPr>
        <p:spPr>
          <a:xfrm>
            <a:off x="1666875" y="4124325"/>
            <a:ext cx="515540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https://thingsboard.io/_astro/smart-retail-3.BDHkklTS_jgqRW.webp</a:t>
            </a:r>
            <a:endParaRPr/>
          </a:p>
        </p:txBody>
      </p:sp>
      <p:sp>
        <p:nvSpPr>
          <p:cNvPr id="335" name="Google Shape;335;p25"/>
          <p:cNvSpPr txBox="1"/>
          <p:nvPr/>
        </p:nvSpPr>
        <p:spPr>
          <a:xfrm>
            <a:off x="1666875" y="4324350"/>
            <a:ext cx="20716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thingsboard.io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
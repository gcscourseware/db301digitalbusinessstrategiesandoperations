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us Jakarta Sa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25A5B9-05B8-40DF-974C-ADADA8AEE6D3}">
  <a:tblStyle styleId="{6925A5B9-05B8-40DF-974C-ADADA8AEE6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85258"/>
            <a:ext cx="6096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2134641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OUTCOME 3 (LO3)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382291"/>
            <a:ext cx="9101137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Design &amp; Customer Journey Mapping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755677"/>
            <a:ext cx="6953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Connecting end-to-end customer experiences with backstage operational capabilities.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928937"/>
            <a:ext cx="5062537" cy="1918096"/>
          </a:xfrm>
          <a:prstGeom prst="roundRect">
            <a:avLst>
              <a:gd fmla="val 5959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519862" y="2928937"/>
            <a:ext cx="5062537" cy="1918096"/>
          </a:xfrm>
          <a:prstGeom prst="roundRect">
            <a:avLst>
              <a:gd fmla="val 59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0516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6937" y="375463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6087" y="320516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6312" y="33194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86575" y="331946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DEFINITIONS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Journey vs. Service Design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85825" y="3757612"/>
            <a:ext cx="5919489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Journey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4090987"/>
            <a:ext cx="4605337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the customer directly experiences across sequential interactions.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96087" y="3757612"/>
            <a:ext cx="53959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Service Design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96087" y="4090987"/>
            <a:ext cx="4605337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 the organization orchestrates internal operations to create that experience.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609600" y="3004244"/>
            <a:ext cx="2600325" cy="1767482"/>
          </a:xfrm>
          <a:prstGeom prst="roundRect">
            <a:avLst>
              <a:gd fmla="val 64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400425" y="3124200"/>
            <a:ext cx="2600325" cy="1527571"/>
          </a:xfrm>
          <a:prstGeom prst="roundRect">
            <a:avLst>
              <a:gd fmla="val 748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191250" y="3124200"/>
            <a:ext cx="2600325" cy="1527571"/>
          </a:xfrm>
          <a:prstGeom prst="roundRect">
            <a:avLst>
              <a:gd fmla="val 748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8982075" y="3124200"/>
            <a:ext cx="2600325" cy="1527571"/>
          </a:xfrm>
          <a:prstGeom prst="roundRect">
            <a:avLst>
              <a:gd fmla="val 748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312" y="3394769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0950" y="35147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5147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1650" y="351472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MAPPING ANATOMY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Components of Journey Mapping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381125" y="3280469"/>
            <a:ext cx="16478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Actions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85825" y="3775769"/>
            <a:ext cx="21431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Sequential steps performed during interaction.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171950" y="3400425"/>
            <a:ext cx="16478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Emotions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676650" y="3895725"/>
            <a:ext cx="2143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Sentiment shifts from search to review.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962775" y="3400425"/>
            <a:ext cx="16478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Pain Points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467475" y="3895725"/>
            <a:ext cx="2143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Sources of delay, confusion, or friction.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753600" y="3400425"/>
            <a:ext cx="16478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Opportunities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258300" y="3895725"/>
            <a:ext cx="21431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Targeted interventions to enhance value.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6296025" y="2075557"/>
            <a:ext cx="5286375" cy="1106685"/>
          </a:xfrm>
          <a:prstGeom prst="roundRect">
            <a:avLst>
              <a:gd fmla="val 103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296025" y="3334642"/>
            <a:ext cx="5286375" cy="1106685"/>
          </a:xfrm>
          <a:prstGeom prst="roundRect">
            <a:avLst>
              <a:gd fmla="val 103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296025" y="4593728"/>
            <a:ext cx="5286375" cy="1106685"/>
          </a:xfrm>
          <a:prstGeom prst="roundRect">
            <a:avLst>
              <a:gd fmla="val 103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78235"/>
            <a:ext cx="53054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087760"/>
            <a:ext cx="52863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REAL-WORLD APPLICATION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Mapping an Online Food Delivery Journey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72250" y="2351782"/>
            <a:ext cx="5619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Restaurant Search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72250" y="2666107"/>
            <a:ext cx="56197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Friction point: Excessive unfiltered choices.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72250" y="3610867"/>
            <a:ext cx="5619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Waiting &amp; Tracking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72250" y="3925192"/>
            <a:ext cx="56197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Critical vulnerability: Lack of real-time updates.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72250" y="4869953"/>
            <a:ext cx="5619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Delivery &amp; Review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72250" y="5184278"/>
            <a:ext cx="56197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Delight factor: Instant 1-click feedback loop.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609600" y="3002160"/>
            <a:ext cx="5334000" cy="1771650"/>
          </a:xfrm>
          <a:prstGeom prst="roundRect">
            <a:avLst>
              <a:gd fmla="val 6451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248400" y="3002160"/>
            <a:ext cx="5334000" cy="1771650"/>
          </a:xfrm>
          <a:prstGeom prst="roundRect">
            <a:avLst>
              <a:gd fmla="val 645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302198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330219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PAIN POINT OPTIMIZATION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Transforming Friction into Value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171575" y="3278385"/>
            <a:ext cx="59757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Common Friction Points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810375" y="3278385"/>
            <a:ext cx="5381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Redesign Solutions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85825" y="3668910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Silent Status:</a:t>
            </a:r>
            <a:r>
              <a:rPr b="0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Zero order notifications.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85825" y="3983235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Form Overload:</a:t>
            </a:r>
            <a:r>
              <a:rPr b="0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Excessive registration fields.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85825" y="4297560"/>
            <a:ext cx="5976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Channel Silos:</a:t>
            </a:r>
            <a:r>
              <a:rPr b="0" i="0" lang="en-US" sz="135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Repeatedly re-entering details.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524625" y="3668910"/>
            <a:ext cx="5667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Proactive Alerts:</a:t>
            </a:r>
            <a:r>
              <a:rPr b="0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 Automated stage notifications.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524625" y="3983235"/>
            <a:ext cx="5667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Simplified Checkout:</a:t>
            </a:r>
            <a:r>
              <a:rPr b="0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 Single-click validation.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24625" y="4297560"/>
            <a:ext cx="5667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Unified Profiles:</a:t>
            </a:r>
            <a:r>
              <a:rPr b="0" i="0" lang="en-US" sz="135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 Real-time data sync.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5041" y="2173485"/>
            <a:ext cx="5777358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PERCEPTION DRIVERS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 Moments of Truth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94" y="2935485"/>
            <a:ext cx="601805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94" y="4116585"/>
            <a:ext cx="601805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High-Impact Interaction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794" y="4440435"/>
            <a:ext cx="60180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Single moments that radically alter overall brand perception.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/>
          <p:nvPr/>
        </p:nvSpPr>
        <p:spPr>
          <a:xfrm>
            <a:off x="609600" y="2928937"/>
            <a:ext cx="3505200" cy="1918096"/>
          </a:xfrm>
          <a:prstGeom prst="roundRect">
            <a:avLst>
              <a:gd fmla="val 59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343400" y="2928937"/>
            <a:ext cx="3505200" cy="1918096"/>
          </a:xfrm>
          <a:prstGeom prst="roundRect">
            <a:avLst>
              <a:gd fmla="val 59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8077200" y="2928937"/>
            <a:ext cx="3505200" cy="1918096"/>
          </a:xfrm>
          <a:prstGeom prst="roundRect">
            <a:avLst>
              <a:gd fmla="val 59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0516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20516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20516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331946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33194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7725" y="33194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INTERACTION CHANNELS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Touchpoint Classification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85825" y="3757612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85825" y="4090987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Mobile applications, websites, live chat, self-service portals.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619625" y="3757612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619625" y="4090987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Retail counters, product packaging, store environments.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353425" y="3757612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Human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353425" y="4090987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representatives, sales agents, field technicians.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/>
          <p:nvPr/>
        </p:nvSpPr>
        <p:spPr>
          <a:xfrm>
            <a:off x="609600" y="2427089"/>
            <a:ext cx="5295900" cy="1365646"/>
          </a:xfrm>
          <a:prstGeom prst="roundRect">
            <a:avLst>
              <a:gd fmla="val 836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09600" y="3983235"/>
            <a:ext cx="5295900" cy="1365646"/>
          </a:xfrm>
          <a:prstGeom prst="roundRect">
            <a:avLst>
              <a:gd fmla="val 8369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173485"/>
            <a:ext cx="52959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CHANNEL INTEGRATION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Multichannel vs. Omnichannel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85825" y="2703314"/>
            <a:ext cx="622577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Multichannel = Disconnected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85825" y="3036689"/>
            <a:ext cx="48387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Multiple channels operating in independent functional silos.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85825" y="4259460"/>
            <a:ext cx="622577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Omnichannel = Connected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85825" y="4592835"/>
            <a:ext cx="48387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Unified backend real-time data shared seamlessly across channels.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547693" y="2370832"/>
            <a:ext cx="5034706" cy="1106685"/>
          </a:xfrm>
          <a:prstGeom prst="roundRect">
            <a:avLst>
              <a:gd fmla="val 103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547693" y="4058542"/>
            <a:ext cx="5034706" cy="1346596"/>
          </a:xfrm>
          <a:prstGeom prst="roundRect">
            <a:avLst>
              <a:gd fmla="val 8488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6547693" y="3668017"/>
            <a:ext cx="503470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78235"/>
            <a:ext cx="5557093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087760"/>
            <a:ext cx="5538043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3918" y="267086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3918" y="435858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ARCHITECTURE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Frontstage vs. Backstage Blueprinting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928224" y="3706117"/>
            <a:ext cx="627364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LINE OF VISIBILITY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109668" y="2647057"/>
            <a:ext cx="50823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Frontstage (Visible)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823918" y="2961382"/>
            <a:ext cx="5368081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Kiosks, mobile UI, customer service staff interaction.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090618" y="4334767"/>
            <a:ext cx="51013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Backstage (Invisible)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823918" y="4649092"/>
            <a:ext cx="4577506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Inventory databases, kitchen prep systems, driver routing.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/>
          <p:nvPr/>
        </p:nvSpPr>
        <p:spPr>
          <a:xfrm>
            <a:off x="609600" y="2530673"/>
            <a:ext cx="10972800" cy="27146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609600" y="25306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{6925A5B9-05B8-40DF-974C-ADADA8AEE6D3}</a:tableStyleId>
              </a:tblPr>
              <a:tblGrid>
                <a:gridCol w="3288950"/>
                <a:gridCol w="3837075"/>
                <a:gridCol w="3837225"/>
              </a:tblGrid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Symptom Stage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Perception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Backstage Root Cause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Food Delivery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"App says ready, but I'm waiting."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status triggers unlinked to kitchen systems.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Hotel Check-In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"Room unavailable at 2 PM."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Housekeeping app disconnected from PMS status.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Retail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"Stock listed online missing in store."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Batch inventory updates instead of real-time sync.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DIAGNOSTIC ANALYSIS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Uncovering Hidden Root Causes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/>
          <p:nvPr/>
        </p:nvSpPr>
        <p:spPr>
          <a:xfrm>
            <a:off x="609600" y="3083123"/>
            <a:ext cx="2421731" cy="1609725"/>
          </a:xfrm>
          <a:prstGeom prst="roundRect">
            <a:avLst>
              <a:gd fmla="val 71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459956" y="3178373"/>
            <a:ext cx="2421731" cy="1419225"/>
          </a:xfrm>
          <a:prstGeom prst="roundRect">
            <a:avLst>
              <a:gd fmla="val 80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6310312" y="3083123"/>
            <a:ext cx="2421731" cy="1609725"/>
          </a:xfrm>
          <a:prstGeom prst="roundRect">
            <a:avLst>
              <a:gd fmla="val 71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9160668" y="3178373"/>
            <a:ext cx="2421731" cy="1419225"/>
          </a:xfrm>
          <a:prstGeom prst="roundRect">
            <a:avLst>
              <a:gd fmla="val 8053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09600" y="4683323"/>
            <a:ext cx="2421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609600" y="3083123"/>
            <a:ext cx="2421731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09600" y="3083123"/>
            <a:ext cx="9525" cy="1609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021806" y="3083123"/>
            <a:ext cx="9525" cy="1609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3459956" y="4588073"/>
            <a:ext cx="2421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459956" y="3178373"/>
            <a:ext cx="2421731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3459956" y="3178373"/>
            <a:ext cx="9525" cy="1419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872162" y="3178373"/>
            <a:ext cx="9525" cy="1419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6310312" y="4683323"/>
            <a:ext cx="2421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310312" y="3083123"/>
            <a:ext cx="2421731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6310312" y="3083123"/>
            <a:ext cx="9525" cy="1609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8722518" y="3083123"/>
            <a:ext cx="9525" cy="16097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9160668" y="4588073"/>
            <a:ext cx="2421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160668" y="3178373"/>
            <a:ext cx="2421731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9160668" y="3178373"/>
            <a:ext cx="9525" cy="1419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11572875" y="3178373"/>
            <a:ext cx="9525" cy="1419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3731" y="379273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4087" y="379273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4443" y="3792735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 FRAMEWORK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Service Improvement Formula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52164" y="3387923"/>
            <a:ext cx="23366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93749" y="3740348"/>
            <a:ext cx="24534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JOURNEY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52164" y="4035623"/>
            <a:ext cx="233660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 end-to-end customer actions.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3502521" y="3483173"/>
            <a:ext cx="23366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3444106" y="3835598"/>
            <a:ext cx="24534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BLUEPRINT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3502521" y="4130873"/>
            <a:ext cx="233660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 internal operations.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352877" y="3387923"/>
            <a:ext cx="23366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294462" y="3740348"/>
            <a:ext cx="24534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TOUCHPOINT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352877" y="4035623"/>
            <a:ext cx="233660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Connect omni-channel nodes.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9203233" y="3483173"/>
            <a:ext cx="23366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9144818" y="3835598"/>
            <a:ext cx="24534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IMPROVE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203233" y="4130873"/>
            <a:ext cx="233660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Eliminate friction points.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3919537" y="4346227"/>
            <a:ext cx="4352925" cy="52387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862" y="452720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4851796" y="1987897"/>
            <a:ext cx="2488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SUMMARY &amp; CONCLUSION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095375" y="2235547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Seamless Frontstage Starts with Integrated Backstage Systems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2524125" y="3469927"/>
            <a:ext cx="7143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Mastering LO3 requires evaluating both the emotional customer path and operational backstage workflows.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3680221" y="4498627"/>
            <a:ext cx="48315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 Q&amp;A / Classroom Case Study Discussion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/>
          <p:nvPr/>
        </p:nvSpPr>
        <p:spPr>
          <a:xfrm>
            <a:off x="1181100" y="1699170"/>
            <a:ext cx="9829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1181100" y="2470695"/>
            <a:ext cx="9829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1181100" y="3308895"/>
            <a:ext cx="9829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1181100" y="24611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181100" y="24611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1181100" y="32993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1181100" y="32993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1181100" y="407089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1181100" y="4070895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184204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100" y="264690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345177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1100" y="42232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181100" y="1028700"/>
            <a:ext cx="2912864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2276475" y="1884908"/>
            <a:ext cx="71318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https://media.nngroup.com/media/editor/2020/02/24/carjourneymap-4highfrictiontransitions.jpg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2276475" y="2084933"/>
            <a:ext cx="24645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www.nngroup.com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2276475" y="2613570"/>
            <a:ext cx="8829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https://cdn.prod.website-files.com/63613a90d07eba0c29ca25cf/69fca9b5b94bd43520c34774_man-tourist-carrying-baggage-lobby-entering-hotel-reception-.jpg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2276475" y="2965995"/>
            <a:ext cx="24645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www.bookboost.io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2276475" y="3494633"/>
            <a:ext cx="600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https://www.univio.com/wp-content/uploads/2024/01/customer_lifecycle_EN.svg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2276475" y="3694658"/>
            <a:ext cx="22502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www.univio.com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2276475" y="4266158"/>
            <a:ext cx="7762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https://slidemodel.com/wp-content/uploads/21359-01-service-blueprint-powerpoint-template-16x9-1.jpg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2276475" y="4466183"/>
            <a:ext cx="21788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slidemodel.com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
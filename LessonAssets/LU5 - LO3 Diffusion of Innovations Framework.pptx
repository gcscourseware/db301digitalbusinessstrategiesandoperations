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1805D3-DDBC-47D6-BD2A-BB1802D471D1}">
  <a:tblStyle styleId="{B91805D3-DDBC-47D6-BD2A-BB1802D471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2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837658"/>
            <a:ext cx="762000" cy="38100"/>
          </a:xfrm>
          <a:prstGeom prst="roundRect">
            <a:avLst>
              <a:gd fmla="val 50000" name="adj"/>
            </a:avLst>
          </a:prstGeom>
          <a:solidFill>
            <a:srgbClr val="5DA5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34629"/>
            <a:ext cx="95250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72766"/>
            <a:ext cx="8601075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Diffusion of Innovations &amp; Technology Adoption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28008"/>
            <a:ext cx="695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Bridging the gap from visionary experimentation to mainstream market adoption.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71550" y="1982241"/>
            <a:ext cx="3226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EVERETT ROGERS FRAMEWORK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4895850"/>
            <a:ext cx="10972800" cy="590550"/>
          </a:xfrm>
          <a:prstGeom prst="roundRect">
            <a:avLst>
              <a:gd fmla="val 1935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714750"/>
            <a:ext cx="7905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3028950"/>
            <a:ext cx="1325463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0438" y="2581275"/>
            <a:ext cx="3338214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1053" y="2581275"/>
            <a:ext cx="3338214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1667" y="3486150"/>
            <a:ext cx="157088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9162" y="3905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29581" y="354330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66195" y="33004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56810" y="33004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496" y="37909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SEGMENTATION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5 Adopter Groups Across the Adoption Curve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3925" y="5100637"/>
            <a:ext cx="1547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ADOPTION FLOW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10350" y="5095875"/>
            <a:ext cx="558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Experiment → Influence → Validate → Mainstream → Traditional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85812" y="3438525"/>
            <a:ext cx="723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2.5%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09600" y="4400550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Innovators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953369" y="2752725"/>
            <a:ext cx="809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13.5%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672381" y="4400550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Adopters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499520" y="2305050"/>
            <a:ext cx="68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34%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199483" y="4400550"/>
            <a:ext cx="1285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Majority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990135" y="2305050"/>
            <a:ext cx="68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34%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713910" y="440055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Late Majority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616058" y="3209925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16%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454133" y="4400550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Laggards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2733675"/>
            <a:ext cx="5334000" cy="2324100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248400" y="2733675"/>
            <a:ext cx="5334000" cy="2324100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972050" y="3090862"/>
            <a:ext cx="619125" cy="276225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0553700" y="3090862"/>
            <a:ext cx="676275" cy="276225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39243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4229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4533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39243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4229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45339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PIONEER SEGMENTS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Innovators vs. Early Adopters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62025" y="35623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Driven by Curiosity &amp; Experimentation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00825" y="356235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Driven by Strategic Advantage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62025" y="3086100"/>
            <a:ext cx="15751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Innovators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105400" y="3148012"/>
            <a:ext cx="447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2.5%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62025" y="39052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Tolerance: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 willingness to test unproven tech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62025" y="42100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Tech Status: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Expensive, complicated, unproven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62025" y="45148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Question: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"What can this new technology do?"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600825" y="3086100"/>
            <a:ext cx="2150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Adopters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687050" y="3148012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13.5%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00825" y="390525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Strategic Focus: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Seeking competitive edge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00825" y="421005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Opinion leaders and benchmark references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600825" y="451485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Question: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"Can this give us an advantage?"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609600" y="4352925"/>
            <a:ext cx="10972800" cy="8286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09600" y="2571750"/>
            <a:ext cx="4305300" cy="1514475"/>
          </a:xfrm>
          <a:prstGeom prst="roundRect">
            <a:avLst>
              <a:gd fmla="val 7547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143500" y="2571750"/>
            <a:ext cx="1905000" cy="1514475"/>
          </a:xfrm>
          <a:prstGeom prst="roundRect">
            <a:avLst>
              <a:gd fmla="val 75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277100" y="2571750"/>
            <a:ext cx="4305300" cy="1514475"/>
          </a:xfrm>
          <a:prstGeom prst="roundRect">
            <a:avLst>
              <a:gd fmla="val 7547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9600" y="4352925"/>
            <a:ext cx="38100" cy="8286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9479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TRANSITION POINT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Chasm: Moving from Visionaries to Mainstream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14400" y="4543425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Crossing Key Requirement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14400" y="48006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 positioning from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"Look at our innovative technology!"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"Here is a proven, turn-key business solution."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85825" y="2847975"/>
            <a:ext cx="4691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EARLY ADOPTERS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85825" y="3086100"/>
            <a:ext cx="49256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Visionary Focus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85825" y="3429000"/>
            <a:ext cx="3848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"This technology is innovative. Let's experiment and disrupt."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438775" y="3328987"/>
            <a:ext cx="131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CHASM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510212" y="3567112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Expectation Gap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553325" y="2847975"/>
            <a:ext cx="4638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EARLY MAJORITY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553325" y="3086100"/>
            <a:ext cx="4638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Pragmatic Focus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553325" y="3429000"/>
            <a:ext cx="3848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"Show me proven ROI, predictable risk, and full integration."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2733675"/>
            <a:ext cx="5334000" cy="2324100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248400" y="2638425"/>
            <a:ext cx="5334000" cy="2514600"/>
          </a:xfrm>
          <a:prstGeom prst="roundRect">
            <a:avLst>
              <a:gd fmla="val 60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019675" y="3090862"/>
            <a:ext cx="571500" cy="276225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0658475" y="2995612"/>
            <a:ext cx="571500" cy="276225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39243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4229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4533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38290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4324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4629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MAINSTREAM MARKET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Majority vs. Late Majority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62025" y="35623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Pragmatists Demanding Proof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600825" y="346710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Conservatives Following Standards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62025" y="3086100"/>
            <a:ext cx="19627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Majority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153025" y="3148012"/>
            <a:ext cx="400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34%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62025" y="39052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Adoption Trigger: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case studies, reviews &amp; ROI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962025" y="42100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Profile: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Wants manageable risk and reliable support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962025" y="4514850"/>
            <a:ext cx="578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Question: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"Does it work, and is it worth it?"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600825" y="2990850"/>
            <a:ext cx="19002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 Majority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0791825" y="3052762"/>
            <a:ext cx="400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34%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600825" y="38100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Adoption Trigger: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Industry saturation &amp; customer expectation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600825" y="430530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Motivation: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Fear of falling behind or operational necessity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600825" y="4610100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Question: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"Is everyone else using this now?"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609600" y="1390650"/>
            <a:ext cx="4795837" cy="5010150"/>
          </a:xfrm>
          <a:prstGeom prst="roundRect">
            <a:avLst>
              <a:gd fmla="val 31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748337" y="1390650"/>
            <a:ext cx="2840831" cy="2509837"/>
          </a:xfrm>
          <a:prstGeom prst="roundRect">
            <a:avLst>
              <a:gd fmla="val 455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741568" y="1390650"/>
            <a:ext cx="2840831" cy="2509837"/>
          </a:xfrm>
          <a:prstGeom prst="roundRect">
            <a:avLst>
              <a:gd fmla="val 455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748337" y="4052887"/>
            <a:ext cx="2840831" cy="2347912"/>
          </a:xfrm>
          <a:prstGeom prst="roundRect">
            <a:avLst>
              <a:gd fmla="val 486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741568" y="4052887"/>
            <a:ext cx="2840831" cy="2347912"/>
          </a:xfrm>
          <a:prstGeom prst="roundRect">
            <a:avLst>
              <a:gd fmla="val 486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3099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TRADITIONALISTS &amp; DECISION DRIVERS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Laggards (16%) &amp; Key Drivers of Adoption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23925" y="3700462"/>
            <a:ext cx="52089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Prefer traditional methods and established processes.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923925" y="4043362"/>
            <a:ext cx="520898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Question: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23925" y="4300537"/>
            <a:ext cx="52089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"Why change something that already works?"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266825" y="3300412"/>
            <a:ext cx="207525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Laggards (16%)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5938837" y="1581150"/>
            <a:ext cx="3228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Perceived Benefit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5938837" y="1828800"/>
            <a:ext cx="25550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Clear advantage over existing solutions.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932068" y="1581150"/>
            <a:ext cx="3228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&amp; Cost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932068" y="1828800"/>
            <a:ext cx="25550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Manageable investment and low downside.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5938837" y="4243387"/>
            <a:ext cx="3228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Ease of Use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5938837" y="4491037"/>
            <a:ext cx="30747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 complexity and easy onboarding.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932068" y="4243387"/>
            <a:ext cx="3228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Social Proof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932068" y="4491037"/>
            <a:ext cx="30747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Widespread acceptance by peers.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609600" y="1876425"/>
            <a:ext cx="3505200" cy="40005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343400" y="1876425"/>
            <a:ext cx="3505200" cy="40005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077200" y="1876425"/>
            <a:ext cx="3505200" cy="40005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" y="1885950"/>
            <a:ext cx="18383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1885950"/>
            <a:ext cx="3486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6725" y="1885950"/>
            <a:ext cx="34861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REAL-WORLD APPLICATION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Trajectories Across Rogers' Curve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47725" y="3829050"/>
            <a:ext cx="39754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Generative AI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847725" y="5095875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Shifted rapidly from experimental coding tools (Innovators) to operational enterprise automation.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4581525" y="3829050"/>
            <a:ext cx="39754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Electric Vehicles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4581525" y="5095875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Transitioned from early enthusiast niche into mainstream infrastructure expansion (Early Majority).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315325" y="3829050"/>
            <a:ext cx="3876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Cloud Computing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315325" y="5095875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Evolved from early server migration trials to standard global corporate infrastructure (Late Majority).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20"/>
          <p:cNvGraphicFramePr/>
          <p:nvPr/>
        </p:nvGraphicFramePr>
        <p:xfrm>
          <a:off x="609600" y="248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{B91805D3-DDBC-47D6-BD2A-BB1802D471D1}</a:tableStyleId>
              </a:tblPr>
              <a:tblGrid>
                <a:gridCol w="2071400"/>
                <a:gridCol w="3163050"/>
                <a:gridCol w="5738375"/>
              </a:tblGrid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Motivation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Marketing Message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Innovators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Experimentation &amp; novelty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"Experiment with state-of-the-art capability."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Early Adopters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Strategic advantage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"Gain a decisive competitive edge."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Early Majority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Proven ROI &amp; 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"Reduce costs by 25% with verified solutions."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 Majority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 acceptance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"Join thousands of established industry leaders."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Laggards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Reliability &amp;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"Simple, supported transition from legacy systems."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POSITIONING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Tailoring Marketing Strategy by Segment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609600" y="3233737"/>
            <a:ext cx="207258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09600" y="323373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834580" y="3233737"/>
            <a:ext cx="207258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2834580" y="3233737"/>
            <a:ext cx="20725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059560" y="3233737"/>
            <a:ext cx="207258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059560" y="3233737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7284541" y="3233737"/>
            <a:ext cx="207258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7284541" y="3233737"/>
            <a:ext cx="20725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9509521" y="3233737"/>
            <a:ext cx="207258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381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9509521" y="3233737"/>
            <a:ext cx="207258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SCENARIO: AI LEARNING PLATFORM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Adoption Rollout at Genetic Computer School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38200" y="3462337"/>
            <a:ext cx="17106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3063180" y="3462337"/>
            <a:ext cx="17106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5288160" y="3462337"/>
            <a:ext cx="17106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513141" y="3462337"/>
            <a:ext cx="17106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738121" y="3462337"/>
            <a:ext cx="17106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5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38200" y="3767137"/>
            <a:ext cx="212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Innovators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38200" y="4043362"/>
            <a:ext cx="17106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Lecturers experiment with AI quiz generation.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3063180" y="3767137"/>
            <a:ext cx="212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Adopters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3063180" y="4043362"/>
            <a:ext cx="17106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AI into core lesson structures.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5288160" y="3767137"/>
            <a:ext cx="212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Majority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5288160" y="4043362"/>
            <a:ext cx="17106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Adopt after student satisfaction proof.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7513141" y="3767137"/>
            <a:ext cx="212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Late Majority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513141" y="4043362"/>
            <a:ext cx="17106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Adopt when integrated into standard policy.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9738121" y="3767137"/>
            <a:ext cx="212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Laggards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9738121" y="4043362"/>
            <a:ext cx="17106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Switch when old tools sunset.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4324350" y="4346227"/>
            <a:ext cx="3543300" cy="600075"/>
          </a:xfrm>
          <a:prstGeom prst="roundRect">
            <a:avLst>
              <a:gd fmla="val 47619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899421" y="1911697"/>
            <a:ext cx="23931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TAKEAWAYS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95375" y="2235547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Adoption is about human behavior, not just good technology.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2286000" y="3508027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 your audience stage, address their specific evidence needs, and build the right proof points to cross the chasm.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4262437" y="4536727"/>
            <a:ext cx="3667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 &amp; Strategic Discussion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666875" y="1033462"/>
            <a:ext cx="7596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https://ecommercenews.com.au/uploads/story/2023/11/30/img-DoW9ZGAYAHmP8UVXD7iDzmt9.webp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666875" y="1233487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ecommercenews.com.au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666875" y="1804987"/>
            <a:ext cx="7215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https://deyeess.com/wp-content/uploads/2026/06/battery-storage-for-ev-charging-station.webp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666875" y="2005012"/>
            <a:ext cx="19407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deyeess.com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666875" y="2576512"/>
            <a:ext cx="37266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https://ipgs.net/assets/banner-blog1-BhibjXO8.jpg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666875" y="2776537"/>
            <a:ext cx="1464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ipgs.net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
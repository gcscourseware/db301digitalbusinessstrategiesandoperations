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  <p:embeddedFont>
      <p:font typeface="Plus Jakarta Sans" panose="020B0604020202020204" charset="0"/>
      <p:regular r:id="rId24"/>
      <p:bold r:id="rId25"/>
      <p:italic r:id="rId26"/>
      <p:boldItalic r:id="rId27"/>
    </p:embeddedFont>
    <p:embeddedFont>
      <p:font typeface="Plus Jakarta Sans ExtraBold" panose="020B0604020202020204" charset="0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21.png"/><Relationship Id="rId1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49.png"/><Relationship Id="rId5" Type="http://schemas.openxmlformats.org/officeDocument/2006/relationships/image" Target="../media/image32.png"/><Relationship Id="rId15" Type="http://schemas.openxmlformats.org/officeDocument/2006/relationships/image" Target="../media/image52.png"/><Relationship Id="rId10" Type="http://schemas.openxmlformats.org/officeDocument/2006/relationships/image" Target="../media/image48.png"/><Relationship Id="rId4" Type="http://schemas.openxmlformats.org/officeDocument/2006/relationships/image" Target="../media/image31.png"/><Relationship Id="rId9" Type="http://schemas.openxmlformats.org/officeDocument/2006/relationships/image" Target="../media/image47.png"/><Relationship Id="rId1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57.png"/><Relationship Id="rId5" Type="http://schemas.openxmlformats.org/officeDocument/2006/relationships/image" Target="../media/image32.png"/><Relationship Id="rId15" Type="http://schemas.openxmlformats.org/officeDocument/2006/relationships/image" Target="../media/image60.png"/><Relationship Id="rId10" Type="http://schemas.openxmlformats.org/officeDocument/2006/relationships/image" Target="../media/image56.png"/><Relationship Id="rId4" Type="http://schemas.openxmlformats.org/officeDocument/2006/relationships/image" Target="../media/image31.png"/><Relationship Id="rId9" Type="http://schemas.openxmlformats.org/officeDocument/2006/relationships/image" Target="../media/image55.png"/><Relationship Id="rId1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96382" y="0"/>
            <a:ext cx="12537713" cy="692243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73906" y="1694557"/>
            <a:ext cx="9501187" cy="118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LU3: Digital Business Models &amp; Ecosystems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714500" y="3067942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7D2FE"/>
                </a:solidFill>
                <a:latin typeface="Inter"/>
                <a:ea typeface="Inter"/>
                <a:cs typeface="Inter"/>
                <a:sym typeface="Inter"/>
              </a:rPr>
              <a:t>Architecting Platform Multi-Sided Dynamics, SaaS Funnels, API Ecosystems, and Enterprise Business Transformation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A7D10-7A40-F809-A2B0-9DE586BCE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3716" y="4226359"/>
            <a:ext cx="5448580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3748"/>
            <a:ext cx="5429250" cy="1124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603748"/>
            <a:ext cx="5429250" cy="1124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18495"/>
            <a:ext cx="5429250" cy="1124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918495"/>
            <a:ext cx="5429250" cy="1124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39387" y="533400"/>
            <a:ext cx="1281112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123950" y="2822823"/>
            <a:ext cx="489061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LO1: Multi-Sided Platforms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28675" y="3108573"/>
            <a:ext cx="4953000" cy="400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Analyze multi-sided platform architecture and two-sided market dynamics in businesses such as Uber, Airbnb, and Amazon.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05600" y="2822823"/>
            <a:ext cx="493061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LO2: Recurring Revenue Structures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48425" y="3108573"/>
            <a:ext cx="4953000" cy="400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 recurring revenue structures including SaaS subscription tiers, freemium conversion funnels, and retention mechanics.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04900" y="4137570"/>
            <a:ext cx="491061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LO3: API-Driven Partner Networks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28675" y="4423320"/>
            <a:ext cx="4953000" cy="400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 API-driven partner networks and platform ecosystems that enable cross-industry co-creation of value.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05600" y="4137570"/>
            <a:ext cx="493061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LO4: Business Model Transformation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448425" y="4423320"/>
            <a:ext cx="4953000" cy="400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Compare strategic paths between digital-native startups and legacy enterprises undergoing business model transformation.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8675" y="2846635"/>
            <a:ext cx="2000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48425" y="284663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8675" y="4161383"/>
            <a:ext cx="1809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48425" y="4161383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571500" y="476250"/>
            <a:ext cx="11601450" cy="4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Overall Unit Learning Outcomes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71500" y="100771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1350" y="533400"/>
            <a:ext cx="819150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76300" y="1834604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Two-Sided Market Mechanics: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Connecting distinct user groups (buyers &amp; sellers, drivers &amp; riders) to facilitate direct value exchange.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6300" y="2828925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Network Effects: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Harnessing positive feedback loops where increased participation on one side directly drives value for the other.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76300" y="3823245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Platform Orchestration: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Lowering transaction friction via match-making algorithms, automated pricing, and digital trust mechanics.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76300" y="4817566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Market Champions: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Industry benchmarks including Uber (mobility), Airbnb (hospitality), and Amazon Marketplace (e-commerce).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476250"/>
            <a:ext cx="11601450" cy="4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LO1: Multi-Sided Platform Architecture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00771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365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79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422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3661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6EC100-2DE1-3649-3FC7-F4E5DB224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380" y="2046634"/>
            <a:ext cx="5880806" cy="32103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8308"/>
            <a:ext cx="35242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18308"/>
            <a:ext cx="35242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418308"/>
            <a:ext cx="35242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4628108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1525" y="4628108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3900" y="4628108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20275" y="533400"/>
            <a:ext cx="180022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2713583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819150" y="3418433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Platform Mapping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19150" y="3770858"/>
            <a:ext cx="3028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Select a legacy business and map out a proposed two-sided marketplace architecture identifying primary producers and consumers.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81525" y="2713583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4581525" y="3418433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Network Effect Audit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581525" y="3770858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Identify positive and negative direct/indirect network loops. Formulate rules to solve the chicken-and-egg cold start problem.</a:t>
            </a:r>
            <a:endParaRPr/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43900" y="2713583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8343900" y="3418433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Cohort Debrief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343900" y="3770858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 platform monetization mechanics (take-rates, listing fees, premium matching) to the class for peer evaluation.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8212" y="2846933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19150" y="4780508"/>
            <a:ext cx="942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Group Breakout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390900" y="478050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Mins</a:t>
            </a:r>
            <a:endParaRPr/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14875" y="2846933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4581525" y="4780508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Analysis &amp; Design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162800" y="4780508"/>
            <a:ext cx="447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 Mins</a:t>
            </a:r>
            <a:endParaRPr/>
          </a:p>
        </p:txBody>
      </p:sp>
      <p:pic>
        <p:nvPicPr>
          <p:cNvPr id="161" name="Google Shape;161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77250" y="2846933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8343900" y="4780508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Presentation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0915650" y="478050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Mins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571500" y="476250"/>
            <a:ext cx="11601450" cy="4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LO1 Activity: Platform Dynamics Workshop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571500" y="100771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1350" y="533400"/>
            <a:ext cx="819150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876300" y="1971823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SaaS Subscription Tiers: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Structuring feature-gated plans (Basic, Pro, Enterprise) aligned with value metrics and customer willingness to pay.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76300" y="2966144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Freemium Conversion Funnels: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Designing frictionless onboarding triggers that convert free tier users into paying subscribers.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76300" y="3960465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Retention &amp; Unit Economics: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Optimizing Customer Acquisition Cost (CAC), Lifetime Value (LTV), and minimizing net revenue churn.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76300" y="4954785"/>
            <a:ext cx="5029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Expansion Revenue: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Leveraging usage-based add-ons and seat upgrades to achieve negative net churn growth.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571500" y="476250"/>
            <a:ext cx="11601450" cy="4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LO2: Recurring Revenue Structures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71500" y="100771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9087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8519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7951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738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DD8F07-C666-83FF-A388-EC1CA3F5DF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106110"/>
            <a:ext cx="6031729" cy="3365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5464"/>
            <a:ext cx="35242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525464"/>
            <a:ext cx="35242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525464"/>
            <a:ext cx="35242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4520951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1525" y="4520951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3900" y="4520951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86925" y="533400"/>
            <a:ext cx="19335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2820739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819150" y="3525589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Tier Architecture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819150" y="3878014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Design a 3-tier subscription pricing matrix for a B2B SaaS startup, defining value metrics and feature gates.</a:t>
            </a:r>
            <a:endParaRPr/>
          </a:p>
        </p:txBody>
      </p:sp>
      <p:pic>
        <p:nvPicPr>
          <p:cNvPr id="199" name="Google Shape;199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81525" y="2820739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4581525" y="3525589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Funnel Audit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4581525" y="3878014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Analyze a simulated low-conversion freemium funnel and propose targeted product-led growth (PLG) interventions.</a:t>
            </a:r>
            <a:endParaRPr/>
          </a:p>
        </p:txBody>
      </p:sp>
      <p:pic>
        <p:nvPicPr>
          <p:cNvPr id="202" name="Google Shape;202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43900" y="2820739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8343900" y="3525589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Retention Pitch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343900" y="3878014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Calculate LTV/CAC ratios and pitch a customer retention playbook aimed at reducing annual user churn by 5%.</a:t>
            </a:r>
            <a:endParaRPr/>
          </a:p>
        </p:txBody>
      </p:sp>
      <p:pic>
        <p:nvPicPr>
          <p:cNvPr id="205" name="Google Shape;205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52500" y="2954089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819150" y="4673351"/>
            <a:ext cx="876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Matrix Drafting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3400425" y="4673351"/>
            <a:ext cx="447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 Mins</a:t>
            </a:r>
            <a:endParaRPr/>
          </a:p>
        </p:txBody>
      </p:sp>
      <p:pic>
        <p:nvPicPr>
          <p:cNvPr id="208" name="Google Shape;208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00587" y="2954089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4581525" y="4673351"/>
            <a:ext cx="828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Case Analysis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7162800" y="4673351"/>
            <a:ext cx="447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13 Mins</a:t>
            </a:r>
            <a:endParaRPr/>
          </a:p>
        </p:txBody>
      </p:sp>
      <p:pic>
        <p:nvPicPr>
          <p:cNvPr id="211" name="Google Shape;211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62962" y="2954089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8343900" y="4673351"/>
            <a:ext cx="10382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Pitch &amp; Feedback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10915650" y="4673351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Mins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571500" y="476250"/>
            <a:ext cx="11601450" cy="4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LO2 Activity: SaaS Funnel &amp; Pricing Lab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71500" y="100771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2637"/>
            <a:ext cx="110490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1143000" y="2624137"/>
            <a:ext cx="104013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15-Minute Intermission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2762250" y="3348037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Take a break, grab a refreshment, and reflect on the platform and recurring revenue strategies discussed so far.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143000" y="4043362"/>
            <a:ext cx="9906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Up Next: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API-Driven Partner Ecosystems &amp; Legacy Business Model Transformation</a:t>
            </a:r>
            <a:endParaRPr/>
          </a:p>
        </p:txBody>
      </p:sp>
      <p:pic>
        <p:nvPicPr>
          <p:cNvPr id="225" name="Google Shape;22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1350" y="533400"/>
            <a:ext cx="819150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876300" y="1971823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as a Business Model: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Exposing core capabilities (payments, logistics, data) via APIs to create modular integration hubs.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76300" y="2966144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Partner Ecosystem Networks: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Enabling third-party developers to build complementary services on top of core platform infrastructure.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76300" y="3960465"/>
            <a:ext cx="5029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Cross-Industry Co-Creation: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Facilitating collaborative value creation across banking, retail, healthcare, and telecom sectors.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876300" y="4954785"/>
            <a:ext cx="5029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Ecosystem Governance: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Balancing open access with security, data compliance, and revenue-sharing models.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571500" y="476250"/>
            <a:ext cx="11601450" cy="4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LO3: API Networks &amp; Ecosystems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571500" y="100771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9087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8519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7951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738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D31C35-E455-1163-79BF-49253B2D7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2093650"/>
            <a:ext cx="6030796" cy="32922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5464"/>
            <a:ext cx="35242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525464"/>
            <a:ext cx="35242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525464"/>
            <a:ext cx="35242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4520951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1525" y="4520951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3900" y="4520951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10750" y="533400"/>
            <a:ext cx="18097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2820739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819150" y="3525589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API Identification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819150" y="3878014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Map out core internal capabilities that can be monetized externally via open or partner-restricted APIs.</a:t>
            </a:r>
            <a:endParaRPr/>
          </a:p>
        </p:txBody>
      </p:sp>
      <p:pic>
        <p:nvPicPr>
          <p:cNvPr id="259" name="Google Shape;259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81525" y="2820739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4581525" y="3525589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Co-Creation Canvas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4581525" y="3878014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Design a cross-industry integration scenario (e.g., Fintech + Healthtech) detailing shared value streams.</a:t>
            </a:r>
            <a:endParaRPr/>
          </a:p>
        </p:txBody>
      </p:sp>
      <p:pic>
        <p:nvPicPr>
          <p:cNvPr id="262" name="Google Shape;262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43900" y="2820739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8343900" y="3525589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Ecosystem Pitch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343900" y="3878014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 API partner governance principles and monetization strategies to the peer cohort.</a:t>
            </a:r>
            <a:endParaRPr/>
          </a:p>
        </p:txBody>
      </p:sp>
      <p:pic>
        <p:nvPicPr>
          <p:cNvPr id="265" name="Google Shape;265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6787" y="2954089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819150" y="4673351"/>
            <a:ext cx="1133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Capability Mapping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3390900" y="4673351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Mins</a:t>
            </a:r>
            <a:endParaRPr/>
          </a:p>
        </p:txBody>
      </p:sp>
      <p:pic>
        <p:nvPicPr>
          <p:cNvPr id="268" name="Google Shape;268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681537" y="2954089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4581525" y="4673351"/>
            <a:ext cx="11525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Ecosystem Canvas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7162800" y="4673351"/>
            <a:ext cx="447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 Mins</a:t>
            </a:r>
            <a:endParaRPr/>
          </a:p>
        </p:txBody>
      </p:sp>
      <p:pic>
        <p:nvPicPr>
          <p:cNvPr id="271" name="Google Shape;271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77250" y="2954089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8343900" y="4673351"/>
            <a:ext cx="8858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Cohort Review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0982325" y="4673351"/>
            <a:ext cx="3905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Mins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571500" y="476250"/>
            <a:ext cx="11601450" cy="4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LO3 Activity: API Ecosystem Mapping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571500" y="100771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71500" y="476250"/>
            <a:ext cx="560070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LO4: Business Transformation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571500" y="1055340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Digital-Native vs. Legacy Enterprise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71500" y="1436340"/>
            <a:ext cx="53340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Digital-native startups operate with zero legacy tech debt, agile organizational structures, and product-led growth strategies built for cloud-scale.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571500" y="2356098"/>
            <a:ext cx="533400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contrast, legacy enterprises undergoing business model transformation face legacy IT infrastructure, cultural inertia, and channel conflict. Success requires ambidextrous innovation—optimizing the core engine while scaling new digital models.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134BA0-8465-3F27-76D6-FC8832A36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596" y="755282"/>
            <a:ext cx="5998308" cy="4000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5464"/>
            <a:ext cx="35242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525464"/>
            <a:ext cx="35242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525464"/>
            <a:ext cx="35242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4520951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1525" y="4520951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3900" y="4520951"/>
            <a:ext cx="3028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01225" y="533400"/>
            <a:ext cx="18192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2820739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819150" y="3525589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Legacy Debt Audit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819150" y="3878014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Assess a traditional enterprise's business model barriers (channel conflict, legacy systems, margin pressure).</a:t>
            </a:r>
            <a:endParaRPr/>
          </a:p>
        </p:txBody>
      </p:sp>
      <p:pic>
        <p:nvPicPr>
          <p:cNvPr id="301" name="Google Shape;301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81525" y="2820739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4581525" y="3525589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Dual-Track Strategy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4581525" y="3878014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Formulate a strategic roadmap balancing core business optimization with new platform/subscription revenue streams.</a:t>
            </a:r>
            <a:endParaRPr/>
          </a:p>
        </p:txBody>
      </p:sp>
      <p:pic>
        <p:nvPicPr>
          <p:cNvPr id="304" name="Google Shape;304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43900" y="2820739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8343900" y="3525589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Executive Defense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8343900" y="3878014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Defend your business transformation blueprint against board-level objections in a simulated executive review.</a:t>
            </a:r>
            <a:endParaRPr/>
          </a:p>
        </p:txBody>
      </p:sp>
      <p:pic>
        <p:nvPicPr>
          <p:cNvPr id="307" name="Google Shape;307;p2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52500" y="2954089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819150" y="4673351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Diagnostic Stage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3390900" y="4673351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Mins</a:t>
            </a:r>
            <a:endParaRPr/>
          </a:p>
        </p:txBody>
      </p:sp>
      <p:pic>
        <p:nvPicPr>
          <p:cNvPr id="310" name="Google Shape;310;p2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14875" y="2954089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4581525" y="4673351"/>
            <a:ext cx="10191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Strategy Drafting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7162800" y="4673351"/>
            <a:ext cx="447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 Mins</a:t>
            </a:r>
            <a:endParaRPr/>
          </a:p>
        </p:txBody>
      </p:sp>
      <p:pic>
        <p:nvPicPr>
          <p:cNvPr id="313" name="Google Shape;313;p2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91537" y="2954089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 txBox="1"/>
          <p:nvPr/>
        </p:nvSpPr>
        <p:spPr>
          <a:xfrm>
            <a:off x="8343900" y="4673351"/>
            <a:ext cx="1076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Roleplay &amp; Debate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10915650" y="4673351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Mins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571500" y="476250"/>
            <a:ext cx="11601450" cy="4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LO4 Activity: Transformation Challenge</a:t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571500" y="100771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 txBox="1"/>
          <p:nvPr/>
        </p:nvSpPr>
        <p:spPr>
          <a:xfrm>
            <a:off x="295275" y="25908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Summary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571500" y="3495675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Thank you for participating in LU3: Digital Business Models and Ecosystems.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"/>
          <p:cNvSpPr/>
          <p:nvPr/>
        </p:nvSpPr>
        <p:spPr>
          <a:xfrm>
            <a:off x="1347787" y="2284958"/>
            <a:ext cx="94964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1347787" y="3056483"/>
            <a:ext cx="94964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1347787" y="3828008"/>
            <a:ext cx="94964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1347787" y="3046958"/>
            <a:ext cx="94964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1347787" y="3046958"/>
            <a:ext cx="94964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1347787" y="3818483"/>
            <a:ext cx="94964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1347787" y="3818483"/>
            <a:ext cx="94964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1347787" y="4590008"/>
            <a:ext cx="94964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1347787" y="4590008"/>
            <a:ext cx="94964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787" y="24278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 txBox="1"/>
          <p:nvPr/>
        </p:nvSpPr>
        <p:spPr>
          <a:xfrm>
            <a:off x="2443162" y="2470695"/>
            <a:ext cx="8401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https://www.slideteam.net/media/catalog/product/cache/1280x720/c/o/conceptual_framework_for_business_digital_transformation_slide01.jpg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2443162" y="2670720"/>
            <a:ext cx="8401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www.slideteam.net</a:t>
            </a:r>
            <a:endParaRPr/>
          </a:p>
        </p:txBody>
      </p:sp>
      <p:pic>
        <p:nvPicPr>
          <p:cNvPr id="345" name="Google Shape;34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787" y="31993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2443162" y="3242220"/>
            <a:ext cx="8401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https://www.slideteam.net/media/catalog/product/cache/1280x720/s/a/saas_metrics_dashboard_illustrating_revenue_growth_rate_slide01.jpg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2443162" y="3442245"/>
            <a:ext cx="8401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www.slideteam.net</a:t>
            </a:r>
            <a:endParaRPr/>
          </a:p>
        </p:txBody>
      </p:sp>
      <p:pic>
        <p:nvPicPr>
          <p:cNvPr id="348" name="Google Shape;34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47787" y="39708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 txBox="1"/>
          <p:nvPr/>
        </p:nvSpPr>
        <p:spPr>
          <a:xfrm>
            <a:off x="2443162" y="4013745"/>
            <a:ext cx="8401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https://techafricanews.com/wp-content/uploads/2025/11/API.png</a:t>
            </a:r>
            <a:endParaRPr dirty="0"/>
          </a:p>
        </p:txBody>
      </p:sp>
      <p:sp>
        <p:nvSpPr>
          <p:cNvPr id="350" name="Google Shape;350;p25"/>
          <p:cNvSpPr txBox="1"/>
          <p:nvPr/>
        </p:nvSpPr>
        <p:spPr>
          <a:xfrm>
            <a:off x="2443162" y="4213770"/>
            <a:ext cx="8401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techafricanews.com</a:t>
            </a:r>
            <a:endParaRPr/>
          </a:p>
        </p:txBody>
      </p:sp>
      <p:pic>
        <p:nvPicPr>
          <p:cNvPr id="351" name="Google Shape;35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7787" y="47424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 txBox="1"/>
          <p:nvPr/>
        </p:nvSpPr>
        <p:spPr>
          <a:xfrm>
            <a:off x="2443162" y="4785270"/>
            <a:ext cx="8401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https://ischool.syracuse.edu/wp-content/uploads/digital-transformation-business-strategy-1024x683.png</a:t>
            </a:r>
            <a:endParaRPr dirty="0"/>
          </a:p>
        </p:txBody>
      </p:sp>
      <p:sp>
        <p:nvSpPr>
          <p:cNvPr id="353" name="Google Shape;353;p25"/>
          <p:cNvSpPr txBox="1"/>
          <p:nvPr/>
        </p:nvSpPr>
        <p:spPr>
          <a:xfrm>
            <a:off x="2443162" y="4985295"/>
            <a:ext cx="8401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ischool.syracuse.edu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571500" y="476250"/>
            <a:ext cx="11601450" cy="4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571500" y="100771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945</Words>
  <Application>Microsoft Office PowerPoint</Application>
  <PresentationFormat>Widescreen</PresentationFormat>
  <Paragraphs>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Plus Jakarta Sans ExtraBold</vt:lpstr>
      <vt:lpstr>Arial</vt:lpstr>
      <vt:lpstr>Inter</vt:lpstr>
      <vt:lpstr>Calibri</vt:lpstr>
      <vt:lpstr>Inter SemiBold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Marie Chris Soque</cp:lastModifiedBy>
  <cp:revision>1</cp:revision>
  <dcterms:modified xsi:type="dcterms:W3CDTF">2026-09-09T08:45:21Z</dcterms:modified>
</cp:coreProperties>
</file>
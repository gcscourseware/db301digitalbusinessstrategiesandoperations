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275" r:id="rId3"/>
    <p:sldId id="279" r:id="rId4"/>
    <p:sldId id="273" r:id="rId5"/>
    <p:sldId id="280" r:id="rId6"/>
    <p:sldId id="281" r:id="rId7"/>
    <p:sldId id="282" r:id="rId8"/>
    <p:sldId id="283" r:id="rId9"/>
    <p:sldId id="284" r:id="rId10"/>
    <p:sldId id="276" r:id="rId11"/>
    <p:sldId id="277" r:id="rId12"/>
    <p:sldId id="286" r:id="rId13"/>
    <p:sldId id="289" r:id="rId14"/>
    <p:sldId id="288" r:id="rId15"/>
    <p:sldId id="287" r:id="rId16"/>
    <p:sldId id="290" r:id="rId17"/>
    <p:sldId id="291" r:id="rId18"/>
    <p:sldId id="278" r:id="rId19"/>
    <p:sldId id="285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173F44-263E-4C98-AEF9-58D510D67274}">
  <a:tblStyle styleId="{31173F44-263E-4C98-AEF9-58D510D6727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008D42F-285E-4E69-8E08-8C67F41422C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c5105b04d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bc5105b04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F3B94531-5005-59A6-35DB-5DD760F8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54A37AFC-6A92-4053-F126-C51C8E1B96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244A87BF-EFC8-5DA8-CEA8-DB0F766FB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6781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35232E92-36B9-5F02-8A4D-AE418F65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C47992E2-4094-E76A-6640-457BEDAD0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B85EF7A6-3325-AD5B-6047-A74F89232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1045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94DD5D2F-AE1A-4C8B-25D5-B6955424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39CF2189-75B3-CAA9-D925-30072EDC3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48BD4377-D261-7E5F-7263-9BDE3C67D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5646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7D1F33C3-38BC-B86E-0D04-00069CC2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C08480F8-F1E5-E626-0ECF-330B31E93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A62B384F-D551-1E80-6CC0-D0FB31346A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6236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512A0B62-825F-1C3E-70DD-51166451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474B143F-DEA4-CFAF-FDCF-1D7EF72C1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176D289B-A0A2-4420-BEDF-0A2D2123F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3607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76E3917-8D37-F55D-13EE-9D101D3D6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A97410DB-4320-7A4E-A23D-B8B6EC79A7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97435076-5109-3FE3-A70C-850021D1B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3864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3056FD7-A452-1D8C-77E9-3DA8AD8A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76F58B41-7C9E-1852-105B-58AF858E41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3D670E1D-9130-581F-0684-73393ED3A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5973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F312F137-8989-2056-B8C9-67E62B1C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F3BCF6C1-00A7-DC0A-9024-C5F3259E6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E7B29C8F-F7E6-4896-59CF-2FFD8EA749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1910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FEFBC5DA-45C0-0A98-D203-772D470C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C776DDA4-DF42-CF1B-ED71-9B123A5616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0A422971-B261-BFF3-487C-3E31DA245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9953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192BE07-B8D3-588E-7799-76E025E0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350B8475-BD5E-503A-51DD-9A0F5493D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0751C10D-9B6A-190D-CB8D-64043D7E9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5568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01B2EDB3-37F3-23FE-E637-44C0155F7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8DF18EF8-D77D-A4F9-9150-E88F81D7A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276A414D-482B-5457-2926-AB9561AB7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847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D4F1DB01-A297-1DDE-FF32-9FE8CE08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7D85033-3406-DF47-186B-2544A490E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C0A87816-5207-1490-F893-80F6DE7D8A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4082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D2BB5B64-A7BA-6B00-0CE9-1D0BAFEB9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41BC74A-876C-8636-477E-705695B227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8F804332-B70F-0E9F-27DA-2F7CEAF3D7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3570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51FB81D6-B787-AE7E-5C95-390C68D9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1FCA859-EAE1-F10D-FA85-764B4CBA3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202B1E2E-9DC9-F9A1-7C32-029A199161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6617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D0053754-43B7-D80F-30BF-50A90A0C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3BE5DD8F-B6A1-C1A9-D1CD-D95B57AEC2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94C81B3F-6640-775D-8DBB-D8189B9CE2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89190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CCCC805C-A085-D055-8FD2-F42E8301E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B3808619-C883-D102-F2F8-597A9EB64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6FEB6F54-1CEA-7164-0A6E-40CA9DA07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4395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546F3DF9-9AC4-0E94-ED0A-1220FCE7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8EDBB172-9E52-3ADC-10B4-817FABDA7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D49CD4BF-5596-2FA8-A862-9CC9691BF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58038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3E204D67-66D8-9EEF-FA1A-CBE952A9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F6353C4E-6452-CEC6-518C-0F23CF32A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6B047673-1D1B-445A-7B41-388A3782F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3573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946251D-D9C5-E2C2-1431-B2FA34DF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F818FB8B-BA1E-91C5-F50F-B24BBBF68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33E864C9-0E1C-E7F3-4B3D-77D076C97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023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35EF9060-6EFB-4508-44AD-416156C3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0C946217-D486-BC86-C37D-E0D480D39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CED361EC-9E0C-A8F9-3B5A-DB3E389B5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59380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4361D62F-27B5-8202-3534-3C354C17E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43ECC9F3-EB45-6F3A-341A-4AEF330D8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A2D71225-B998-851A-96A6-CD2B153AE9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99917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663953DC-23C2-3B18-6A99-E7183EB0E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A9288F9B-69C7-3EED-2CEE-F51EBABB2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493A2A55-08F1-BE02-9693-BEA8E3C7B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90480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7C855341-5B1D-D3FE-399F-717CCC8B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BF60F65C-57B6-2DDC-1C4E-A128D47A5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8C05C9FB-079A-8B9B-6813-1F6EA77AC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88511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2787BBC2-8D97-70BF-C05D-CF469C49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E4641D8C-2C20-9D94-0A74-B5E32E6CE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B1FCAEB7-88AB-A7F7-6851-1007F0C17A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40467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8976090" y="-1"/>
            <a:ext cx="0" cy="5143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3"/>
          <p:cNvSpPr/>
          <p:nvPr/>
        </p:nvSpPr>
        <p:spPr>
          <a:xfrm rot="-5400000">
            <a:off x="6531094" y="2519850"/>
            <a:ext cx="5143500" cy="103800"/>
          </a:xfrm>
          <a:prstGeom prst="rect">
            <a:avLst/>
          </a:prstGeom>
          <a:gradFill>
            <a:gsLst>
              <a:gs pos="0">
                <a:srgbClr val="213F76"/>
              </a:gs>
              <a:gs pos="50000">
                <a:srgbClr val="2F5CAB"/>
              </a:gs>
              <a:gs pos="100000">
                <a:srgbClr val="3A6FCD"/>
              </a:gs>
            </a:gsLst>
            <a:lin ang="5400012" scaled="0"/>
          </a:gra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3" descr="A picture containing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09092" y="139304"/>
            <a:ext cx="1023643" cy="55341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 rot="-5400000">
            <a:off x="-2362350" y="2362350"/>
            <a:ext cx="5143500" cy="418800"/>
          </a:xfrm>
          <a:prstGeom prst="rect">
            <a:avLst/>
          </a:prstGeom>
          <a:gradFill>
            <a:gsLst>
              <a:gs pos="0">
                <a:srgbClr val="213F76"/>
              </a:gs>
              <a:gs pos="50000">
                <a:srgbClr val="2F5CAB"/>
              </a:gs>
              <a:gs pos="100000">
                <a:srgbClr val="3A6FCD"/>
              </a:gs>
            </a:gsLst>
            <a:lin ang="5400012" scaled="0"/>
          </a:gra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DM2004 Online Advertising and Analytics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netic.edu.s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netic.edu.s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netic.edu.s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netic.edu.s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netic.edu.s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1143000" y="532924"/>
            <a:ext cx="6858000" cy="14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my" sz="3000" b="1" dirty="0"/>
              <a:t>DM</a:t>
            </a:r>
            <a:r>
              <a:rPr lang="en-SG" sz="3000" b="1" dirty="0"/>
              <a:t>2004</a:t>
            </a:r>
            <a:r>
              <a:rPr lang="my" sz="3000" b="1" dirty="0"/>
              <a:t> </a:t>
            </a:r>
            <a:r>
              <a:rPr lang="en-SG" sz="3000" b="1" dirty="0"/>
              <a:t>Online Advertising and Analytics </a:t>
            </a:r>
            <a:br>
              <a:rPr lang="my" sz="3000" b="1" dirty="0"/>
            </a:br>
            <a:endParaRPr sz="3000" b="1" dirty="0"/>
          </a:p>
        </p:txBody>
      </p:sp>
      <p:graphicFrame>
        <p:nvGraphicFramePr>
          <p:cNvPr id="65" name="Google Shape;65;p14"/>
          <p:cNvGraphicFramePr/>
          <p:nvPr>
            <p:extLst>
              <p:ext uri="{D42A27DB-BD31-4B8C-83A1-F6EECF244321}">
                <p14:modId xmlns:p14="http://schemas.microsoft.com/office/powerpoint/2010/main" val="3491867301"/>
              </p:ext>
            </p:extLst>
          </p:nvPr>
        </p:nvGraphicFramePr>
        <p:xfrm>
          <a:off x="985157" y="2447488"/>
          <a:ext cx="7447400" cy="792750"/>
        </p:xfrm>
        <a:graphic>
          <a:graphicData uri="http://schemas.openxmlformats.org/drawingml/2006/table">
            <a:tbl>
              <a:tblPr firstRow="1" bandRow="1">
                <a:noFill/>
                <a:tableStyleId>{31173F44-263E-4C98-AEF9-58D510D67274}</a:tableStyleId>
              </a:tblPr>
              <a:tblGrid>
                <a:gridCol w="74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2700" b="0" u="none" strike="noStrike" cap="none" dirty="0"/>
                        <a:t>Second Formative Assessment Practical</a:t>
                      </a:r>
                      <a:endParaRPr sz="1100" dirty="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Google Shape;66;p14"/>
          <p:cNvGraphicFramePr/>
          <p:nvPr>
            <p:extLst>
              <p:ext uri="{D42A27DB-BD31-4B8C-83A1-F6EECF244321}">
                <p14:modId xmlns:p14="http://schemas.microsoft.com/office/powerpoint/2010/main" val="2330073032"/>
              </p:ext>
            </p:extLst>
          </p:nvPr>
        </p:nvGraphicFramePr>
        <p:xfrm>
          <a:off x="985156" y="3493305"/>
          <a:ext cx="7447375" cy="708680"/>
        </p:xfrm>
        <a:graphic>
          <a:graphicData uri="http://schemas.openxmlformats.org/drawingml/2006/table">
            <a:tbl>
              <a:tblPr firstRow="1" bandRow="1">
                <a:noFill/>
                <a:tableStyleId>{31173F44-263E-4C98-AEF9-58D510D67274}</a:tableStyleId>
              </a:tblPr>
              <a:tblGrid>
                <a:gridCol w="47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y" sz="1400" b="1" u="none" strike="noStrike" cap="none" dirty="0">
                          <a:solidFill>
                            <a:schemeClr val="dk1"/>
                          </a:solidFill>
                        </a:rPr>
                        <a:t>Student Name:</a:t>
                      </a:r>
                      <a:endParaRPr lang="en-SG" sz="1400" b="1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y" sz="1400" b="1" dirty="0">
                          <a:solidFill>
                            <a:schemeClr val="dk1"/>
                          </a:solidFill>
                        </a:rPr>
                        <a:t>Student NRIC / FIN No.</a:t>
                      </a:r>
                      <a:endParaRPr sz="1100" dirty="0"/>
                    </a:p>
                  </a:txBody>
                  <a:tcPr marL="68600" marR="68600" marT="34300" marB="343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y" sz="1400" dirty="0">
                          <a:solidFill>
                            <a:schemeClr val="dk1"/>
                          </a:solidFill>
                        </a:rPr>
                        <a:t>Date:</a:t>
                      </a:r>
                      <a:endParaRPr sz="1100" dirty="0"/>
                    </a:p>
                  </a:txBody>
                  <a:tcPr marL="68600" marR="68600" marT="34300" marB="3430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6043-6E76-7BC6-EA69-41F3371D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Part A: Google Ads Practical Assessment</a:t>
            </a:r>
          </a:p>
        </p:txBody>
      </p:sp>
    </p:spTree>
    <p:extLst>
      <p:ext uri="{BB962C8B-B14F-4D97-AF65-F5344CB8AC3E}">
        <p14:creationId xmlns:p14="http://schemas.microsoft.com/office/powerpoint/2010/main" val="2365793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008CF3C-CEFF-0E25-629F-232F4C4F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3F3DB2F3-E3DD-542A-EB66-B1CB812CD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1  1/2</a:t>
            </a:r>
            <a:endParaRPr dirty="0"/>
          </a:p>
        </p:txBody>
      </p:sp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30A3EC34-78C2-1A53-A0CC-25F31C924DAB}"/>
              </a:ext>
            </a:extLst>
          </p:cNvPr>
          <p:cNvSpPr txBox="1"/>
          <p:nvPr/>
        </p:nvSpPr>
        <p:spPr>
          <a:xfrm>
            <a:off x="682950" y="1056043"/>
            <a:ext cx="7778100" cy="376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Campaign Level Settings and requirements: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Campaign Objective: Website Traffic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Campaign Type: Search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200" i="1" dirty="0"/>
              <a:t>Note: Create it as a new Campaign and not Continue from an existing draft</a:t>
            </a:r>
          </a:p>
          <a:p>
            <a:r>
              <a:rPr lang="en-SG" sz="1600" dirty="0"/>
              <a:t>Campaign Name: OAA FA2 Campaign</a:t>
            </a:r>
          </a:p>
          <a:p>
            <a:r>
              <a:rPr lang="en-SG" sz="1600" dirty="0"/>
              <a:t>Business Website: </a:t>
            </a:r>
            <a:r>
              <a:rPr lang="en-SG" sz="1600" dirty="0">
                <a:hlinkClick r:id="rId3"/>
              </a:rPr>
              <a:t>https://www.genetic.edu.sg</a:t>
            </a:r>
            <a:endParaRPr lang="en-SG" sz="1600" dirty="0"/>
          </a:p>
          <a:p>
            <a:r>
              <a:rPr lang="en-SG" sz="1600" dirty="0"/>
              <a:t>Bidding: Maximise conversions</a:t>
            </a:r>
          </a:p>
          <a:p>
            <a:r>
              <a:rPr lang="en-SG" sz="1600" dirty="0"/>
              <a:t>Location: Singapore</a:t>
            </a:r>
          </a:p>
          <a:p>
            <a:r>
              <a:rPr lang="en-SG" sz="1600" dirty="0"/>
              <a:t>Language: English</a:t>
            </a:r>
          </a:p>
          <a:p>
            <a:r>
              <a:rPr lang="en-SG" sz="1600" dirty="0"/>
              <a:t>Ad rotation: Optimise</a:t>
            </a:r>
          </a:p>
          <a:p>
            <a:r>
              <a:rPr lang="en-SG" sz="1600" dirty="0"/>
              <a:t>Start Date: October 5, 2026  End Date: October 30, 2026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200" dirty="0"/>
              <a:t>Notes: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200" dirty="0"/>
              <a:t>For the other campaign settings, you can decide and configure it yourself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200" dirty="0"/>
              <a:t>Screenshots these settings and paste it in the next slide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236300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1  2/2</a:t>
            </a:r>
            <a:endParaRPr dirty="0"/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/>
          <p:nvPr/>
        </p:nvSpPr>
        <p:spPr>
          <a:xfrm>
            <a:off x="737250" y="1356225"/>
            <a:ext cx="7778100" cy="105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here the campaign level settings as per required in the previous slide.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BCBDB71-357D-3382-8C1C-5FD64F8E2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95671701-7A14-AD2B-7F77-A235B09D93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2  1/2</a:t>
            </a:r>
            <a:endParaRPr dirty="0"/>
          </a:p>
        </p:txBody>
      </p:sp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8DEAE04A-B5E7-90CD-A4C8-F806699C533D}"/>
              </a:ext>
            </a:extLst>
          </p:cNvPr>
          <p:cNvSpPr txBox="1"/>
          <p:nvPr/>
        </p:nvSpPr>
        <p:spPr>
          <a:xfrm>
            <a:off x="682950" y="1042463"/>
            <a:ext cx="7778100" cy="403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Ad Group Level Settings and Requirements: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Final URL: </a:t>
            </a:r>
            <a:r>
              <a:rPr lang="en-SG" sz="1600" dirty="0">
                <a:hlinkClick r:id="rId3"/>
              </a:rPr>
              <a:t>https://www.genetic.edu.sg</a:t>
            </a: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Products and services: Diploma Courses, Advanced Diploma Courses, Certificate Courses, WSQ Courses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Keywords: (Note: 5 short tail and 5 long tail). Below are examples: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100" dirty="0"/>
              <a:t>Diploma Courses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100" dirty="0"/>
              <a:t>WSQ Courses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100" dirty="0"/>
              <a:t>Digital Marketing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100" dirty="0"/>
              <a:t>Artificial Intelligence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100" dirty="0"/>
              <a:t>Academic Courses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100" dirty="0"/>
              <a:t>E-Business and Entrepreneurship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100" dirty="0"/>
              <a:t>Diploma in Hotel and Tourism Management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100" dirty="0"/>
              <a:t>Diploma in Supply Chain Management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100" dirty="0"/>
              <a:t>Software and Web Design Courses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100" dirty="0"/>
              <a:t>International Diploma Courses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200" dirty="0"/>
              <a:t>Notes: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200" dirty="0"/>
              <a:t>For the other Ad Group settings, you can decide and configure it yourself.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200" dirty="0"/>
              <a:t>Screenshots these settings and paste it in the next slide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5969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E0708571-057C-7A7D-C305-9754A887C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EC752E7A-3626-CB0C-0413-5F67C20D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2  2/2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AF192E8B-9737-1C02-0FCA-AEE514DCE4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2ADC5B0C-9F6A-2EE1-949E-D06D80008A37}"/>
              </a:ext>
            </a:extLst>
          </p:cNvPr>
          <p:cNvSpPr txBox="1"/>
          <p:nvPr/>
        </p:nvSpPr>
        <p:spPr>
          <a:xfrm>
            <a:off x="737250" y="1356225"/>
            <a:ext cx="7778100" cy="105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here the Ad Group Level Settings (Keywords list) as per required in the previous slide.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408007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50CEB7FB-1B2F-9E6D-63DA-D86711AB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0CF6F0AC-A006-099D-1CE8-91F2B4C59A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3  1/3</a:t>
            </a:r>
            <a:endParaRPr dirty="0"/>
          </a:p>
        </p:txBody>
      </p:sp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2CE6C45A-CC4C-FA6B-6EB0-B2C78F50D424}"/>
              </a:ext>
            </a:extLst>
          </p:cNvPr>
          <p:cNvSpPr txBox="1"/>
          <p:nvPr/>
        </p:nvSpPr>
        <p:spPr>
          <a:xfrm>
            <a:off x="682950" y="1042463"/>
            <a:ext cx="7778100" cy="400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Ad Level Settings and Requirements: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Final URL: </a:t>
            </a:r>
            <a:r>
              <a:rPr lang="en-SG" sz="1600" dirty="0">
                <a:hlinkClick r:id="rId3"/>
              </a:rPr>
              <a:t>https://www.genetic.edu.sg</a:t>
            </a: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Headlines: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1600" dirty="0"/>
              <a:t>- Genetic Computer School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600" dirty="0"/>
              <a:t>WSQ Courses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600" dirty="0"/>
              <a:t>Diploma and Advanced Diploma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600" dirty="0"/>
              <a:t>Business and Entrepreneurship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1600" dirty="0"/>
              <a:t>Descriptions: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1600" dirty="0"/>
              <a:t>-  Learn what the industry uses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600" dirty="0"/>
              <a:t>Learning towards achieving the Goal in the future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1600" dirty="0"/>
              <a:t>Budget: Select the recommended Daily Budget</a:t>
            </a:r>
            <a:endParaRPr lang="en-SG"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200" dirty="0"/>
              <a:t>Notes: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200" dirty="0"/>
              <a:t>For the other Ad settings, you can decide and configure it yourself.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200" dirty="0"/>
              <a:t>Don’t forget to publish the campaign so that it will be listed inside your campaign list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200" dirty="0"/>
              <a:t>Screenshots these settings and paste it in the next slide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851016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46BB7CB4-09B0-BD08-3AA8-66696648F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64DB96C3-8563-744C-05CC-43E7905697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3  2/3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8DBD492C-6662-4107-48C4-4F54385D68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B445FBE2-AE56-D285-E52C-E4468974E426}"/>
              </a:ext>
            </a:extLst>
          </p:cNvPr>
          <p:cNvSpPr txBox="1"/>
          <p:nvPr/>
        </p:nvSpPr>
        <p:spPr>
          <a:xfrm>
            <a:off x="737250" y="1356225"/>
            <a:ext cx="7778100" cy="105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here the Ad Level Settings (Final URL, Headlines, Descriptions, etc.) including the preview as per required in the previous slide.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4053718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B5FC290E-C2F0-5097-50B9-EEC47F02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F43D495A-B035-EAD9-087E-1514D3FE5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3  3/3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563F7662-0D03-4D84-1033-7E05D52571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3E2FA4DE-58DA-93D9-10C7-AEA5E0ED0CB7}"/>
              </a:ext>
            </a:extLst>
          </p:cNvPr>
          <p:cNvSpPr txBox="1"/>
          <p:nvPr/>
        </p:nvSpPr>
        <p:spPr>
          <a:xfrm>
            <a:off x="737250" y="1356225"/>
            <a:ext cx="7778100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here the Campaign List  and the Ad Group List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590589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940A1-7153-FF06-6150-2B89B7804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B7CC-8E5A-BBC1-F5AC-07021C6F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Part B: Facebook Ads Practical Assessment</a:t>
            </a:r>
          </a:p>
        </p:txBody>
      </p:sp>
    </p:spTree>
    <p:extLst>
      <p:ext uri="{BB962C8B-B14F-4D97-AF65-F5344CB8AC3E}">
        <p14:creationId xmlns:p14="http://schemas.microsoft.com/office/powerpoint/2010/main" val="1705592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06BC2DEB-3B77-1F7A-55FA-58C5488FB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DC5D4531-E190-BDBC-6F61-180CA5D8F5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Question 4 1/2</a:t>
            </a:r>
            <a:endParaRPr dirty="0"/>
          </a:p>
        </p:txBody>
      </p:sp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E7B49F86-0347-2B3A-34FB-2711C186DFBC}"/>
              </a:ext>
            </a:extLst>
          </p:cNvPr>
          <p:cNvSpPr txBox="1"/>
          <p:nvPr/>
        </p:nvSpPr>
        <p:spPr>
          <a:xfrm>
            <a:off x="737250" y="1356225"/>
            <a:ext cx="7778100" cy="22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Create a Campaign in adsmanager.facebook.com with the following settings/requirements: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Campaign Objective: Traffic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Buying Type: Auction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Campaign Setup: Recommended Settings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Campaign Name: OAA FA2 Campaign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Budget Strategy: Ad Set Budget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A/B Test: Off</a:t>
            </a:r>
          </a:p>
        </p:txBody>
      </p:sp>
    </p:spTree>
    <p:extLst>
      <p:ext uri="{BB962C8B-B14F-4D97-AF65-F5344CB8AC3E}">
        <p14:creationId xmlns:p14="http://schemas.microsoft.com/office/powerpoint/2010/main" val="356836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D22E5F9-CE1C-E203-6BBA-5B847F223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C008C053-9E06-19D8-D7EC-E499C69E6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4  2/2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198F231B-ED68-107D-38D3-1731CB43D0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4A9730C6-5123-49E2-F1EF-95866E1B99AD}"/>
              </a:ext>
            </a:extLst>
          </p:cNvPr>
          <p:cNvSpPr txBox="1"/>
          <p:nvPr/>
        </p:nvSpPr>
        <p:spPr>
          <a:xfrm>
            <a:off x="737250" y="1356225"/>
            <a:ext cx="7778100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here the Campaign Level Settings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48851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94633C10-95A8-28CF-ADD7-C42B4834B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60150F77-9ACD-6C76-6E4B-36807E255A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Question 5 1/2</a:t>
            </a:r>
            <a:endParaRPr dirty="0"/>
          </a:p>
        </p:txBody>
      </p:sp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D4D36AE5-F1C1-58F1-AB40-0938D3144E15}"/>
              </a:ext>
            </a:extLst>
          </p:cNvPr>
          <p:cNvSpPr txBox="1"/>
          <p:nvPr/>
        </p:nvSpPr>
        <p:spPr>
          <a:xfrm>
            <a:off x="737250" y="1356225"/>
            <a:ext cx="7778100" cy="376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Ad Set Level Settings/Requirements: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Ad Set Name: OAA FA2 Ad Set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Conversion: Website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Performance Goal: Maximise number of landing page views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Budget: Daily Budget at SGD 50.00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Start Date: October 5, 2026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End Date: November 4, 2026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Age: 21-45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Gender: All Gender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Detailed Targeting: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600" dirty="0"/>
              <a:t>Interest: Study International, Study Abroad, Education in Asia, Course (Education)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600" dirty="0"/>
              <a:t>Demographics: Parents with adult children (18-26)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600" dirty="0"/>
              <a:t>Behaviors: Family of those who lived abroad</a:t>
            </a:r>
          </a:p>
        </p:txBody>
      </p:sp>
    </p:spTree>
    <p:extLst>
      <p:ext uri="{BB962C8B-B14F-4D97-AF65-F5344CB8AC3E}">
        <p14:creationId xmlns:p14="http://schemas.microsoft.com/office/powerpoint/2010/main" val="3263324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9301A342-3106-8A2F-C78B-D527A4FDE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BEAB5FF9-4D3F-77BC-2665-2F96663036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5  2/2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5966A76E-871A-F886-32C4-2CCFE21E94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FE84FDC9-3171-999D-0E3C-D8EDE39E4819}"/>
              </a:ext>
            </a:extLst>
          </p:cNvPr>
          <p:cNvSpPr txBox="1"/>
          <p:nvPr/>
        </p:nvSpPr>
        <p:spPr>
          <a:xfrm>
            <a:off x="737250" y="1356225"/>
            <a:ext cx="7778100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here the Ad Set Level Settings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9392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F59E3BA5-1EDB-299C-972C-48983353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45F06B43-3571-5415-A390-410EB3E68C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Question 6 1/2</a:t>
            </a:r>
            <a:endParaRPr dirty="0"/>
          </a:p>
        </p:txBody>
      </p:sp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0F6ECCB3-DBF9-2832-E645-1CED3F87706E}"/>
              </a:ext>
            </a:extLst>
          </p:cNvPr>
          <p:cNvSpPr txBox="1"/>
          <p:nvPr/>
        </p:nvSpPr>
        <p:spPr>
          <a:xfrm>
            <a:off x="737250" y="1356225"/>
            <a:ext cx="7778100" cy="3270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Ad Copy Level Settings/Requirements: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Ad Copy Name: OAA FA2 Ad Copy 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Facebook Page: Select your Active Facebook Page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Ad Setup: Create Ad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Destination: Website (URL) – </a:t>
            </a:r>
            <a:r>
              <a:rPr lang="en-SG" sz="1600" dirty="0">
                <a:hlinkClick r:id="rId3"/>
              </a:rPr>
              <a:t>https://www.genetic.edu.sg</a:t>
            </a: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Note: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600" dirty="0"/>
              <a:t>You need to decide the other settings for your Ad Copy (CTAs, Primary Text, Description, etc.)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SG" sz="1600" dirty="0"/>
              <a:t>Assumptions is that you are creating an Ad related to courses offered by Genetic Computer School</a:t>
            </a:r>
          </a:p>
        </p:txBody>
      </p:sp>
    </p:spTree>
    <p:extLst>
      <p:ext uri="{BB962C8B-B14F-4D97-AF65-F5344CB8AC3E}">
        <p14:creationId xmlns:p14="http://schemas.microsoft.com/office/powerpoint/2010/main" val="3766612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1AE10C0-B46A-E10E-FAD8-6E00E6E6E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DC76B52B-4DE5-51D0-BF7C-28905889C1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6  2/2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49D02894-0F68-63F7-0383-AEEF4952EC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99D93D76-FDD4-2CB3-52E0-A11E84418985}"/>
              </a:ext>
            </a:extLst>
          </p:cNvPr>
          <p:cNvSpPr txBox="1"/>
          <p:nvPr/>
        </p:nvSpPr>
        <p:spPr>
          <a:xfrm>
            <a:off x="737250" y="1356225"/>
            <a:ext cx="7778100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here the Ad Level Settings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799743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9CF12D5D-5A01-0A0C-42E8-CD716EED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460EC437-2BAB-2F7F-AB60-CAF5C80E8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7  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11F04457-80A5-C544-E7C7-993FEFFAED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77037E4F-CE29-F386-1C7E-807C506D55FE}"/>
              </a:ext>
            </a:extLst>
          </p:cNvPr>
          <p:cNvSpPr txBox="1"/>
          <p:nvPr/>
        </p:nvSpPr>
        <p:spPr>
          <a:xfrm>
            <a:off x="737250" y="1092989"/>
            <a:ext cx="7778100" cy="105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Use the image below in your Ad Image. Screenshot and paste here the preview of your Ad Copy.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1DA852-D904-FC35-2DBF-4DB875768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34" y="2049897"/>
            <a:ext cx="2645848" cy="264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178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746BE-4647-05C3-A7D8-98B222BA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EAF7-0CC9-E893-D12D-2E1FB25F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Part C: Google Analytics Practical Assessment</a:t>
            </a:r>
          </a:p>
        </p:txBody>
      </p:sp>
    </p:spTree>
    <p:extLst>
      <p:ext uri="{BB962C8B-B14F-4D97-AF65-F5344CB8AC3E}">
        <p14:creationId xmlns:p14="http://schemas.microsoft.com/office/powerpoint/2010/main" val="3971245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45806052-EC23-971F-B9F8-471AC9A2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41050231-0F82-3BE2-42AF-07EB49E9AA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8  1/3</a:t>
            </a:r>
            <a:endParaRPr dirty="0"/>
          </a:p>
        </p:txBody>
      </p:sp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53DB2B5F-794B-C770-7163-B5C8E7E85E58}"/>
              </a:ext>
            </a:extLst>
          </p:cNvPr>
          <p:cNvSpPr txBox="1"/>
          <p:nvPr/>
        </p:nvSpPr>
        <p:spPr>
          <a:xfrm>
            <a:off x="628650" y="1189971"/>
            <a:ext cx="7778100" cy="410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Create a new account in your analytics.google.com account. Follow the given requirements below: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Account Name: GCS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Property Name: </a:t>
            </a:r>
            <a:r>
              <a:rPr lang="en-SG" sz="1600" dirty="0" err="1"/>
              <a:t>GCSWebsite</a:t>
            </a: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Reporting time zone: Singapore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Currency: Singapore Dollar ($)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Category: Other business activity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Business Size: Small – 1 to 10 employees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Business Objectives: Check all except the “Other business objectives”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i="1" dirty="0">
                <a:solidFill>
                  <a:srgbClr val="FF0000"/>
                </a:solidFill>
              </a:rPr>
              <a:t>Note: Accept the Google Analytics Terms and Service Agreement</a:t>
            </a:r>
          </a:p>
          <a:p>
            <a:r>
              <a:rPr lang="en-SG" sz="1600" dirty="0"/>
              <a:t>Platform: Web</a:t>
            </a:r>
          </a:p>
          <a:p>
            <a:r>
              <a:rPr lang="en-SG" sz="1600" dirty="0"/>
              <a:t>Website URL: </a:t>
            </a:r>
            <a:r>
              <a:rPr lang="en-SG" sz="1600" dirty="0">
                <a:hlinkClick r:id="rId3"/>
              </a:rPr>
              <a:t>www.genetic.edu.sg</a:t>
            </a:r>
            <a:endParaRPr lang="en-SG" sz="1600" dirty="0"/>
          </a:p>
          <a:p>
            <a:r>
              <a:rPr lang="en-SG" sz="1600" dirty="0"/>
              <a:t>Stream name: </a:t>
            </a:r>
            <a:r>
              <a:rPr lang="en-SG" sz="1600" dirty="0" err="1"/>
              <a:t>gcswebsite</a:t>
            </a: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100" i="1" dirty="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332529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0F167D-3B93-98C4-D56F-2BAA1271D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67936AA1-8700-F892-C3F6-A78217868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8  2/3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28A1640F-BAFB-C37B-7862-0E6CF92C04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7465B611-2C0A-243D-26C1-3F8D84EA4A8D}"/>
              </a:ext>
            </a:extLst>
          </p:cNvPr>
          <p:cNvSpPr txBox="1"/>
          <p:nvPr/>
        </p:nvSpPr>
        <p:spPr>
          <a:xfrm>
            <a:off x="628650" y="1189971"/>
            <a:ext cx="7778100" cy="105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here the newly created account and property in analytics.google.com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983051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0FA5302F-A667-94A2-A416-79FD2C1F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0AAA0C9D-EE7E-43D7-F141-DF2176D9D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8  3/3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055FB4E2-1715-F388-9A4C-8707FCC98D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733C5671-85BD-307C-60CE-5B5B3D22FFA4}"/>
              </a:ext>
            </a:extLst>
          </p:cNvPr>
          <p:cNvSpPr txBox="1"/>
          <p:nvPr/>
        </p:nvSpPr>
        <p:spPr>
          <a:xfrm>
            <a:off x="628650" y="1189971"/>
            <a:ext cx="7778100" cy="105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here the Google Analytics Web Stream details showing the Measurement ID (</a:t>
            </a:r>
            <a:r>
              <a:rPr lang="en-SG" sz="1600" dirty="0" err="1"/>
              <a:t>GTag</a:t>
            </a:r>
            <a:r>
              <a:rPr lang="en-SG" sz="1600" dirty="0"/>
              <a:t> ID)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729896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8C69AF8B-2B8E-3C73-E130-1620012E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97A0C387-48AF-AB28-AF93-D82FF23234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9  1/7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D1EE94BA-5A26-4547-8E75-1CC5354C52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0BE946EC-FBE5-5396-E2F4-5B3C1198F079}"/>
              </a:ext>
            </a:extLst>
          </p:cNvPr>
          <p:cNvSpPr txBox="1"/>
          <p:nvPr/>
        </p:nvSpPr>
        <p:spPr>
          <a:xfrm>
            <a:off x="628650" y="1189971"/>
            <a:ext cx="7778100" cy="302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Provide the following reports using the Demo Account Google Analytics from January 1, 2026 to June 30, 2026. Write a short analysis on the given reports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SG" sz="1600" dirty="0"/>
              <a:t>User Acquisition (Dimension: First user medium)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SG" sz="1600" dirty="0"/>
              <a:t>RealTime Overview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SG" sz="1600" dirty="0"/>
              <a:t>Lead Acquisition (Dimension: First user source platform)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SG" sz="1600" dirty="0"/>
              <a:t>Pages and Screens (Dimension: Page title and screen class)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SG" sz="1600" dirty="0"/>
              <a:t>E-commerce Purchases (Dimension: Item Category)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SG" sz="1600" dirty="0"/>
              <a:t>Demographics details (Dimension: Interest)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357447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C1ACCAD-D405-13E9-6203-DF88895FE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4B3D6DE4-0A3E-9CC4-3126-CBC36FDBA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9  2/7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E6D075B1-6A6E-9450-DC92-A960D354EF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B188EAB4-28E0-7E73-745D-E4A9F5FD51AC}"/>
              </a:ext>
            </a:extLst>
          </p:cNvPr>
          <p:cNvSpPr txBox="1"/>
          <p:nvPr/>
        </p:nvSpPr>
        <p:spPr>
          <a:xfrm>
            <a:off x="628650" y="1189971"/>
            <a:ext cx="7778100" cy="1792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Date Range: January 1, 2026 to June 30, 2026. Screenshot the report and write the analysis.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SG" sz="1600" dirty="0"/>
              <a:t>User Acquisition (Dimension: First user medium)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46F4B3-8D86-6FC0-8DB9-BB0EB9CFE91A}"/>
              </a:ext>
            </a:extLst>
          </p:cNvPr>
          <p:cNvSpPr/>
          <p:nvPr/>
        </p:nvSpPr>
        <p:spPr>
          <a:xfrm>
            <a:off x="684067" y="3560618"/>
            <a:ext cx="8090477" cy="1366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Write your analysis here:</a:t>
            </a:r>
          </a:p>
          <a:p>
            <a:pPr algn="ctr"/>
            <a:endParaRPr lang="en-SG" dirty="0"/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727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8001206C-36BA-B6E6-88C7-07D15CC6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5DC1FF7B-81A4-9537-4BDB-E92C7EA197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9  3/7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B776E315-512E-1402-45C0-5AFC96D505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83AEA34B-0763-092F-3AF7-A08BB0401242}"/>
              </a:ext>
            </a:extLst>
          </p:cNvPr>
          <p:cNvSpPr txBox="1"/>
          <p:nvPr/>
        </p:nvSpPr>
        <p:spPr>
          <a:xfrm>
            <a:off x="628650" y="1189971"/>
            <a:ext cx="7778100" cy="1792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Date Range: January 1, 2026 to June 30, 2026. Screenshot the report and write the analysis.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lvl="0"/>
            <a:r>
              <a:rPr lang="en-SG" sz="1600" dirty="0"/>
              <a:t>2. RealTime Overview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61103A-7BB4-323A-8A3D-C7C0C0FE239B}"/>
              </a:ext>
            </a:extLst>
          </p:cNvPr>
          <p:cNvSpPr/>
          <p:nvPr/>
        </p:nvSpPr>
        <p:spPr>
          <a:xfrm>
            <a:off x="684067" y="3560618"/>
            <a:ext cx="8090477" cy="1366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Write your analysis here:</a:t>
            </a:r>
          </a:p>
          <a:p>
            <a:pPr algn="ctr"/>
            <a:endParaRPr lang="en-SG" dirty="0"/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78985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C4929F73-B8EC-891F-2AFD-32388726B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3AA71700-3758-6618-5433-3CED57666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9  4/7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6E33AC03-F1B1-201C-4F13-D683BC32DC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2BBDA697-5674-80F1-1794-1D85B66812D6}"/>
              </a:ext>
            </a:extLst>
          </p:cNvPr>
          <p:cNvSpPr txBox="1"/>
          <p:nvPr/>
        </p:nvSpPr>
        <p:spPr>
          <a:xfrm>
            <a:off x="628650" y="1189971"/>
            <a:ext cx="7778100" cy="203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Date Range: January 1, 2026 to June 30, 2026. Screenshot the report and write the analysis.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r>
              <a:rPr lang="en-SG" sz="1600" dirty="0"/>
              <a:t>3. Lead Acquisition (Dimension: First user source platform)</a:t>
            </a:r>
          </a:p>
          <a:p>
            <a:pPr lvl="0"/>
            <a:endParaRPr lang="en-SG" sz="16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58AB3-B5D1-62E4-E18B-6E000CE679D2}"/>
              </a:ext>
            </a:extLst>
          </p:cNvPr>
          <p:cNvSpPr/>
          <p:nvPr/>
        </p:nvSpPr>
        <p:spPr>
          <a:xfrm>
            <a:off x="684067" y="3560618"/>
            <a:ext cx="8090477" cy="1366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Write your analysis here:</a:t>
            </a:r>
          </a:p>
          <a:p>
            <a:pPr algn="ctr"/>
            <a:endParaRPr lang="en-SG" dirty="0"/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61176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F7B90785-7ED0-7390-DDD0-D02B0B6C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5A0DA954-01D8-34D4-C0AB-B06A30E388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9  5/7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381F2510-2F96-C719-6BEF-0D48883D8A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827C00CB-9D7C-CDC3-83BB-D5AE5C42D142}"/>
              </a:ext>
            </a:extLst>
          </p:cNvPr>
          <p:cNvSpPr txBox="1"/>
          <p:nvPr/>
        </p:nvSpPr>
        <p:spPr>
          <a:xfrm>
            <a:off x="628650" y="1189971"/>
            <a:ext cx="7778100" cy="203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Date Range: January 1, 2026 to June 30, 2026. Screenshot the report and write the analysis.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lvl="0"/>
            <a:r>
              <a:rPr lang="en-SG" sz="1600" dirty="0"/>
              <a:t>4. Pages and Screens (Dimension: Page title and screen class)</a:t>
            </a:r>
          </a:p>
          <a:p>
            <a:pPr lvl="0"/>
            <a:endParaRPr lang="en-SG" sz="16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AAC7A-1AFD-06AE-D8D1-5B536DD5D1FD}"/>
              </a:ext>
            </a:extLst>
          </p:cNvPr>
          <p:cNvSpPr/>
          <p:nvPr/>
        </p:nvSpPr>
        <p:spPr>
          <a:xfrm>
            <a:off x="684067" y="3560618"/>
            <a:ext cx="8090477" cy="1366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Write your analysis here:</a:t>
            </a:r>
          </a:p>
          <a:p>
            <a:pPr algn="ctr"/>
            <a:endParaRPr lang="en-SG" dirty="0"/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80132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DC64F740-2694-0DA6-28A0-8CC16BB87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5894ECDA-AEEB-ED28-EF40-724184E660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9  6/7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397A8CBF-F29C-0348-37D9-121DA9D23C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F39E12C7-BC16-65C7-515E-EB78AA2C3143}"/>
              </a:ext>
            </a:extLst>
          </p:cNvPr>
          <p:cNvSpPr txBox="1"/>
          <p:nvPr/>
        </p:nvSpPr>
        <p:spPr>
          <a:xfrm>
            <a:off x="628650" y="1189971"/>
            <a:ext cx="7778100" cy="22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Date Range: January 1, 2026 to June 30, 2026. Screenshot the report and write the analysis.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r>
              <a:rPr lang="en-SG" sz="1600" dirty="0"/>
              <a:t>5. E-commerce Purchases (Dimension: Item Category)</a:t>
            </a:r>
          </a:p>
          <a:p>
            <a:pPr lvl="0"/>
            <a:endParaRPr lang="en-SG" sz="1600" dirty="0"/>
          </a:p>
          <a:p>
            <a:pPr lvl="0"/>
            <a:endParaRPr lang="en-SG" sz="16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4AF6B8-3AAE-79EB-234E-50CDC3376C80}"/>
              </a:ext>
            </a:extLst>
          </p:cNvPr>
          <p:cNvSpPr/>
          <p:nvPr/>
        </p:nvSpPr>
        <p:spPr>
          <a:xfrm>
            <a:off x="684067" y="3560618"/>
            <a:ext cx="8090477" cy="1366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Write your analysis here:</a:t>
            </a:r>
          </a:p>
          <a:p>
            <a:pPr algn="ctr"/>
            <a:endParaRPr lang="en-SG" dirty="0"/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0193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D9AC8ADB-2ABD-F28D-5D14-212A09712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047B7DB7-8421-578B-5350-D3E3CC572D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9  6/7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65F0FF99-50A5-75D9-2A3A-22D6ACE8BD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B0015B70-0A7A-0FC1-4546-DE56EEBDB8B9}"/>
              </a:ext>
            </a:extLst>
          </p:cNvPr>
          <p:cNvSpPr txBox="1"/>
          <p:nvPr/>
        </p:nvSpPr>
        <p:spPr>
          <a:xfrm>
            <a:off x="628650" y="1189971"/>
            <a:ext cx="7778100" cy="2531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Date Range: January 1, 2026 to June 30, 2026. Screenshot the report and write the analysis.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r>
              <a:rPr lang="en-SG" sz="1600" dirty="0"/>
              <a:t>6. Demographics details (Dimension: Interest)</a:t>
            </a:r>
          </a:p>
          <a:p>
            <a:endParaRPr lang="en-SG" sz="1600" dirty="0"/>
          </a:p>
          <a:p>
            <a:pPr lvl="0"/>
            <a:endParaRPr lang="en-SG" sz="1600" dirty="0"/>
          </a:p>
          <a:p>
            <a:pPr lvl="0"/>
            <a:endParaRPr lang="en-SG" sz="16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29DED-DEAD-8110-784E-158B4C6EA0C6}"/>
              </a:ext>
            </a:extLst>
          </p:cNvPr>
          <p:cNvSpPr/>
          <p:nvPr/>
        </p:nvSpPr>
        <p:spPr>
          <a:xfrm>
            <a:off x="684067" y="3560618"/>
            <a:ext cx="8090477" cy="1366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Write your analysis here:</a:t>
            </a:r>
          </a:p>
          <a:p>
            <a:pPr algn="ctr"/>
            <a:endParaRPr lang="en-SG" dirty="0"/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41051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EA65A9E-6C25-B749-BB2A-196DDDF6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064561B8-B76A-3528-193C-FB1370E394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Question 10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7394BF4A-5EE7-163D-8E94-5285F7AC60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2F47B1E4-AEEA-EC2F-2ED7-590AA1EDECB5}"/>
              </a:ext>
            </a:extLst>
          </p:cNvPr>
          <p:cNvSpPr txBox="1"/>
          <p:nvPr/>
        </p:nvSpPr>
        <p:spPr>
          <a:xfrm>
            <a:off x="628650" y="1189971"/>
            <a:ext cx="7778100" cy="367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Create a Free Form Exploration with the following requirements: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Variables Settings: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Exploration Name: OAA FA2 GA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Custom Date Range: July 1, 2026 to September 28, 2026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Segment: SG and MY Traffic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Dimensions: Gender, Device Category, Age, Session Campaign, Town/City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Metrics: New Users, Active Users, Purchase Revenue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Settings: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Segment Comparison: SG and MY Traffic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Rows: Town/City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Start Row: 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Show Rows 10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100" dirty="0"/>
              <a:t>Values: Active Users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92553881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1274</Words>
  <Application>Microsoft Office PowerPoint</Application>
  <PresentationFormat>On-screen Show (16:9)</PresentationFormat>
  <Paragraphs>212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Simple Light</vt:lpstr>
      <vt:lpstr>DM2004 Online Advertising and Analytics  </vt:lpstr>
      <vt:lpstr>Part A: Google Ads Practical Assessment</vt:lpstr>
      <vt:lpstr>Question 1  1/2</vt:lpstr>
      <vt:lpstr>Question 1  2/2</vt:lpstr>
      <vt:lpstr>Question 2  1/2</vt:lpstr>
      <vt:lpstr>Question 2  2/2</vt:lpstr>
      <vt:lpstr>Question 3  1/3</vt:lpstr>
      <vt:lpstr>Question 3  2/3</vt:lpstr>
      <vt:lpstr>Question 3  3/3</vt:lpstr>
      <vt:lpstr>Part B: Facebook Ads Practical Assessment</vt:lpstr>
      <vt:lpstr>Question 4 1/2</vt:lpstr>
      <vt:lpstr>Question 4  2/2</vt:lpstr>
      <vt:lpstr>Question 5 1/2</vt:lpstr>
      <vt:lpstr>Question 5  2/2</vt:lpstr>
      <vt:lpstr>Question 6 1/2</vt:lpstr>
      <vt:lpstr>Question 6  2/2</vt:lpstr>
      <vt:lpstr>Question 7  </vt:lpstr>
      <vt:lpstr>Part C: Google Analytics Practical Assessment</vt:lpstr>
      <vt:lpstr>Question 8  1/3</vt:lpstr>
      <vt:lpstr>Question 8  2/3</vt:lpstr>
      <vt:lpstr>Question 8  3/3</vt:lpstr>
      <vt:lpstr>Question 9  1/7</vt:lpstr>
      <vt:lpstr>Question 9  2/7</vt:lpstr>
      <vt:lpstr>Question 9  3/7</vt:lpstr>
      <vt:lpstr>Question 9  4/7</vt:lpstr>
      <vt:lpstr>Question 9  5/7</vt:lpstr>
      <vt:lpstr>Question 9  6/7</vt:lpstr>
      <vt:lpstr>Question 9  6/7</vt:lpstr>
      <vt:lpstr>Question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Mackie Soque</dc:creator>
  <cp:lastModifiedBy>Marie Chris Soque</cp:lastModifiedBy>
  <cp:revision>118</cp:revision>
  <dcterms:modified xsi:type="dcterms:W3CDTF">2026-09-28T10:20:50Z</dcterms:modified>
</cp:coreProperties>
</file>
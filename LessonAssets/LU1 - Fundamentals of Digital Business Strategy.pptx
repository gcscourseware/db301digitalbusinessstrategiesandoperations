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 Chris Soque" userId="9ebdbcbf79932a9a" providerId="LiveId" clId="{9996B585-DEE5-4E12-AD1C-26FF1EBC02C0}"/>
    <pc:docChg chg="custSel modSld">
      <pc:chgData name="Marie Chris Soque" userId="9ebdbcbf79932a9a" providerId="LiveId" clId="{9996B585-DEE5-4E12-AD1C-26FF1EBC02C0}" dt="2026-09-08T09:24:17.478" v="90" actId="20577"/>
      <pc:docMkLst>
        <pc:docMk/>
      </pc:docMkLst>
      <pc:sldChg chg="modSp mod">
        <pc:chgData name="Marie Chris Soque" userId="9ebdbcbf79932a9a" providerId="LiveId" clId="{9996B585-DEE5-4E12-AD1C-26FF1EBC02C0}" dt="2026-09-08T09:24:17.478" v="90" actId="20577"/>
        <pc:sldMkLst>
          <pc:docMk/>
          <pc:sldMk cId="0" sldId="272"/>
        </pc:sldMkLst>
        <pc:spChg chg="mod">
          <ac:chgData name="Marie Chris Soque" userId="9ebdbcbf79932a9a" providerId="LiveId" clId="{9996B585-DEE5-4E12-AD1C-26FF1EBC02C0}" dt="2026-09-08T09:24:17.478" v="90" actId="20577"/>
          <ac:spMkLst>
            <pc:docMk/>
            <pc:sldMk cId="0" sldId="272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3.png"/><Relationship Id="rId3" Type="http://schemas.openxmlformats.org/officeDocument/2006/relationships/image" Target="../media/image17.png"/><Relationship Id="rId7" Type="http://schemas.openxmlformats.org/officeDocument/2006/relationships/image" Target="../media/image30.png"/><Relationship Id="rId12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1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48.png"/><Relationship Id="rId3" Type="http://schemas.openxmlformats.org/officeDocument/2006/relationships/image" Target="../media/image17.png"/><Relationship Id="rId7" Type="http://schemas.openxmlformats.org/officeDocument/2006/relationships/image" Target="../media/image45.png"/><Relationship Id="rId12" Type="http://schemas.openxmlformats.org/officeDocument/2006/relationships/image" Target="../media/image4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6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2797522"/>
            <a:ext cx="900112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Plus Jakarta Sans"/>
              </a:rPr>
              <a:t>LU1: Fundamentals of Digital Business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4079527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2563EB"/>
                </a:solidFill>
                <a:latin typeface="Inter Medium"/>
              </a:rPr>
              <a:t>Navigating Strategic Transformation, Digital Value Networks &amp; Business Alignment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517" y="2449859"/>
            <a:ext cx="130075" cy="123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415" y="2449859"/>
            <a:ext cx="1300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835943"/>
          <a:ext cx="11029949" cy="3824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8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0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3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Time / 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Topic &amp; Learning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Activity / Delivery Mode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00:00 - 00:15 (15m)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Course Intro &amp; Unit Learning Outcomes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Lecture &amp; Interactive Q&amp;A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00:15 - 00:50 (35m)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LO1:</a:t>
                      </a:r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 Digital Business vs. Traditional E-Commerce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Mini-Lecture (20m) + Activity 1 Case Study (15m)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00:50 - 01:25 (35m)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LO2:</a:t>
                      </a:r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 Linear Business Models vs. Value Networks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Concept Mapping (20m) + Activity 2 Workshop (15m)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01:25 - 01:40 (15m)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 Scheduled Session Break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Networking &amp; Refreshment Break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01:40 - 02:15 (35m)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LO3:</a:t>
                      </a:r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 Enterprise Transformation Drivers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Lecture (20m) + Activity 3 Matrix Analysis (15m)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02:15 - 02:50 (35m)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LO4:</a:t>
                      </a:r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 Alignment, Culture Change &amp; Digital ROI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Strategy Presentation (15m) + Activity 4 ROI Exercise (20m)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4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02:50 - 03:00 (10m)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Summary, Wrap-Up &amp; Key Takeaways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Class Discussion &amp; Next Steps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793206"/>
            <a:ext cx="1980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1332" y="2793206"/>
            <a:ext cx="4098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60058" y="2793206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269456"/>
            <a:ext cx="1980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1332" y="3269456"/>
            <a:ext cx="4098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60058" y="3269456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745706"/>
            <a:ext cx="1980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1332" y="3745706"/>
            <a:ext cx="4098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0058" y="3745706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221956"/>
            <a:ext cx="1980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1332" y="4221956"/>
            <a:ext cx="4098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60058" y="4221956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698206"/>
            <a:ext cx="1980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1332" y="4698206"/>
            <a:ext cx="4098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60058" y="4698206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5174456"/>
            <a:ext cx="1980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1332" y="5174456"/>
            <a:ext cx="4098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60058" y="5174456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782" y="3926681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782" y="3926681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Session Schedule &amp;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2528887"/>
            <a:ext cx="1062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LO1: Core Concepts &amp; Evolution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Explain the key definitions, evolution, and foundational principles of digital business vs. traditional e-commerce.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3138487"/>
            <a:ext cx="1062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LO2: Linear vs Value Networks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Analyze the core operational and strategic differences between traditional linear business models and digital value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748087"/>
            <a:ext cx="1062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LO3: Enterprise Drivers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Identify key market, technological, and customer drivers behind enterprise digital transformation.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357687"/>
            <a:ext cx="1062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LO4: Alignment, Change &amp; ROI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Evaluate methods to align digital initiatives with overarching business goals while managing organizational change and performance ROI.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3175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52775"/>
            <a:ext cx="1905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2375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71975"/>
            <a:ext cx="17145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Unit 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226" y="2516981"/>
            <a:ext cx="1797397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05551" y="2936081"/>
            <a:ext cx="718089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LO1: Digital Business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840956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2350" y="4069556"/>
            <a:ext cx="50673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Definitions, Evolution, and Foundational Strategic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0287"/>
            <a:ext cx="5353050" cy="2895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00287"/>
            <a:ext cx="5353050" cy="2895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576512"/>
            <a:ext cx="3048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2957512"/>
            <a:ext cx="5040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lus Jakarta Sans SemiBold"/>
              </a:rPr>
              <a:t>Traditional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290887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Primary Focus: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Transactional activities focused on buying and selling goods/services online.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33812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Scope: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Outward-facing revenue channel, customer portals, and payment gateway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376737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Value Creation: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Digital storefront facilitating electronic trade and automated sales.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576512"/>
            <a:ext cx="3333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43675" y="2957512"/>
            <a:ext cx="5040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lus Jakarta Sans SemiBold"/>
              </a:rPr>
              <a:t>Holistic Digital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290887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Primary Focus: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End-to-end organizational transformation leveraging modern tech stack.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3833812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Scope: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Integrates internal operations, supply chains, partner ecosystems, and customer touchpoints.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4376737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Value Creation: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Platform-driven capabilities, data monetization, and agile business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Digital Business vs E-Commerce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Evolution of Digital Strategy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14425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From Websites to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47800"/>
            <a:ext cx="53340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The progression of enterprise technology spans three distinct strategic eras: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76412"/>
            <a:ext cx="53340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1. Web Presence (1990s):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Basic information sharing and brochureware.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05025"/>
            <a:ext cx="5334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2. E-Commerce Era (2000s):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Online transactions, CRM integration, and digital marketing.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647950"/>
            <a:ext cx="5334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3. Digital Business (Present):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Platform models, AI automation, cloud systems, and dynamic value ecosystems.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4668"/>
            <a:ext cx="3530649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3064668"/>
            <a:ext cx="3530649" cy="2195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3064668"/>
            <a:ext cx="3530649" cy="2195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35993"/>
            <a:ext cx="2419350" cy="238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569368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SemiBold"/>
              </a:rPr>
              <a:t>Objective: Evaluate a traditional retail enterprise transitioning to a digital business ecosystem.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297906"/>
            <a:ext cx="142875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302793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1. Identify (4 Mins)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Analyze Company X's current model. List 3 functions that are purely </a:t>
            </a:r>
            <a:r>
              <a:rPr sz="1125" b="0" i="1" u="none">
                <a:solidFill>
                  <a:srgbClr val="475569"/>
                </a:solidFill>
                <a:latin typeface="Inter"/>
              </a:rPr>
              <a:t>e-commerce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vs. 3 that reflect a </a:t>
            </a:r>
            <a:r>
              <a:rPr sz="1125" b="0" i="1" u="none">
                <a:solidFill>
                  <a:srgbClr val="475569"/>
                </a:solidFill>
                <a:latin typeface="Inter"/>
              </a:rPr>
              <a:t>digital business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approach.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874" y="3302793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68874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2. Brainstorm (6 Mins)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Propose 2 new digital business capabilities (e.g., IoT data monetization, automated partner API integration).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124" y="3302793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8124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3. Share (5 Mins)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Each group presents 1 key differentiator between their proposed digital business strategy and simple online selling.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3417093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6512" y="3417093"/>
            <a:ext cx="20002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9086" y="3417093"/>
            <a:ext cx="33337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LO1 Activity: Case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701" y="2516981"/>
            <a:ext cx="1816447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50594" y="2936081"/>
            <a:ext cx="6490811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LO2: Digital Value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840956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3650" y="4069556"/>
            <a:ext cx="71247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Analyzing Operational and Strategic Shift from Linear Supply Chains to Ecosystems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50318"/>
          <a:ext cx="11029948" cy="239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10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Strategic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Traditional Linear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Digital Value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10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Sequential value chain (Supplier → Producer → Distributor → Buyer)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Multi-directional matrix &amp; platform ecosystems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10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Customer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Passive consumer at the end of the supply chain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Active co-creator, data source, and ecosystem participant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0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Data 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Siloed, batch-processed, delayed feedback loops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Real-time, continuous cloud data exchange across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10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Scalability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Linear scale tied heavily to physical assets &amp; capital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Exponential scale driven by network effects and software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507581"/>
            <a:ext cx="1868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49562" y="3507581"/>
            <a:ext cx="4878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28148" y="3507581"/>
            <a:ext cx="42828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983831"/>
            <a:ext cx="1868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49562" y="3983831"/>
            <a:ext cx="4878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28148" y="3983831"/>
            <a:ext cx="42828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460081"/>
            <a:ext cx="1868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49562" y="4460081"/>
            <a:ext cx="4878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28148" y="4460081"/>
            <a:ext cx="42828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Linear Models vs Value Networks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4668"/>
            <a:ext cx="3530649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3064668"/>
            <a:ext cx="3530649" cy="2195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3064668"/>
            <a:ext cx="3530649" cy="2195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35993"/>
            <a:ext cx="2466975" cy="238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569368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SemiBold"/>
              </a:rPr>
              <a:t>Objective: Re-engineer a linear business supply chain into a multi-directional digital value network.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297906"/>
            <a:ext cx="133350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302793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1. Map Linear Chain (4 Mins)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Sketch the standard linear flow for a traditional industry (e.g., Automotive, Healthcare, or Logistics).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874" y="3302793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68874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2. Design Network (6 Mins)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Add data nodes, platform partners, third-party developers, and feedback loops into a network mesh.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124" y="3302793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8124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3. Evaluate Value (5 Mins)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Identify where new network effects create exponential value compared to the old linear model.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3417093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3174" y="3417093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2424" y="3417093"/>
            <a:ext cx="2667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LO2 Activity: Network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701" y="2516981"/>
            <a:ext cx="1816447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50594" y="2936081"/>
            <a:ext cx="6490811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LO3: Transformation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840956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4675" y="4069556"/>
            <a:ext cx="596265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Market, Technological, and Customer Forces Shaping Digital Business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0331"/>
            <a:ext cx="3530649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50331"/>
            <a:ext cx="3530649" cy="2195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50331"/>
            <a:ext cx="3530649" cy="2195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88456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517106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Market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5048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New digital entrants, industry disruption, shifting economic pressures, and the imperative for speed-to-market agility.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888456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517106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Tech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85048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Rapid advancement of Cloud Computing, Artificial Intelligence, Big Data Analytics, and IoT infrastructure.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888456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517106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Customer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85048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Demand for hyper-personalized experiences, omnichannel access, instant fulfillment, and transparent interactions.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3002756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3174" y="3002756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9086" y="3002756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Core Drivers of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4668"/>
            <a:ext cx="3530649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3064668"/>
            <a:ext cx="3530649" cy="2195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3064668"/>
            <a:ext cx="3530649" cy="2195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35993"/>
            <a:ext cx="2390775" cy="238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569368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SemiBold"/>
              </a:rPr>
              <a:t>Objective: Rank and categorize external transformation drivers for a selected industry scenario.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297906"/>
            <a:ext cx="114300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302793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1. Categorize (4 Mins)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List the top 2 Market, Tech, and Customer drivers affecting your assigned industry sector.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874" y="3302793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68874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2. Prioritize (6 Mins)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42648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Plot drivers on an Impact vs. Urgency matrix to determine immediate strategic focus areas.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124" y="3302793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8124" y="39314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3. Present (5 Mins)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4264818"/>
            <a:ext cx="305439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Defend your #1 driver selection and explain why failing to adapt creates competitive risk.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3417093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4124" y="3417093"/>
            <a:ext cx="3048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2424" y="3417093"/>
            <a:ext cx="2667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LO3 Activity: Driver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939" y="2516981"/>
            <a:ext cx="1825972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30554" y="2936081"/>
            <a:ext cx="7130891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LO4: Alignment, Change &amp; 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840956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1300" y="4069556"/>
            <a:ext cx="66294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Executing Digital Strategy, Managing Culture, and Quantifying Financial 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2250"/>
            <a:ext cx="535305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762250"/>
            <a:ext cx="5353050" cy="1971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3914775"/>
            <a:ext cx="4800600" cy="5298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038475"/>
            <a:ext cx="5040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lus Jakarta Sans SemiBold"/>
              </a:rPr>
              <a:t>Organizational &amp; Goal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71850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Strategic Mapping: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Connect digital KPIs directly to enterprise revenue, cost reduction, and market share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14775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Change Management: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Address cultural resistance through continuous upskilling, clear communication, and leadership advocacy.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038475"/>
            <a:ext cx="5040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lus Jakarta Sans SemiBold"/>
              </a:rPr>
              <a:t>Evaluating Performance &amp;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371850"/>
            <a:ext cx="4800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Multi-Metric Framework: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Measure short-term operational efficiency alongside long-term strategic value and enterprise agility.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141" y="4067175"/>
            <a:ext cx="2899618" cy="2250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Strategic Alignment &amp; ROI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LO4 Activity: ROI Strategy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4425"/>
            <a:ext cx="5334000" cy="238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447800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Digital Business Case &amp; Change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81175"/>
            <a:ext cx="5334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Task 1 (8 Mins):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Calculate expected Digital ROI for a $500k cloud transformation producing $1.2M in cumulative efficiency gains.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324100"/>
            <a:ext cx="5334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Task 2 (7 Mins):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Outline a 3-step cultural change program to overcome staff resistance to new automated AI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867025"/>
            <a:ext cx="53340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Task 3 (5 Mins):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Present proposed alignment metrics to the executive board.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1176337"/>
            <a:ext cx="8572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605087"/>
            <a:ext cx="116014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0F172A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71862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End of LU1: Fundamentals of Digital Business Strategy (180 Mins Completed)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52887"/>
            <a:ext cx="11049000" cy="207749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2563EB"/>
                </a:solidFill>
                <a:latin typeface="Inter SemiBold"/>
              </a:rPr>
              <a:t>Next: </a:t>
            </a:r>
            <a:r>
              <a:rPr lang="en-SG" sz="1350" dirty="0">
                <a:solidFill>
                  <a:srgbClr val="2563EB"/>
                </a:solidFill>
                <a:latin typeface="Inter SemiBold"/>
              </a:rPr>
              <a:t>LU2</a:t>
            </a:r>
            <a:r>
              <a:rPr sz="1350" b="0" i="0" u="none" dirty="0">
                <a:solidFill>
                  <a:srgbClr val="2563EB"/>
                </a:solidFill>
                <a:latin typeface="Inter SemiBold"/>
              </a:rPr>
              <a:t> </a:t>
            </a:r>
            <a:r>
              <a:rPr lang="en-SG" sz="1350" b="0" i="0" u="none" dirty="0">
                <a:solidFill>
                  <a:srgbClr val="2563EB"/>
                </a:solidFill>
                <a:latin typeface="Inter SemiBold"/>
              </a:rPr>
              <a:t>– Strategic Framework </a:t>
            </a:r>
            <a:r>
              <a:rPr lang="en-SG" sz="1350" b="0" i="0" u="none">
                <a:solidFill>
                  <a:srgbClr val="2563EB"/>
                </a:solidFill>
                <a:latin typeface="Inter SemiBold"/>
              </a:rPr>
              <a:t>for Digital Age</a:t>
            </a:r>
            <a:endParaRPr sz="1350" b="0" i="0" u="none" dirty="0">
              <a:solidFill>
                <a:srgbClr val="2563EB"/>
              </a:solidFill>
              <a:latin typeface="Inter SemiBold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712" y="4071937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241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557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557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273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2767012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https://cf-images.us-east-1.prod.boltdns.net/v1/static/6415937670001/09067fad-7d40-4adf-b129-5cf51c9beb35/84d26e1b-e8dd-433b-baf7-80919eae6847/1920x1080/match/image.jpg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18611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corporate.exxonmobil.com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814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709987"/>
            <a:ext cx="995362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get.pxhere.com/photo/discussion-diverse-entrepreneur-european-expertise-expression-financial-group-hands-laptop-man-meeting-network-notebook-people-presentation-startup-strategy-talking-team-teamwork-together-training-vision-westerner-wireless-woman-work-working-workplace-workshop-workspace-communication-collaboration-electronic-device-institution-technology-conversation-public-relations-human-behavior-job-business-business-administration-management-1433625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50056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pxhere.com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1153</Words>
  <Application>Microsoft Office PowerPoint</Application>
  <PresentationFormat>Widescreen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Inter</vt:lpstr>
      <vt:lpstr>Inter Medium</vt:lpstr>
      <vt:lpstr>Inter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Marie Chris Soque</cp:lastModifiedBy>
  <cp:revision>1</cp:revision>
  <dcterms:created xsi:type="dcterms:W3CDTF">2013-01-27T09:14:16Z</dcterms:created>
  <dcterms:modified xsi:type="dcterms:W3CDTF">2026-09-08T09:24:18Z</dcterms:modified>
  <cp:category/>
</cp:coreProperties>
</file>
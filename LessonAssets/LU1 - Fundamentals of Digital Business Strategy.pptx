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8.png"/><Relationship Id="rId4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31.png"/><Relationship Id="rId12" Type="http://schemas.openxmlformats.org/officeDocument/2006/relationships/image" Target="../media/image32.png"/><Relationship Id="rId13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4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Relationship Id="rId9" Type="http://schemas.openxmlformats.org/officeDocument/2006/relationships/image" Target="../media/image41.png"/><Relationship Id="rId10" Type="http://schemas.openxmlformats.org/officeDocument/2006/relationships/image" Target="../media/image42.png"/><Relationship Id="rId11" Type="http://schemas.openxmlformats.org/officeDocument/2006/relationships/image" Target="../media/image4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46.png"/><Relationship Id="rId12" Type="http://schemas.openxmlformats.org/officeDocument/2006/relationships/image" Target="../media/image47.png"/><Relationship Id="rId13" Type="http://schemas.openxmlformats.org/officeDocument/2006/relationships/image" Target="../media/image4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9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95437" y="2797522"/>
            <a:ext cx="9001125" cy="11391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484"/>
              </a:lnSpc>
            </a:pPr>
            <a:r>
              <a:rPr b="1" sz="3900" i="0" u="none">
                <a:solidFill>
                  <a:srgbClr val="0F172A"/>
                </a:solidFill>
                <a:latin typeface="Plus Jakarta Sans"/>
              </a:rPr>
              <a:t>LU1: Fundamentals of Digital Business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09750" y="4079527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b="0" sz="1500" i="0" u="none">
                <a:solidFill>
                  <a:srgbClr val="2563EB"/>
                </a:solidFill>
                <a:latin typeface="Inter Medium"/>
              </a:rPr>
              <a:t>Navigating Strategic Transformation, Digital Value Networks &amp; Business Alignment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7517" y="2449859"/>
            <a:ext cx="130075" cy="1238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9415" y="2449859"/>
            <a:ext cx="130075" cy="12382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1500" y="1835943"/>
          <a:ext cx="11029949" cy="38242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980307"/>
                <a:gridCol w="4098726"/>
                <a:gridCol w="4950916"/>
              </a:tblGrid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FFFFFF"/>
                          </a:solidFill>
                          <a:latin typeface="Plus Jakarta Sans SemiBold"/>
                        </a:rPr>
                        <a:t>Time / Duration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FFFFFF"/>
                          </a:solidFill>
                          <a:latin typeface="Plus Jakarta Sans SemiBold"/>
                        </a:rPr>
                        <a:t>Topic &amp; Learning Focus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FFFFFF"/>
                          </a:solidFill>
                          <a:latin typeface="Plus Jakarta Sans SemiBold"/>
                        </a:rPr>
                        <a:t>Activity / Delivery Mode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</a:tr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00:00 - 00:15 (15m)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Course Intro &amp; Unit Learning Outcomes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Lecture &amp; Interactive Q&amp;A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00:15 - 00:50 (35m)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LO1:</a:t>
                      </a:r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 Digital Business vs. Traditional E-Commerce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Mini-Lecture (20m) + Activity 1 Case Study (15m)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00:50 - 01:25 (35m)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LO2:</a:t>
                      </a:r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 Linear Business Models vs. Value Networks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Concept Mapping (20m) + Activity 2 Workshop (15m)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01:25 - 01:40 (15m)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D97706"/>
                          </a:solidFill>
                          <a:latin typeface="Inter"/>
                        </a:rPr>
                        <a:t> Scheduled Session Break</a:t>
                      </a:r>
                    </a:p>
                  </a:txBody>
                  <a:tcPr anchor="ctr" marL="24765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Networking &amp; Refreshment Break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01:40 - 02:15 (35m)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LO3:</a:t>
                      </a:r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 Enterprise Transformation Drivers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Lecture (20m) + Activity 3 Matrix Analysis (15m)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8035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02:15 - 02:50 (35m)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LO4:</a:t>
                      </a:r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 Alignment, Culture Change &amp; Digital ROI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Strategy Presentation (15m) + Activity 4 ROI Exercise (20m)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478042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02:50 - 03:00 (10m)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Summary, Wrap-Up &amp; Key Takeaways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Class Discussion &amp; Next Steps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81025" y="2793206"/>
            <a:ext cx="198030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1332" y="2793206"/>
            <a:ext cx="4098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60058" y="2793206"/>
            <a:ext cx="495091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1025" y="3269456"/>
            <a:ext cx="198030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1332" y="3269456"/>
            <a:ext cx="4098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60058" y="3269456"/>
            <a:ext cx="495091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1025" y="3745706"/>
            <a:ext cx="198030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1332" y="3745706"/>
            <a:ext cx="4098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60058" y="3745706"/>
            <a:ext cx="495091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1025" y="4221956"/>
            <a:ext cx="198030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1332" y="4221956"/>
            <a:ext cx="4098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60058" y="4221956"/>
            <a:ext cx="495091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025" y="4698206"/>
            <a:ext cx="198030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1332" y="4698206"/>
            <a:ext cx="4098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60058" y="4698206"/>
            <a:ext cx="495091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1025" y="5174456"/>
            <a:ext cx="198030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1332" y="5174456"/>
            <a:ext cx="40987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0058" y="5174456"/>
            <a:ext cx="495091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782" y="3926681"/>
            <a:ext cx="133350" cy="13335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782" y="3926681"/>
            <a:ext cx="133350" cy="1333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Session Schedule &amp; Timeline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90600" y="2528887"/>
            <a:ext cx="10629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1" sz="1200" i="0" u="none">
                <a:solidFill>
                  <a:srgbClr val="0F172A"/>
                </a:solidFill>
                <a:latin typeface="Inter"/>
              </a:rPr>
              <a:t>LO1: Core Concepts &amp; Evolution</a:t>
            </a:r>
            <a:r>
              <a:t>
</a:t>
            </a:r>
            <a:r>
              <a:rPr b="0" sz="1200" i="0" u="none">
                <a:solidFill>
                  <a:srgbClr val="475569"/>
                </a:solidFill>
                <a:latin typeface="Inter"/>
              </a:rPr>
              <a:t> Explain the key definitions, evolution, and foundational principles of digital business vs. traditional e-commerce.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3138487"/>
            <a:ext cx="10629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1" sz="1200" i="0" u="none">
                <a:solidFill>
                  <a:srgbClr val="0F172A"/>
                </a:solidFill>
                <a:latin typeface="Inter"/>
              </a:rPr>
              <a:t>LO2: Linear vs Value Networks</a:t>
            </a:r>
            <a:r>
              <a:t>
</a:t>
            </a:r>
            <a:r>
              <a:rPr b="0" sz="1200" i="0" u="none">
                <a:solidFill>
                  <a:srgbClr val="475569"/>
                </a:solidFill>
                <a:latin typeface="Inter"/>
              </a:rPr>
              <a:t> Analyze the core operational and strategic differences between traditional linear business models and digital value networks.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600" y="3748087"/>
            <a:ext cx="10629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1" sz="1200" i="0" u="none">
                <a:solidFill>
                  <a:srgbClr val="0F172A"/>
                </a:solidFill>
                <a:latin typeface="Inter"/>
              </a:rPr>
              <a:t>LO3: Enterprise Drivers</a:t>
            </a:r>
            <a:r>
              <a:t>
</a:t>
            </a:r>
            <a:r>
              <a:rPr b="0" sz="1200" i="0" u="none">
                <a:solidFill>
                  <a:srgbClr val="475569"/>
                </a:solidFill>
                <a:latin typeface="Inter"/>
              </a:rPr>
              <a:t> Identify key market, technological, and customer drivers behind enterprise digital transformation.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600" y="4357687"/>
            <a:ext cx="106299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1" sz="1200" i="0" u="none">
                <a:solidFill>
                  <a:srgbClr val="0F172A"/>
                </a:solidFill>
                <a:latin typeface="Inter"/>
              </a:rPr>
              <a:t>LO4: Alignment, Change &amp; ROI</a:t>
            </a:r>
            <a:r>
              <a:t>
</a:t>
            </a:r>
            <a:r>
              <a:rPr b="0" sz="1200" i="0" u="none">
                <a:solidFill>
                  <a:srgbClr val="475569"/>
                </a:solidFill>
                <a:latin typeface="Inter"/>
              </a:rPr>
              <a:t> Evaluate methods to align digital initiatives with overarching business goals while managing organizational change and performance ROI.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543175"/>
            <a:ext cx="171450" cy="1809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152775"/>
            <a:ext cx="190500" cy="1809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762375"/>
            <a:ext cx="171450" cy="1809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371975"/>
            <a:ext cx="171450" cy="1809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Unit 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226" y="2516981"/>
            <a:ext cx="1797397" cy="266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05551" y="2936081"/>
            <a:ext cx="7180897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3600" i="0" u="none">
                <a:solidFill>
                  <a:srgbClr val="FFFFFF"/>
                </a:solidFill>
                <a:latin typeface="Plus Jakarta Sans"/>
              </a:rPr>
              <a:t>LO1: Digital Business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40956"/>
            <a:ext cx="7620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2350" y="4069556"/>
            <a:ext cx="5067300" cy="271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b="0" sz="1425" i="0" u="none">
                <a:solidFill>
                  <a:srgbClr val="94A3B8"/>
                </a:solidFill>
                <a:latin typeface="Inter"/>
              </a:rPr>
              <a:t>Definitions, Evolution, and Foundational Strategic Principles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00287"/>
            <a:ext cx="5353050" cy="2895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2300287"/>
            <a:ext cx="5353050" cy="2895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2576512"/>
            <a:ext cx="304800" cy="266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7725" y="2957512"/>
            <a:ext cx="504063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2563EB"/>
                </a:solidFill>
                <a:latin typeface="Plus Jakarta Sans SemiBold"/>
              </a:rPr>
              <a:t>Traditional E-Commerce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3290887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Primary Focus: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Transactional activities focused on buying and selling goods/services online.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833812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Scope: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Outward-facing revenue channel, customer portals, and payment gateway integration.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376737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Value Creation: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Digital storefront facilitating electronic trade and automated sales.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675" y="2576512"/>
            <a:ext cx="333375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43675" y="2957512"/>
            <a:ext cx="504063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2563EB"/>
                </a:solidFill>
                <a:latin typeface="Plus Jakarta Sans SemiBold"/>
              </a:rPr>
              <a:t>Holistic Digital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3675" y="3290887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Primary Focus: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End-to-end organizational transformation leveraging modern tech stack.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3675" y="3833812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Scope: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Integrates internal operations, supply chains, partner ecosystems, and customer touchpoints.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675" y="4376737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Value Creation: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Platform-driven capabilities, data monetization, and agile business models.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Digital Business vs E-Commerce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560070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Evolution of Digital Strategy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1114425"/>
            <a:ext cx="560070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From Websites to Ecosystems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447800"/>
            <a:ext cx="533400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The progression of enterprise technology spans three distinct strategic eras: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776412"/>
            <a:ext cx="533400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1. Web Presence (1990s):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Basic information sharing and brochureware.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105025"/>
            <a:ext cx="5334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2. E-Commerce Era (2000s):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Online transactions, CRM integration, and digital marketing.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647950"/>
            <a:ext cx="5334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3. Digital Business (Present):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Platform models, AI automation, cloud systems, and dynamic value ecosystems.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064668"/>
            <a:ext cx="3530649" cy="21955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3064668"/>
            <a:ext cx="3530649" cy="21955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3064668"/>
            <a:ext cx="3530649" cy="21955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235993"/>
            <a:ext cx="2419350" cy="238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2569368"/>
            <a:ext cx="1104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1E293B"/>
                </a:solidFill>
                <a:latin typeface="Inter SemiBold"/>
              </a:rPr>
              <a:t>Objective: Evaluate a traditional retail enterprise transitioning to a digital business ecosystem.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25" y="2297906"/>
            <a:ext cx="142875" cy="114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" y="3302793"/>
            <a:ext cx="495300" cy="495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625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1. Identify (4 Mins)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Analyze Company X's current model. List 3 functions that are purely </a:t>
            </a:r>
            <a:r>
              <a:rPr b="0" sz="1125" i="1" u="none">
                <a:solidFill>
                  <a:srgbClr val="475569"/>
                </a:solidFill>
                <a:latin typeface="Inter"/>
              </a:rPr>
              <a:t>e-commerce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vs. 3 that reflect a </a:t>
            </a:r>
            <a:r>
              <a:rPr b="0" sz="1125" i="1" u="none">
                <a:solidFill>
                  <a:srgbClr val="475569"/>
                </a:solidFill>
                <a:latin typeface="Inter"/>
              </a:rPr>
              <a:t>digital business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approach.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8874" y="3302793"/>
            <a:ext cx="495300" cy="495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68874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2. Brainstorm (6 Mins)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8874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Propose 2 new digital business capabilities (e.g., IoT data monetization, automated partner API integration).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8124" y="3302793"/>
            <a:ext cx="495300" cy="495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28124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3. Share (5 Mins)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8124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Each group presents 1 key differentiator between their proposed digital business strategy and simple online selling.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3925" y="3417093"/>
            <a:ext cx="266700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6512" y="3417093"/>
            <a:ext cx="200025" cy="2667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09086" y="3417093"/>
            <a:ext cx="333375" cy="266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LO1 Activity: Case Study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701" y="2516981"/>
            <a:ext cx="1816447" cy="266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0594" y="2936081"/>
            <a:ext cx="6490811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3600" i="0" u="none">
                <a:solidFill>
                  <a:srgbClr val="FFFFFF"/>
                </a:solidFill>
                <a:latin typeface="Plus Jakarta Sans"/>
              </a:rPr>
              <a:t>LO2: Digital Value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40956"/>
            <a:ext cx="7620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3650" y="4069556"/>
            <a:ext cx="7124700" cy="271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b="0" sz="1425" i="0" u="none">
                <a:solidFill>
                  <a:srgbClr val="94A3B8"/>
                </a:solidFill>
                <a:latin typeface="Inter"/>
              </a:rPr>
              <a:t>Analyzing Operational and Strategic Shift from Linear Supply Chains to Ecosystems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1500" y="2550318"/>
          <a:ext cx="11029948" cy="23955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  <a:lnL>
                  <a:noFill/>
                </a:lnL>
                <a:lnR>
                  <a:noFill/>
                </a:lnR>
                <a:lnT>
                  <a:noFill/>
                </a:lnT>
                <a:lnB>
                  <a:noFill/>
                </a:lnB>
                <a:lnV>
                  <a:noFill/>
                </a:lnV>
                <a:lnH>
                  <a:noFill/>
                </a:lnH>
              </a:tblPr>
              <a:tblGrid>
                <a:gridCol w="1868537"/>
                <a:gridCol w="4878585"/>
                <a:gridCol w="4282826"/>
              </a:tblGrid>
              <a:tr h="479107"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FFFFFF"/>
                          </a:solidFill>
                          <a:latin typeface="Plus Jakarta Sans SemiBold"/>
                        </a:rPr>
                        <a:t>Strategic Dimension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FFFFFF"/>
                          </a:solidFill>
                          <a:latin typeface="Plus Jakarta Sans SemiBold"/>
                        </a:rPr>
                        <a:t>Traditional Linear Model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125" i="0" u="none">
                          <a:solidFill>
                            <a:srgbClr val="FFFFFF"/>
                          </a:solidFill>
                          <a:latin typeface="Plus Jakarta Sans SemiBold"/>
                        </a:rPr>
                        <a:t>Digital Value Network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F172A"/>
                    </a:solidFill>
                  </a:tcPr>
                </a:tc>
              </a:tr>
              <a:tr h="479107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Structure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Sequential value chain (Supplier → Producer → Distributor → Buyer)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Multi-directional matrix &amp; platform ecosystems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9107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Customer Role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Passive consumer at the end of the supply chain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Active co-creator, data source, and ecosystem participant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  <a:tr h="479107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Data Flow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Siloed, batch-processed, delayed feedback loops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Real-time, continuous cloud data exchange across network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9109">
                <a:tc>
                  <a:txBody>
                    <a:bodyPr/>
                    <a:lstStyle/>
                    <a:p>
                      <a:pPr algn="l"/>
                      <a:r>
                        <a:rPr b="1" sz="1050" i="0" u="none">
                          <a:solidFill>
                            <a:srgbClr val="475569"/>
                          </a:solidFill>
                          <a:latin typeface="Inter"/>
                        </a:rPr>
                        <a:t>Scalability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Linear scale tied heavily to physical assets &amp; capital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50" i="0" u="none">
                          <a:solidFill>
                            <a:srgbClr val="475569"/>
                          </a:solidFill>
                          <a:latin typeface="Inter"/>
                        </a:rPr>
                        <a:t>Exponential scale driven by network effects and software</a:t>
                      </a:r>
                    </a:p>
                  </a:txBody>
                  <a:tcPr anchor="ctr" marL="63500" marR="63500" marT="25400" marB="254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581025" y="3507581"/>
            <a:ext cx="18685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449562" y="3507581"/>
            <a:ext cx="48785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28148" y="3507581"/>
            <a:ext cx="42828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1025" y="3983831"/>
            <a:ext cx="18685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49562" y="3983831"/>
            <a:ext cx="48785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28148" y="3983831"/>
            <a:ext cx="42828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1025" y="4460081"/>
            <a:ext cx="1868537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49562" y="4460081"/>
            <a:ext cx="487858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28148" y="4460081"/>
            <a:ext cx="4282826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Linear Models vs Value Networks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064668"/>
            <a:ext cx="3530649" cy="21955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3064668"/>
            <a:ext cx="3530649" cy="21955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3064668"/>
            <a:ext cx="3530649" cy="21955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235993"/>
            <a:ext cx="2466975" cy="238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2569368"/>
            <a:ext cx="1104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1E293B"/>
                </a:solidFill>
                <a:latin typeface="Inter SemiBold"/>
              </a:rPr>
              <a:t>Objective: Re-engineer a linear business supply chain into a multi-directional digital value network.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25" y="2297906"/>
            <a:ext cx="133350" cy="114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" y="3302793"/>
            <a:ext cx="495300" cy="495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625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1. Map Linear Chain (4 Mins)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Sketch the standard linear flow for a traditional industry (e.g., Automotive, Healthcare, or Logistics).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8874" y="3302793"/>
            <a:ext cx="495300" cy="495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68874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2. Design Network (6 Mins)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8874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Add data nodes, platform partners, third-party developers, and feedback loops into a network mesh.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8124" y="3302793"/>
            <a:ext cx="495300" cy="495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28124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3. Evaluate Value (5 Mins)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8124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Identify where new network effects create exponential value compared to the old linear model.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3925" y="3417093"/>
            <a:ext cx="266700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83174" y="3417093"/>
            <a:ext cx="266700" cy="2667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42424" y="3417093"/>
            <a:ext cx="266700" cy="266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LO2 Activity: Network Mapping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7701" y="2516981"/>
            <a:ext cx="1816447" cy="266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0594" y="2936081"/>
            <a:ext cx="6490811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3600" i="0" u="none">
                <a:solidFill>
                  <a:srgbClr val="FFFFFF"/>
                </a:solidFill>
                <a:latin typeface="Plus Jakarta Sans"/>
              </a:rPr>
              <a:t>LO3: Transformation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40956"/>
            <a:ext cx="7620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14675" y="4069556"/>
            <a:ext cx="5962650" cy="271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b="0" sz="1425" i="0" u="none">
                <a:solidFill>
                  <a:srgbClr val="94A3B8"/>
                </a:solidFill>
                <a:latin typeface="Inter"/>
              </a:rPr>
              <a:t>Market, Technological, and Customer Forces Shaping Digital Business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50331"/>
            <a:ext cx="3530649" cy="21955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650331"/>
            <a:ext cx="3530649" cy="21955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2650331"/>
            <a:ext cx="3530649" cy="21955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625" y="2888456"/>
            <a:ext cx="495300" cy="495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9625" y="3517106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Market Drivers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625" y="3850481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New digital entrants, industry disruption, shifting economic pressures, and the imperative for speed-to-market agility.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8874" y="2888456"/>
            <a:ext cx="495300" cy="495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68874" y="3517106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Tech 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8874" y="3850481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Rapid advancement of Cloud Computing, Artificial Intelligence, Big Data Analytics, and IoT infrastructure.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28124" y="2888456"/>
            <a:ext cx="495300" cy="495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8124" y="3517106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Customer Drivers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8124" y="3850481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Demand for hyper-personalized experiences, omnichannel access, instant fulfillment, and transparent interactions.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925" y="3002756"/>
            <a:ext cx="266700" cy="2667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83174" y="3002756"/>
            <a:ext cx="266700" cy="2667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09086" y="3002756"/>
            <a:ext cx="333375" cy="2667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Core Drivers of Change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064668"/>
            <a:ext cx="3530649" cy="2195512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3064668"/>
            <a:ext cx="3530649" cy="2195512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9999" y="3064668"/>
            <a:ext cx="3530649" cy="21955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235993"/>
            <a:ext cx="2390775" cy="238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2569368"/>
            <a:ext cx="11049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1E293B"/>
                </a:solidFill>
                <a:latin typeface="Inter SemiBold"/>
              </a:rPr>
              <a:t>Objective: Rank and categorize external transformation drivers for a selected industry scenario.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25" y="2297906"/>
            <a:ext cx="114300" cy="1143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9625" y="3302793"/>
            <a:ext cx="495300" cy="495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9625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1. Categorize (4 Mins)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List the top 2 Market, Tech, and Customer drivers affecting your assigned industry sector.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68874" y="3302793"/>
            <a:ext cx="495300" cy="4953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68874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2. Prioritize (6 Mins)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8874" y="4264818"/>
            <a:ext cx="3054399" cy="6429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Plot drivers on an Impact vs. Urgency matrix to determine immediate strategic focus areas.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28124" y="3302793"/>
            <a:ext cx="495300" cy="495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328124" y="3931443"/>
            <a:ext cx="3207119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3. Present (5 Mins)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8124" y="4264818"/>
            <a:ext cx="3054399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0" sz="1125" i="0" u="none">
                <a:solidFill>
                  <a:srgbClr val="475569"/>
                </a:solidFill>
                <a:latin typeface="Inter"/>
              </a:rPr>
              <a:t>Defend your #1 driver selection and explain why failing to adapt creates competitive risk.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3925" y="3417093"/>
            <a:ext cx="266700" cy="2667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64124" y="3417093"/>
            <a:ext cx="304800" cy="2667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42424" y="3417093"/>
            <a:ext cx="266700" cy="2667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LO3 Activity: Driver Analysis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2939" y="2516981"/>
            <a:ext cx="1825972" cy="266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30554" y="2936081"/>
            <a:ext cx="7130891" cy="581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3600" i="0" u="none">
                <a:solidFill>
                  <a:srgbClr val="FFFFFF"/>
                </a:solidFill>
                <a:latin typeface="Plus Jakarta Sans"/>
              </a:rPr>
              <a:t>LO4: Alignment, Change &amp; ROI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40956"/>
            <a:ext cx="7620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81300" y="4069556"/>
            <a:ext cx="6629400" cy="2714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37"/>
              </a:lnSpc>
            </a:pPr>
            <a:r>
              <a:rPr b="0" sz="1425" i="0" u="none">
                <a:solidFill>
                  <a:srgbClr val="94A3B8"/>
                </a:solidFill>
                <a:latin typeface="Inter"/>
              </a:rPr>
              <a:t>Executing Digital Strategy, Managing Culture, and Quantifying Financial Value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62250"/>
            <a:ext cx="5353050" cy="19716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2762250"/>
            <a:ext cx="5353050" cy="19716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3675" y="3914775"/>
            <a:ext cx="4800600" cy="5298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7725" y="3038475"/>
            <a:ext cx="504063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2563EB"/>
                </a:solidFill>
                <a:latin typeface="Plus Jakarta Sans SemiBold"/>
              </a:rPr>
              <a:t>Organizational &amp; Goal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7725" y="3371850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Strategic Mapping: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Connect digital KPIs directly to enterprise revenue, cost reduction, and market share goals.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914775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Change Management: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Address cultural resistance through continuous upskilling, clear communication, and leadership advocacy.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3675" y="3038475"/>
            <a:ext cx="504063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2563EB"/>
                </a:solidFill>
                <a:latin typeface="Plus Jakarta Sans SemiBold"/>
              </a:rPr>
              <a:t>Evaluating Performance &amp; ROI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43675" y="3371850"/>
            <a:ext cx="48006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Multi-Metric Framework: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Measure short-term operational efficiency alongside long-term strategic value and enterprise agility.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3141" y="4067175"/>
            <a:ext cx="2899618" cy="2250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Strategic Alignment &amp; ROI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560070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LO4 Activity: ROI Strategy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0"/>
            <a:ext cx="59055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114425"/>
            <a:ext cx="5334000" cy="2381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447800"/>
            <a:ext cx="5600700" cy="2381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500" i="0" u="none">
                <a:solidFill>
                  <a:srgbClr val="1E293B"/>
                </a:solidFill>
                <a:latin typeface="Plus Jakarta Sans SemiBold"/>
              </a:rPr>
              <a:t>Digital Business Case &amp; Change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781175"/>
            <a:ext cx="5334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Task 1 (8 Mins):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Calculate expected Digital ROI for a $500k cloud transformation producing $1.2M in cumulative efficiency gains.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324100"/>
            <a:ext cx="5334000" cy="4286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Task 2 (7 Mins):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Outline a 3-step cultural change program to overcome staff resistance to new automated AI workflows.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2867025"/>
            <a:ext cx="5334000" cy="214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b="1" sz="1125" i="0" u="none">
                <a:solidFill>
                  <a:srgbClr val="475569"/>
                </a:solidFill>
                <a:latin typeface="Inter"/>
              </a:rPr>
              <a:t>Task 3 (5 Mins):</a:t>
            </a:r>
            <a:r>
              <a:rPr b="0" sz="1125" i="0" u="none">
                <a:solidFill>
                  <a:srgbClr val="475569"/>
                </a:solidFill>
                <a:latin typeface="Inter"/>
              </a:rPr>
              <a:t> Present proposed alignment metrics to the executive board.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25" y="1176337"/>
            <a:ext cx="85725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5275" y="2605087"/>
            <a:ext cx="11601450" cy="7143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4500" i="0" u="none">
                <a:solidFill>
                  <a:srgbClr val="0F172A"/>
                </a:solidFill>
                <a:latin typeface="Plus Jakarta Sans"/>
              </a:rPr>
              <a:t>Questions &amp;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3471862"/>
            <a:ext cx="11049000" cy="3143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b="0" sz="1650" i="0" u="none">
                <a:solidFill>
                  <a:srgbClr val="475569"/>
                </a:solidFill>
                <a:latin typeface="Inter"/>
              </a:rPr>
              <a:t>End of LU1: Fundamentals of Digital Business Strategy (180 Mins Completed)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052887"/>
            <a:ext cx="11049000" cy="200025"/>
          </a:xfrm>
          <a:prstGeom prst="rect">
            <a:avLst/>
          </a:prstGeom>
          <a:noFill/>
        </p:spPr>
        <p:txBody>
          <a:bodyPr wrap="square" lIns="19050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2563EB"/>
                </a:solidFill>
                <a:latin typeface="Inter SemiBold"/>
              </a:rPr>
              <a:t>Next: Module 2 - Digital Transformation Architecture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5712" y="4071937"/>
            <a:ext cx="190500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2624137"/>
            <a:ext cx="11049000" cy="9429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35575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355758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852737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66875" y="2767012"/>
            <a:ext cx="9953625" cy="371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475569"/>
                </a:solidFill>
                <a:latin typeface="Inter"/>
              </a:rPr>
              <a:t>https://cf-images.us-east-1.prod.boltdns.net/v1/static/6415937670001/09067fad-7d40-4adf-b129-5cf51c9beb35/84d26e1b-e8dd-433b-baf7-80919eae6847/1920x1080/match/image.jpg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3186112"/>
            <a:ext cx="99536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corporate.exxonmobil.com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981450"/>
            <a:ext cx="857250" cy="476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666875" y="3709987"/>
            <a:ext cx="9953625" cy="742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b="0" sz="975" i="0" u="none">
                <a:solidFill>
                  <a:srgbClr val="475569"/>
                </a:solidFill>
                <a:latin typeface="Inter"/>
              </a:rPr>
              <a:t>https://get.pxhere.com/photo/discussion-diverse-entrepreneur-european-expertise-expression-financial-group-hands-laptop-man-meeting-network-notebook-people-presentation-startup-strategy-talking-team-teamwork-together-training-vision-westerner-wireless-woman-work-working-workplace-workshop-workspace-communication-collaboration-electronic-device-institution-technology-conversation-public-relations-human-behavior-job-business-business-administration-management-1433625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4500562"/>
            <a:ext cx="995362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b="0" sz="120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Inter"/>
              </a:rPr>
              <a:t>pxhere.com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" y="476250"/>
            <a:ext cx="11601450" cy="4095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2550" i="0" u="none">
                <a:solidFill>
                  <a:srgbClr val="0F172A"/>
                </a:solidFill>
                <a:latin typeface="Plus Jakarta Sans"/>
              </a:rPr>
              <a:t>Image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
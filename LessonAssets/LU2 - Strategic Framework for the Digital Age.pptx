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Inter" panose="020B0604020202020204" charset="0"/>
      <p:regular r:id="rId18"/>
      <p:bold r:id="rId19"/>
      <p:italic r:id="rId20"/>
      <p:boldItalic r:id="rId21"/>
    </p:embeddedFont>
    <p:embeddedFont>
      <p:font typeface="Inter SemiBold" panose="020B0604020202020204" charset="0"/>
      <p:regular r:id="rId22"/>
      <p:bold r:id="rId23"/>
      <p:italic r:id="rId24"/>
      <p:boldItalic r:id="rId25"/>
    </p:embeddedFont>
    <p:embeddedFont>
      <p:font typeface="Plus Jakarta Sans" panose="020B0604020202020204" charset="0"/>
      <p:regular r:id="rId26"/>
      <p:bold r:id="rId27"/>
      <p:italic r:id="rId28"/>
      <p:boldItalic r:id="rId29"/>
    </p:embeddedFont>
    <p:embeddedFont>
      <p:font typeface="Plus Jakarta Sans ExtraBold" panose="020B0604020202020204" charset="0"/>
      <p:bold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6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6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6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4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4.png"/><Relationship Id="rId3" Type="http://schemas.openxmlformats.org/officeDocument/2006/relationships/image" Target="../media/image6.png"/><Relationship Id="rId7" Type="http://schemas.openxmlformats.org/officeDocument/2006/relationships/image" Target="../media/image49.png"/><Relationship Id="rId12" Type="http://schemas.openxmlformats.org/officeDocument/2006/relationships/image" Target="../media/image5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image" Target="../media/image36.png"/><Relationship Id="rId5" Type="http://schemas.openxmlformats.org/officeDocument/2006/relationships/image" Target="../media/image47.png"/><Relationship Id="rId15" Type="http://schemas.openxmlformats.org/officeDocument/2006/relationships/image" Target="../media/image56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Relationship Id="rId14" Type="http://schemas.openxmlformats.org/officeDocument/2006/relationships/image" Target="../media/image5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6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3" Type="http://schemas.openxmlformats.org/officeDocument/2006/relationships/image" Target="../media/image6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5" Type="http://schemas.openxmlformats.org/officeDocument/2006/relationships/image" Target="../media/image73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Relationship Id="rId14" Type="http://schemas.openxmlformats.org/officeDocument/2006/relationships/image" Target="../media/image7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6.pn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7.png"/><Relationship Id="rId3" Type="http://schemas.openxmlformats.org/officeDocument/2006/relationships/image" Target="../media/image6.png"/><Relationship Id="rId7" Type="http://schemas.openxmlformats.org/officeDocument/2006/relationships/image" Target="../media/image82.png"/><Relationship Id="rId12" Type="http://schemas.openxmlformats.org/officeDocument/2006/relationships/image" Target="../media/image8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11" Type="http://schemas.openxmlformats.org/officeDocument/2006/relationships/image" Target="../media/image70.png"/><Relationship Id="rId5" Type="http://schemas.openxmlformats.org/officeDocument/2006/relationships/image" Target="../media/image80.pn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875" y="4368998"/>
            <a:ext cx="8096250" cy="7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23875" y="2212776"/>
            <a:ext cx="9001125" cy="1051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LU2: Strategic Frameworks for the Digital Age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523875" y="3416498"/>
            <a:ext cx="7810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Mastering modern analytical tools, platform dynamics, digital value chains, and transformation maturity roadmaps.</a:t>
            </a:r>
            <a:endParaRPr dirty="0"/>
          </a:p>
        </p:txBody>
      </p:sp>
      <p:pic>
        <p:nvPicPr>
          <p:cNvPr id="90" name="Google Shape;90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0100" y="460236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28950" y="460236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72050" y="460236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1181100" y="4569023"/>
            <a:ext cx="14097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DELIVERY DURATION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1181100" y="4711898"/>
            <a:ext cx="14097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 Hours (180 Mins)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3409950" y="4569023"/>
            <a:ext cx="11239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SCHEDULED BREAK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3409950" y="4711898"/>
            <a:ext cx="11239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15 Minutes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5353050" y="4569023"/>
            <a:ext cx="26384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STRUCTURE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5353050" y="4711898"/>
            <a:ext cx="26384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 Learning Outcomes + 4 Activities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875" y="1509712"/>
            <a:ext cx="5476875" cy="2147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1509712"/>
            <a:ext cx="5476875" cy="2147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3875" y="3848100"/>
            <a:ext cx="5476875" cy="2147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91250" y="3848100"/>
            <a:ext cx="5476875" cy="2147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23875" y="485775"/>
            <a:ext cx="263723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62000" y="1747837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62000" y="2300287"/>
            <a:ext cx="118586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762000" y="2662237"/>
            <a:ext cx="525065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Adapt Strategic Tools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762000" y="2976562"/>
            <a:ext cx="5000625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Adapt classic tools (SWOT, PESTLE, Porter's 5 Forces) to evaluate digital industry dynamics and platform economies.</a:t>
            </a:r>
            <a:endParaRPr/>
          </a:p>
        </p:txBody>
      </p:sp>
      <p:pic>
        <p:nvPicPr>
          <p:cNvPr id="113" name="Google Shape;113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29375" y="1747837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429375" y="2300287"/>
            <a:ext cx="120491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 txBox="1"/>
          <p:nvPr/>
        </p:nvSpPr>
        <p:spPr>
          <a:xfrm>
            <a:off x="6429375" y="2662237"/>
            <a:ext cx="525065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Digital Value Chains &amp; BMC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429375" y="2976562"/>
            <a:ext cx="5000625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Design and reconfigure digital value chains and Business Model Canvases (BMC) for tech-driven ventures.</a:t>
            </a:r>
            <a:endParaRPr/>
          </a:p>
        </p:txBody>
      </p:sp>
      <p:pic>
        <p:nvPicPr>
          <p:cNvPr id="117" name="Google Shape;117;p14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62000" y="4086225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62000" y="4638675"/>
            <a:ext cx="120491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4"/>
          <p:cNvSpPr txBox="1"/>
          <p:nvPr/>
        </p:nvSpPr>
        <p:spPr>
          <a:xfrm>
            <a:off x="762000" y="5000625"/>
            <a:ext cx="525065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Blue Ocean &amp; Innovation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762000" y="5314950"/>
            <a:ext cx="5000625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Apply Blue Ocean Strategy and disruptive innovation principles to unlock uncontested market space in digital sectors.</a:t>
            </a:r>
            <a:endParaRPr/>
          </a:p>
        </p:txBody>
      </p:sp>
      <p:pic>
        <p:nvPicPr>
          <p:cNvPr id="121" name="Google Shape;121;p14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429375" y="4086225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4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429375" y="4638675"/>
            <a:ext cx="12144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4"/>
          <p:cNvSpPr txBox="1"/>
          <p:nvPr/>
        </p:nvSpPr>
        <p:spPr>
          <a:xfrm>
            <a:off x="6429375" y="5000625"/>
            <a:ext cx="525065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Digital Maturity &amp; Roadmap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6429375" y="5314950"/>
            <a:ext cx="5000625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Utilize digital maturity models and diagnostic tools to benchmark readiness and guide transformation roadmaps.</a:t>
            </a:r>
            <a:endParaRPr/>
          </a:p>
        </p:txBody>
      </p:sp>
      <p:pic>
        <p:nvPicPr>
          <p:cNvPr id="125" name="Google Shape;125;p14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862012" y="1862137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4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6529387" y="1862137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4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876300" y="420052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4" descr="image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6543675" y="420052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4"/>
          <p:cNvSpPr txBox="1"/>
          <p:nvPr/>
        </p:nvSpPr>
        <p:spPr>
          <a:xfrm>
            <a:off x="901898" y="428625"/>
            <a:ext cx="11290101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Overall Unit Learning Outcomes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34037" y="2362200"/>
            <a:ext cx="9239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/>
        </p:nvSpPr>
        <p:spPr>
          <a:xfrm>
            <a:off x="1590436" y="2771775"/>
            <a:ext cx="9011126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LO1: Adapting Strategic Analytical Tools</a:t>
            </a:r>
            <a:endParaRPr/>
          </a:p>
        </p:txBody>
      </p:sp>
      <p:sp>
        <p:nvSpPr>
          <p:cNvPr id="137" name="Google Shape;137;p15"/>
          <p:cNvSpPr/>
          <p:nvPr/>
        </p:nvSpPr>
        <p:spPr>
          <a:xfrm>
            <a:off x="5715000" y="3667125"/>
            <a:ext cx="762000" cy="47625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2524125" y="3905250"/>
            <a:ext cx="71437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Evaluating Platform Economies &amp; Digital Industry Dynamics through Modernized Strategic Frameworks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875" y="2103834"/>
            <a:ext cx="5405437" cy="3298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62687" y="2103834"/>
            <a:ext cx="5405437" cy="3298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3875" y="485775"/>
            <a:ext cx="263723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762000" y="2341959"/>
            <a:ext cx="517564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Shift to Digital Frameworks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762000" y="2656284"/>
            <a:ext cx="4929187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Traditional frameworks were built for linear pipeline businesses. In digital ecosystems, parameters change rapidly:</a:t>
            </a:r>
            <a:endParaRPr/>
          </a:p>
        </p:txBody>
      </p:sp>
      <p:pic>
        <p:nvPicPr>
          <p:cNvPr id="149" name="Google Shape;14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62687" y="2103834"/>
            <a:ext cx="5405437" cy="3298031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990600" y="3270646"/>
            <a:ext cx="4700587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Digital SWOT:</a:t>
            </a: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Focuses on data assets, API ecosystems, and rapid technological obsolescence over traditional physical assets.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990600" y="3827859"/>
            <a:ext cx="4700587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Digital PESTLE:</a:t>
            </a: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Emphasizes algorithmic regulation, cybersecurity mandates, cloud adoption, and ESG tech compliance.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990600" y="4385071"/>
            <a:ext cx="4700587" cy="664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Digital Porter's 5 Forces:</a:t>
            </a: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Incorporates multi-sided market effects, zero-marginal cost threats, and user lock-in through platform network loops.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901898" y="428625"/>
            <a:ext cx="11290101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LO1: Modernizing Classic Strategic Analytical Tools</a:t>
            </a:r>
            <a:endParaRPr/>
          </a:p>
        </p:txBody>
      </p:sp>
      <p:pic>
        <p:nvPicPr>
          <p:cNvPr id="154" name="Google Shape;154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3289696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3846909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4404121"/>
            <a:ext cx="133350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875" y="1888331"/>
            <a:ext cx="11144250" cy="3729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48700" y="2259806"/>
            <a:ext cx="27813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069431"/>
            <a:ext cx="5238750" cy="2309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91250" y="3069431"/>
            <a:ext cx="5238750" cy="2309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23875" y="485775"/>
            <a:ext cx="330398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62000" y="2126456"/>
            <a:ext cx="215741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762000" y="2469356"/>
            <a:ext cx="6930866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Evaluating Platform Network Effects with Digital Porter's 5 Forces</a:t>
            </a:r>
            <a:endParaRPr/>
          </a:p>
        </p:txBody>
      </p:sp>
      <p:pic>
        <p:nvPicPr>
          <p:cNvPr id="169" name="Google Shape;169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829675" y="236458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942975" y="3250406"/>
            <a:ext cx="512064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Task Instructions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6372225" y="3250406"/>
            <a:ext cx="512064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Deliverable &amp; Output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6372225" y="3526631"/>
            <a:ext cx="4876800" cy="413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Produce a 1-page Digital Porter’s Matrix identifying the single greatest structural vulnerability of your assigned platform enterprise.</a:t>
            </a:r>
            <a:endParaRPr/>
          </a:p>
        </p:txBody>
      </p:sp>
      <p:pic>
        <p:nvPicPr>
          <p:cNvPr id="173" name="Google Shape;173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372225" y="4035028"/>
            <a:ext cx="3881437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42975" y="3278981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 txBox="1"/>
          <p:nvPr/>
        </p:nvSpPr>
        <p:spPr>
          <a:xfrm>
            <a:off x="1171575" y="3526631"/>
            <a:ext cx="4648200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Select a major platform venture (e.g., Ride-sharing, Cloud Marketplace, or FinTech App).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1171575" y="4083843"/>
            <a:ext cx="4648200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Map out the </a:t>
            </a:r>
            <a:r>
              <a:rPr lang="en-US" sz="112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Direct &amp; Indirect Network Effects</a:t>
            </a: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strengthening platform retention.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1171575" y="4641056"/>
            <a:ext cx="4648200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Re-evaluate Porter's 5 Forces: Analyze threat of substitutes in a low-friction API environment.</a:t>
            </a:r>
            <a:endParaRPr/>
          </a:p>
        </p:txBody>
      </p:sp>
      <p:pic>
        <p:nvPicPr>
          <p:cNvPr id="178" name="Google Shape;178;p17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372225" y="3278981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7"/>
          <p:cNvSpPr txBox="1"/>
          <p:nvPr/>
        </p:nvSpPr>
        <p:spPr>
          <a:xfrm>
            <a:off x="968573" y="428625"/>
            <a:ext cx="1122342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LO1 Activity: Platform Economy Matrix Workshop</a:t>
            </a:r>
            <a:endParaRPr/>
          </a:p>
        </p:txBody>
      </p:sp>
      <p:pic>
        <p:nvPicPr>
          <p:cNvPr id="180" name="Google Shape;180;p17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42975" y="3545681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7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42975" y="4102893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7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42975" y="4660106"/>
            <a:ext cx="133350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24512" y="2085975"/>
            <a:ext cx="9429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8"/>
          <p:cNvSpPr txBox="1"/>
          <p:nvPr/>
        </p:nvSpPr>
        <p:spPr>
          <a:xfrm>
            <a:off x="645318" y="2495550"/>
            <a:ext cx="10901362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LO2: Digital Value Chains &amp; Business Model Canvas</a:t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5715000" y="3943350"/>
            <a:ext cx="762000" cy="47625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2524125" y="4181475"/>
            <a:ext cx="71437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Reconfiguring Tech-Driven Value Architecture and Scalable Monetization Canvases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875" y="2084784"/>
            <a:ext cx="5405437" cy="3336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62687" y="2084784"/>
            <a:ext cx="5405437" cy="3336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3875" y="485775"/>
            <a:ext cx="301823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23875" y="2084784"/>
            <a:ext cx="29718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/>
        </p:nvSpPr>
        <p:spPr>
          <a:xfrm>
            <a:off x="6500812" y="2322909"/>
            <a:ext cx="517564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Value Architecture Shifts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6729412" y="2732484"/>
            <a:ext cx="4700587" cy="664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Linear to Ecosystem Value Chains:</a:t>
            </a: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Shifting from supplier-to-customer pipes to automated ecosystem loops with third-party integrators.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6729412" y="3511153"/>
            <a:ext cx="4700587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Key Resources:</a:t>
            </a: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Data assets, machine learning models, cloud infrastructure, and proprietary algorithms replace physical hardware.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6729412" y="4068365"/>
            <a:ext cx="4700587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Cost Structure Optimization:</a:t>
            </a: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Shifting high CapEx to operational cloud OpEx with near-zero marginal cost of scaling.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6729412" y="4625578"/>
            <a:ext cx="4700587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Revenue Streams:</a:t>
            </a: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Subscription (SaaS), freemium usage, marketplace transaction take-rates, and data monetization.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939998" y="428625"/>
            <a:ext cx="11252001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LO2: Reconfiguring Digital Value Chains &amp; BMC</a:t>
            </a:r>
            <a:endParaRPr/>
          </a:p>
        </p:txBody>
      </p:sp>
      <p:pic>
        <p:nvPicPr>
          <p:cNvPr id="207" name="Google Shape;207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00812" y="2751534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00812" y="3530203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00812" y="4087415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00812" y="4644628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5C177DF-5B1A-7B56-F0AB-CE4E718FDEF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2566" y="2103555"/>
            <a:ext cx="5756746" cy="32985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875" y="2174378"/>
            <a:ext cx="11144250" cy="3156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43900" y="2545853"/>
            <a:ext cx="30861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355478"/>
            <a:ext cx="3403550" cy="1137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94150" y="3355478"/>
            <a:ext cx="3403550" cy="1137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26300" y="3355478"/>
            <a:ext cx="3403699" cy="1137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23875" y="485775"/>
            <a:ext cx="263723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62000" y="4683472"/>
            <a:ext cx="10668000" cy="40957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0"/>
          <p:cNvSpPr txBox="1"/>
          <p:nvPr/>
        </p:nvSpPr>
        <p:spPr>
          <a:xfrm>
            <a:off x="962025" y="4807297"/>
            <a:ext cx="24765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SCHEDULED REFRESHMENT BREAK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8067675" y="4807297"/>
            <a:ext cx="31623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15 Minutes Duration (Following LO2 Completion)</a:t>
            </a:r>
            <a:endParaRPr/>
          </a:p>
        </p:txBody>
      </p:sp>
      <p:pic>
        <p:nvPicPr>
          <p:cNvPr id="225" name="Google Shape;225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62000" y="2412503"/>
            <a:ext cx="20097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0"/>
          <p:cNvSpPr txBox="1"/>
          <p:nvPr/>
        </p:nvSpPr>
        <p:spPr>
          <a:xfrm>
            <a:off x="762000" y="2755403"/>
            <a:ext cx="6050756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Transforming a Legacy Enterprise into a Tech-Driven BMC</a:t>
            </a:r>
            <a:endParaRPr/>
          </a:p>
        </p:txBody>
      </p:sp>
      <p:pic>
        <p:nvPicPr>
          <p:cNvPr id="227" name="Google Shape;227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524875" y="2650628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0"/>
          <p:cNvSpPr txBox="1"/>
          <p:nvPr/>
        </p:nvSpPr>
        <p:spPr>
          <a:xfrm>
            <a:off x="923925" y="3517403"/>
            <a:ext cx="323368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1: Scenario Brief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923925" y="3755528"/>
            <a:ext cx="3079700" cy="383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Take a traditional brick-and-mortar logistics or retail company struggling with traditional overhead.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4556075" y="3517403"/>
            <a:ext cx="323368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2: Canvas Re-design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4556075" y="3755528"/>
            <a:ext cx="3079700" cy="575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Pivot 3 core building blocks: Channel (API/App), Value Proposition (AI personalization), and Revenue (Subscription).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8188225" y="3517403"/>
            <a:ext cx="3233841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3: Pitch &amp; Defend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8188225" y="3755528"/>
            <a:ext cx="3079849" cy="383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Present your transformed digital value chain to peers, demonstrating lower operational drag.</a:t>
            </a:r>
            <a:endParaRPr/>
          </a:p>
        </p:txBody>
      </p:sp>
      <p:pic>
        <p:nvPicPr>
          <p:cNvPr id="234" name="Google Shape;234;p2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62025" y="4826347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0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23925" y="3545978"/>
            <a:ext cx="180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0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556075" y="3545978"/>
            <a:ext cx="1619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0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188225" y="3545978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0"/>
          <p:cNvSpPr txBox="1"/>
          <p:nvPr/>
        </p:nvSpPr>
        <p:spPr>
          <a:xfrm>
            <a:off x="901898" y="428625"/>
            <a:ext cx="11290101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LO2 Activity: Reengineering Tech Business Model Canvas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24512" y="2362200"/>
            <a:ext cx="9429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1"/>
          <p:cNvSpPr txBox="1"/>
          <p:nvPr/>
        </p:nvSpPr>
        <p:spPr>
          <a:xfrm>
            <a:off x="1700450" y="2771775"/>
            <a:ext cx="879109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LO3: Blue Ocean Strategy &amp; Innovation</a:t>
            </a:r>
            <a:endParaRPr/>
          </a:p>
        </p:txBody>
      </p:sp>
      <p:sp>
        <p:nvSpPr>
          <p:cNvPr id="246" name="Google Shape;246;p21"/>
          <p:cNvSpPr/>
          <p:nvPr/>
        </p:nvSpPr>
        <p:spPr>
          <a:xfrm>
            <a:off x="5715000" y="3667125"/>
            <a:ext cx="762000" cy="47625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2524125" y="3905250"/>
            <a:ext cx="71437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Unlocking Uncontested Market Space in Digital Sectors via Disruptive Innovation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8041" y="1088529"/>
            <a:ext cx="5344985" cy="5858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62687" y="1076325"/>
            <a:ext cx="5405437" cy="7852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3875" y="485775"/>
            <a:ext cx="301823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2"/>
          <p:cNvSpPr txBox="1"/>
          <p:nvPr/>
        </p:nvSpPr>
        <p:spPr>
          <a:xfrm>
            <a:off x="762000" y="1314450"/>
            <a:ext cx="517564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Principles of Digital Blue Ocean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762000" y="1628775"/>
            <a:ext cx="4929187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Rather than competing in crowded "Red Oceans" of head-to-head pricing, tech ventures leverage four action frameworks:</a:t>
            </a:r>
            <a:endParaRPr/>
          </a:p>
        </p:txBody>
      </p:sp>
      <p:pic>
        <p:nvPicPr>
          <p:cNvPr id="258" name="Google Shape;258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8540" y="1128413"/>
            <a:ext cx="4285022" cy="5267922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2"/>
          <p:cNvSpPr txBox="1"/>
          <p:nvPr/>
        </p:nvSpPr>
        <p:spPr>
          <a:xfrm>
            <a:off x="990600" y="2205037"/>
            <a:ext cx="4700587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Eliminate:</a:t>
            </a: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High sales commissions, physical branches, legacy hardware infrastructure.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990600" y="2762250"/>
            <a:ext cx="4700587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Reduce:</a:t>
            </a: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Customer onboarding friction, manual transaction verification times.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990600" y="3319462"/>
            <a:ext cx="4700587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Raise: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Algorithmic accuracy, user interface speed, ecosystem interoperability.</a:t>
            </a:r>
            <a:endParaRPr dirty="0"/>
          </a:p>
        </p:txBody>
      </p:sp>
      <p:sp>
        <p:nvSpPr>
          <p:cNvPr id="262" name="Google Shape;262;p22"/>
          <p:cNvSpPr txBox="1"/>
          <p:nvPr/>
        </p:nvSpPr>
        <p:spPr>
          <a:xfrm>
            <a:off x="990600" y="3876675"/>
            <a:ext cx="4700587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Create:</a:t>
            </a: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Entirely new value curves (e.g., on-demand access, predictive automation).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939998" y="428625"/>
            <a:ext cx="11252001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LO3: Creating Uncontested Market Space</a:t>
            </a:r>
            <a:endParaRPr/>
          </a:p>
        </p:txBody>
      </p:sp>
      <p:pic>
        <p:nvPicPr>
          <p:cNvPr id="264" name="Google Shape;264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2224087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2781300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3338512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3895725"/>
            <a:ext cx="133350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875" y="2102941"/>
            <a:ext cx="11144250" cy="3299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15350" y="2474416"/>
            <a:ext cx="29146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284041"/>
            <a:ext cx="5262562" cy="706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67437" y="3284041"/>
            <a:ext cx="5262562" cy="706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4133105"/>
            <a:ext cx="5262562" cy="706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167437" y="4133105"/>
            <a:ext cx="5262562" cy="706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23875" y="485775"/>
            <a:ext cx="263723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3"/>
          <p:cNvSpPr txBox="1"/>
          <p:nvPr/>
        </p:nvSpPr>
        <p:spPr>
          <a:xfrm>
            <a:off x="762000" y="4972645"/>
            <a:ext cx="10668000" cy="191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Deliverable:</a:t>
            </a: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Plot your new digital value curve against the dominant incumbent on a visual chart.</a:t>
            </a:r>
            <a:endParaRPr/>
          </a:p>
        </p:txBody>
      </p:sp>
      <p:pic>
        <p:nvPicPr>
          <p:cNvPr id="281" name="Google Shape;281;p2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62000" y="2341066"/>
            <a:ext cx="23145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3"/>
          <p:cNvSpPr txBox="1"/>
          <p:nvPr/>
        </p:nvSpPr>
        <p:spPr>
          <a:xfrm>
            <a:off x="762000" y="2683966"/>
            <a:ext cx="583072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Drafting a Disruptive Digital Four Actions Matrix (ERRC)</a:t>
            </a:r>
            <a:endParaRPr/>
          </a:p>
        </p:txBody>
      </p:sp>
      <p:pic>
        <p:nvPicPr>
          <p:cNvPr id="283" name="Google Shape;283;p2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696325" y="257919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3"/>
          <p:cNvSpPr txBox="1"/>
          <p:nvPr/>
        </p:nvSpPr>
        <p:spPr>
          <a:xfrm>
            <a:off x="904875" y="3426916"/>
            <a:ext cx="10096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ELIMINATE</a:t>
            </a:r>
            <a:endParaRPr/>
          </a:p>
        </p:txBody>
      </p:sp>
      <p:sp>
        <p:nvSpPr>
          <p:cNvPr id="285" name="Google Shape;285;p23"/>
          <p:cNvSpPr txBox="1"/>
          <p:nvPr/>
        </p:nvSpPr>
        <p:spPr>
          <a:xfrm>
            <a:off x="904875" y="3655516"/>
            <a:ext cx="4976812" cy="191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What traditional industry factors should be completely removed?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6310312" y="3426916"/>
            <a:ext cx="8477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REDUCE</a:t>
            </a:r>
            <a:endParaRPr/>
          </a:p>
        </p:txBody>
      </p:sp>
      <p:sp>
        <p:nvSpPr>
          <p:cNvPr id="287" name="Google Shape;287;p23"/>
          <p:cNvSpPr txBox="1"/>
          <p:nvPr/>
        </p:nvSpPr>
        <p:spPr>
          <a:xfrm>
            <a:off x="6310312" y="3655516"/>
            <a:ext cx="4976812" cy="191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What factors should be reduced well below industry standards?</a:t>
            </a:r>
            <a:endParaRPr/>
          </a:p>
        </p:txBody>
      </p:sp>
      <p:sp>
        <p:nvSpPr>
          <p:cNvPr id="288" name="Google Shape;288;p23"/>
          <p:cNvSpPr txBox="1"/>
          <p:nvPr/>
        </p:nvSpPr>
        <p:spPr>
          <a:xfrm>
            <a:off x="904875" y="4275980"/>
            <a:ext cx="6667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RAISE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904875" y="4504580"/>
            <a:ext cx="4976812" cy="191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What factors should be raised well above industry standards?</a:t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6310312" y="4275980"/>
            <a:ext cx="6572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CREATE</a:t>
            </a:r>
            <a:endParaRPr/>
          </a:p>
        </p:txBody>
      </p:sp>
      <p:sp>
        <p:nvSpPr>
          <p:cNvPr id="291" name="Google Shape;291;p23"/>
          <p:cNvSpPr txBox="1"/>
          <p:nvPr/>
        </p:nvSpPr>
        <p:spPr>
          <a:xfrm>
            <a:off x="6310312" y="4504580"/>
            <a:ext cx="4976812" cy="191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What new value sources should be created that the industry never offered?</a:t>
            </a:r>
            <a:endParaRPr/>
          </a:p>
        </p:txBody>
      </p:sp>
      <p:pic>
        <p:nvPicPr>
          <p:cNvPr id="292" name="Google Shape;292;p23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04875" y="3445966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3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310312" y="3445966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3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04875" y="4295030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3"/>
          <p:cNvSpPr txBox="1"/>
          <p:nvPr/>
        </p:nvSpPr>
        <p:spPr>
          <a:xfrm>
            <a:off x="901898" y="428625"/>
            <a:ext cx="11290101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LO3 Activity: Digital Value Curve Innovation Sprint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19750" y="2362200"/>
            <a:ext cx="9525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4"/>
          <p:cNvSpPr txBox="1"/>
          <p:nvPr/>
        </p:nvSpPr>
        <p:spPr>
          <a:xfrm>
            <a:off x="890349" y="2771775"/>
            <a:ext cx="10411301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LO4: Digital Maturity Models &amp; Transformation</a:t>
            </a:r>
            <a:endParaRPr/>
          </a:p>
        </p:txBody>
      </p:sp>
      <p:sp>
        <p:nvSpPr>
          <p:cNvPr id="303" name="Google Shape;303;p24"/>
          <p:cNvSpPr/>
          <p:nvPr/>
        </p:nvSpPr>
        <p:spPr>
          <a:xfrm>
            <a:off x="5715000" y="3667125"/>
            <a:ext cx="762000" cy="47625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4"/>
          <p:cNvSpPr txBox="1"/>
          <p:nvPr/>
        </p:nvSpPr>
        <p:spPr>
          <a:xfrm>
            <a:off x="2524125" y="3905250"/>
            <a:ext cx="71437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Benchmarking Organizational Readiness &amp; Navigating Transformation Roadmaps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875" y="1913929"/>
            <a:ext cx="5405437" cy="3677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62687" y="1913929"/>
            <a:ext cx="5405437" cy="3677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3875" y="485775"/>
            <a:ext cx="263723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5"/>
          <p:cNvSpPr txBox="1"/>
          <p:nvPr/>
        </p:nvSpPr>
        <p:spPr>
          <a:xfrm>
            <a:off x="762000" y="2152054"/>
            <a:ext cx="517564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 Pillars of Digital Maturity</a:t>
            </a:r>
            <a:endParaRPr/>
          </a:p>
        </p:txBody>
      </p:sp>
      <p:pic>
        <p:nvPicPr>
          <p:cNvPr id="314" name="Google Shape;314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62687" y="1913929"/>
            <a:ext cx="5405437" cy="3677691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5"/>
          <p:cNvSpPr txBox="1"/>
          <p:nvPr/>
        </p:nvSpPr>
        <p:spPr>
          <a:xfrm>
            <a:off x="990600" y="2542579"/>
            <a:ext cx="4700587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Digital Culture &amp; Leadership:</a:t>
            </a: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Agility, innovation tolerance, data-driven decision making.</a:t>
            </a:r>
            <a:endParaRPr/>
          </a:p>
        </p:txBody>
      </p:sp>
      <p:sp>
        <p:nvSpPr>
          <p:cNvPr id="316" name="Google Shape;316;p25"/>
          <p:cNvSpPr txBox="1"/>
          <p:nvPr/>
        </p:nvSpPr>
        <p:spPr>
          <a:xfrm>
            <a:off x="990600" y="3099792"/>
            <a:ext cx="4700587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Technology Stack Architecture:</a:t>
            </a: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Cloud-native systems, API readiness, security compliance.</a:t>
            </a:r>
            <a:endParaRPr/>
          </a:p>
        </p:txBody>
      </p:sp>
      <p:sp>
        <p:nvSpPr>
          <p:cNvPr id="317" name="Google Shape;317;p25"/>
          <p:cNvSpPr txBox="1"/>
          <p:nvPr/>
        </p:nvSpPr>
        <p:spPr>
          <a:xfrm>
            <a:off x="990600" y="3657004"/>
            <a:ext cx="4700587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Data &amp; Analytics Capabilities:</a:t>
            </a: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Real-time telemetry, predictive insights, unified data models.</a:t>
            </a:r>
            <a:endParaRPr/>
          </a:p>
        </p:txBody>
      </p:sp>
      <p:sp>
        <p:nvSpPr>
          <p:cNvPr id="318" name="Google Shape;318;p25"/>
          <p:cNvSpPr txBox="1"/>
          <p:nvPr/>
        </p:nvSpPr>
        <p:spPr>
          <a:xfrm>
            <a:off x="990600" y="4214217"/>
            <a:ext cx="4700587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Operations &amp; Process Automation:</a:t>
            </a: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CI/CD workflows, automated customer touchpoints.</a:t>
            </a:r>
            <a:endParaRPr/>
          </a:p>
        </p:txBody>
      </p:sp>
      <p:sp>
        <p:nvSpPr>
          <p:cNvPr id="319" name="Google Shape;319;p25"/>
          <p:cNvSpPr txBox="1"/>
          <p:nvPr/>
        </p:nvSpPr>
        <p:spPr>
          <a:xfrm>
            <a:off x="901898" y="428625"/>
            <a:ext cx="11290101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LO4: Digital Maturity Diagnostics &amp; Roadmaps</a:t>
            </a:r>
            <a:endParaRPr/>
          </a:p>
        </p:txBody>
      </p:sp>
      <p:pic>
        <p:nvPicPr>
          <p:cNvPr id="320" name="Google Shape;320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2561629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3118842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3676054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4233267"/>
            <a:ext cx="133350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875" y="2341364"/>
            <a:ext cx="11144250" cy="2822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82000" y="2712839"/>
            <a:ext cx="3048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522464"/>
            <a:ext cx="5238750" cy="1051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91250" y="3522464"/>
            <a:ext cx="5238750" cy="1051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23875" y="485775"/>
            <a:ext cx="197048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6"/>
          <p:cNvSpPr txBox="1"/>
          <p:nvPr/>
        </p:nvSpPr>
        <p:spPr>
          <a:xfrm>
            <a:off x="762000" y="4764285"/>
            <a:ext cx="106680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End of Learning Unit 2: All 4 Learning Outcomes Mastered</a:t>
            </a:r>
            <a:endParaRPr/>
          </a:p>
        </p:txBody>
      </p:sp>
      <p:pic>
        <p:nvPicPr>
          <p:cNvPr id="335" name="Google Shape;335;p2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105275" y="4783335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62000" y="2579489"/>
            <a:ext cx="227171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6"/>
          <p:cNvSpPr txBox="1"/>
          <p:nvPr/>
        </p:nvSpPr>
        <p:spPr>
          <a:xfrm>
            <a:off x="762000" y="2922389"/>
            <a:ext cx="7010876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Assessing Organizational Readiness &amp; Designing Phase 1 Roadmap</a:t>
            </a:r>
            <a:endParaRPr/>
          </a:p>
        </p:txBody>
      </p:sp>
      <p:pic>
        <p:nvPicPr>
          <p:cNvPr id="338" name="Google Shape;338;p2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562975" y="2817614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6"/>
          <p:cNvSpPr txBox="1"/>
          <p:nvPr/>
        </p:nvSpPr>
        <p:spPr>
          <a:xfrm>
            <a:off x="942975" y="3703439"/>
            <a:ext cx="512064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Readiness Assessment</a:t>
            </a:r>
            <a:endParaRPr/>
          </a:p>
        </p:txBody>
      </p:sp>
      <p:sp>
        <p:nvSpPr>
          <p:cNvPr id="340" name="Google Shape;340;p26"/>
          <p:cNvSpPr txBox="1"/>
          <p:nvPr/>
        </p:nvSpPr>
        <p:spPr>
          <a:xfrm>
            <a:off x="942975" y="3979664"/>
            <a:ext cx="4876800" cy="413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Evaluate a case organization across the 5 Stages of Maturity (Ad-hoc → Emerging → Centered → Scale → Optimized).</a:t>
            </a:r>
            <a:endParaRPr/>
          </a:p>
        </p:txBody>
      </p:sp>
      <p:sp>
        <p:nvSpPr>
          <p:cNvPr id="341" name="Google Shape;341;p26"/>
          <p:cNvSpPr txBox="1"/>
          <p:nvPr/>
        </p:nvSpPr>
        <p:spPr>
          <a:xfrm>
            <a:off x="6372225" y="3703439"/>
            <a:ext cx="512064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90-Day Execution Roadmap</a:t>
            </a:r>
            <a:endParaRPr/>
          </a:p>
        </p:txBody>
      </p:sp>
      <p:sp>
        <p:nvSpPr>
          <p:cNvPr id="342" name="Google Shape;342;p26"/>
          <p:cNvSpPr txBox="1"/>
          <p:nvPr/>
        </p:nvSpPr>
        <p:spPr>
          <a:xfrm>
            <a:off x="6372225" y="3979664"/>
            <a:ext cx="4876800" cy="413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Formulate 3 immediate high-impact quick wins for leadership buy-in and digital architecture upgrade.</a:t>
            </a:r>
            <a:endParaRPr/>
          </a:p>
        </p:txBody>
      </p:sp>
      <p:pic>
        <p:nvPicPr>
          <p:cNvPr id="343" name="Google Shape;343;p2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42975" y="3732014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372225" y="3732014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6"/>
          <p:cNvSpPr txBox="1"/>
          <p:nvPr/>
        </p:nvSpPr>
        <p:spPr>
          <a:xfrm>
            <a:off x="835223" y="428625"/>
            <a:ext cx="1135677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LO4 Activity: Diagnostic Benchmark &amp; Action Roadmap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7"/>
          <p:cNvSpPr/>
          <p:nvPr/>
        </p:nvSpPr>
        <p:spPr>
          <a:xfrm>
            <a:off x="523875" y="2118866"/>
            <a:ext cx="11144250" cy="962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7"/>
          <p:cNvSpPr/>
          <p:nvPr/>
        </p:nvSpPr>
        <p:spPr>
          <a:xfrm>
            <a:off x="523875" y="3081635"/>
            <a:ext cx="111442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7"/>
          <p:cNvSpPr/>
          <p:nvPr/>
        </p:nvSpPr>
        <p:spPr>
          <a:xfrm>
            <a:off x="523875" y="3853160"/>
            <a:ext cx="111442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7"/>
          <p:cNvSpPr/>
          <p:nvPr/>
        </p:nvSpPr>
        <p:spPr>
          <a:xfrm>
            <a:off x="523875" y="3072110"/>
            <a:ext cx="111442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7"/>
          <p:cNvSpPr/>
          <p:nvPr/>
        </p:nvSpPr>
        <p:spPr>
          <a:xfrm>
            <a:off x="523875" y="3072110"/>
            <a:ext cx="111442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7"/>
          <p:cNvSpPr/>
          <p:nvPr/>
        </p:nvSpPr>
        <p:spPr>
          <a:xfrm>
            <a:off x="523875" y="3843635"/>
            <a:ext cx="111442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7"/>
          <p:cNvSpPr/>
          <p:nvPr/>
        </p:nvSpPr>
        <p:spPr>
          <a:xfrm>
            <a:off x="523875" y="3843635"/>
            <a:ext cx="111442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7"/>
          <p:cNvSpPr/>
          <p:nvPr/>
        </p:nvSpPr>
        <p:spPr>
          <a:xfrm>
            <a:off x="523875" y="4615160"/>
            <a:ext cx="111442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7"/>
          <p:cNvSpPr/>
          <p:nvPr/>
        </p:nvSpPr>
        <p:spPr>
          <a:xfrm>
            <a:off x="523875" y="4615160"/>
            <a:ext cx="111442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0" name="Google Shape;360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875" y="235728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7"/>
          <p:cNvSpPr txBox="1"/>
          <p:nvPr/>
        </p:nvSpPr>
        <p:spPr>
          <a:xfrm>
            <a:off x="1619250" y="2261741"/>
            <a:ext cx="10048875" cy="383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https://www.trainingjournal.com/wp-content/uploads/2026/07/using-ai-business-team-discussing-ai-analytics-and-digital-strategy-during-a-corporate-meeting-professional-presentation-with-ai-data-dashboards-charts-and-technology-insights-in-a-modern-office-stockpack-adobe-stock.jpg</a:t>
            </a:r>
            <a:endParaRPr/>
          </a:p>
        </p:txBody>
      </p:sp>
      <p:sp>
        <p:nvSpPr>
          <p:cNvPr id="362" name="Google Shape;362;p27"/>
          <p:cNvSpPr txBox="1"/>
          <p:nvPr/>
        </p:nvSpPr>
        <p:spPr>
          <a:xfrm>
            <a:off x="1619250" y="2693044"/>
            <a:ext cx="10048875" cy="236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www.trainingjournal.com</a:t>
            </a:r>
            <a:endParaRPr/>
          </a:p>
        </p:txBody>
      </p:sp>
      <p:pic>
        <p:nvPicPr>
          <p:cNvPr id="363" name="Google Shape;363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3875" y="322451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7"/>
          <p:cNvSpPr txBox="1"/>
          <p:nvPr/>
        </p:nvSpPr>
        <p:spPr>
          <a:xfrm>
            <a:off x="1619250" y="3224807"/>
            <a:ext cx="10048875" cy="191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https://oecd-opsi.org/wp-content/uploads/2019/02/1LBAHaRSx2IajordnTkA_1200px-Business_Model_Canvas.png</a:t>
            </a:r>
            <a:endParaRPr/>
          </a:p>
        </p:txBody>
      </p:sp>
      <p:sp>
        <p:nvSpPr>
          <p:cNvPr id="365" name="Google Shape;365;p27"/>
          <p:cNvSpPr txBox="1"/>
          <p:nvPr/>
        </p:nvSpPr>
        <p:spPr>
          <a:xfrm>
            <a:off x="1619250" y="3464272"/>
            <a:ext cx="10048875" cy="236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oecd-opsi.org</a:t>
            </a:r>
            <a:endParaRPr/>
          </a:p>
        </p:txBody>
      </p:sp>
      <p:pic>
        <p:nvPicPr>
          <p:cNvPr id="366" name="Google Shape;366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3875" y="399603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7"/>
          <p:cNvSpPr txBox="1"/>
          <p:nvPr/>
        </p:nvSpPr>
        <p:spPr>
          <a:xfrm>
            <a:off x="1619250" y="3996332"/>
            <a:ext cx="10048875" cy="191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https://www.frontierstrategy.com/0_ERRC_Grid/Boeing_ERRC_Grid.png</a:t>
            </a:r>
            <a:endParaRPr/>
          </a:p>
        </p:txBody>
      </p:sp>
      <p:sp>
        <p:nvSpPr>
          <p:cNvPr id="368" name="Google Shape;368;p27"/>
          <p:cNvSpPr txBox="1"/>
          <p:nvPr/>
        </p:nvSpPr>
        <p:spPr>
          <a:xfrm>
            <a:off x="1619250" y="4235797"/>
            <a:ext cx="10048875" cy="236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www.frontierstrategy.com</a:t>
            </a:r>
            <a:endParaRPr/>
          </a:p>
        </p:txBody>
      </p:sp>
      <p:pic>
        <p:nvPicPr>
          <p:cNvPr id="369" name="Google Shape;369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23875" y="476756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7"/>
          <p:cNvSpPr txBox="1"/>
          <p:nvPr/>
        </p:nvSpPr>
        <p:spPr>
          <a:xfrm>
            <a:off x="1619250" y="4767857"/>
            <a:ext cx="10048875" cy="191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https://blogimages.softwaresuggest.com/blog/wp-content/uploads/2022/10/How-to-create-a-digital-transformation-strategy-for-success_middle-images_09.jpg</a:t>
            </a:r>
            <a:endParaRPr/>
          </a:p>
        </p:txBody>
      </p:sp>
      <p:sp>
        <p:nvSpPr>
          <p:cNvPr id="371" name="Google Shape;371;p27"/>
          <p:cNvSpPr txBox="1"/>
          <p:nvPr/>
        </p:nvSpPr>
        <p:spPr>
          <a:xfrm>
            <a:off x="1619250" y="5007322"/>
            <a:ext cx="10048875" cy="236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www.softwaresuggest.com</a:t>
            </a:r>
            <a:endParaRPr/>
          </a:p>
        </p:txBody>
      </p:sp>
      <p:sp>
        <p:nvSpPr>
          <p:cNvPr id="372" name="Google Shape;372;p27"/>
          <p:cNvSpPr txBox="1"/>
          <p:nvPr/>
        </p:nvSpPr>
        <p:spPr>
          <a:xfrm>
            <a:off x="523875" y="428625"/>
            <a:ext cx="1166812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959</Words>
  <Application>Microsoft Office PowerPoint</Application>
  <PresentationFormat>Widescreen</PresentationFormat>
  <Paragraphs>95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Inter SemiBold</vt:lpstr>
      <vt:lpstr>Arial</vt:lpstr>
      <vt:lpstr>Calibri</vt:lpstr>
      <vt:lpstr>Plus Jakarta Sans</vt:lpstr>
      <vt:lpstr>Plus Jakarta Sans ExtraBold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Marie Chris Soque</cp:lastModifiedBy>
  <cp:revision>1</cp:revision>
  <dcterms:modified xsi:type="dcterms:W3CDTF">2026-09-09T08:13:24Z</dcterms:modified>
</cp:coreProperties>
</file>
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32833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48767"/>
            <a:ext cx="3343275" cy="285750"/>
          </a:xfrm>
          <a:prstGeom prst="roundRect">
            <a:avLst>
              <a:gd fmla="val 50000" name="adj"/>
            </a:avLst>
          </a:prstGeom>
          <a:solidFill>
            <a:srgbClr val="0F2C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3283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6138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46138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2025" y="461382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563117"/>
            <a:ext cx="114300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Supply Chain Integration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323183"/>
            <a:ext cx="7334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Connecting IoT, Cloud, AI, and Blockchain into a real-time, proactive operational ecosystem.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2105917"/>
            <a:ext cx="3133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LU5 - LO2 ARCHITECTURE &amp; INTEGRATION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14425" y="4609058"/>
            <a:ext cx="18454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Integration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200400" y="4609058"/>
            <a:ext cx="1583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Layering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076825" y="4609058"/>
            <a:ext cx="304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Executive Dashboards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2662237"/>
            <a:ext cx="3479750" cy="2505075"/>
          </a:xfrm>
          <a:prstGeom prst="roundRect">
            <a:avLst>
              <a:gd fmla="val 6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56050" y="2662237"/>
            <a:ext cx="3479750" cy="2505075"/>
          </a:xfrm>
          <a:prstGeom prst="roundRect">
            <a:avLst>
              <a:gd fmla="val 6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102500" y="2662237"/>
            <a:ext cx="3479750" cy="2505075"/>
          </a:xfrm>
          <a:prstGeom prst="roundRect">
            <a:avLst>
              <a:gd fmla="val 608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14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275" y="3014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8725" y="3014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362" y="3138487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6100" y="313848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2550" y="31384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Transformation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Logistics Integration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85825" y="3662362"/>
            <a:ext cx="38420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Connected Operations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85825" y="4043362"/>
            <a:ext cx="3022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functional data silos across suppliers, factories, warehouses, and transport fleets.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32275" y="3662362"/>
            <a:ext cx="38420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Reactive Model (Legacy)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32275" y="4043362"/>
            <a:ext cx="3022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Fixes disruptions after delivery failures occur. High operational waste and customer friction.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78725" y="3662362"/>
            <a:ext cx="38132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Model (Modern)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78725" y="4043362"/>
            <a:ext cx="3022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Predicts delivery risks in real time. Enables pre-emptive rerouting before damage occurs.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0" y="3919537"/>
            <a:ext cx="5257800" cy="1095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3919537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Cold Chain Scenario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Cold Chain Logistics in Action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2738437"/>
            <a:ext cx="69008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Fresh Seafood Transit Monitoring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09600" y="3176587"/>
            <a:ext cx="5353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telemetry streams temperature (2°C), heavy traffic warnings, and GPS coordinates into central AI engines.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76300" y="4110037"/>
            <a:ext cx="62507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Rerouting Decision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4386262"/>
            <a:ext cx="4857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detects 5:30 PM traffic delay and recommends alternative routes to protect perishable inventory.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09600" y="2952750"/>
            <a:ext cx="2600325" cy="1924050"/>
          </a:xfrm>
          <a:prstGeom prst="roundRect">
            <a:avLst>
              <a:gd fmla="val 79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00425" y="2952750"/>
            <a:ext cx="2600325" cy="1924050"/>
          </a:xfrm>
          <a:prstGeom prst="roundRect">
            <a:avLst>
              <a:gd fmla="val 79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191250" y="2952750"/>
            <a:ext cx="2600325" cy="1924050"/>
          </a:xfrm>
          <a:prstGeom prst="roundRect">
            <a:avLst>
              <a:gd fmla="val 79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982075" y="2952750"/>
            <a:ext cx="2600325" cy="1924050"/>
          </a:xfrm>
          <a:prstGeom prst="roundRect">
            <a:avLst>
              <a:gd fmla="val 79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322897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322897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228975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2100" y="32289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Cybersecurity Architecture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Security Layering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9625" y="3629025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Encryption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09625" y="3943350"/>
            <a:ext cx="22955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Protects stored and transmitted data from unauthorized access.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3600450" y="3629025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 Control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600450" y="3943350"/>
            <a:ext cx="22955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Restricts sensitive operational records to authorized roles.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391275" y="3629025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391275" y="3943350"/>
            <a:ext cx="22955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Provides immutable transaction history across cross-border partners.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182100" y="3629025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Threat Monitoring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182100" y="3943350"/>
            <a:ext cx="22955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Detects transaction anomalies and suspicious financial spikes.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609600" y="2809875"/>
            <a:ext cx="5334000" cy="2209800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248400" y="2809875"/>
            <a:ext cx="5334000" cy="2209800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9600" y="2809875"/>
            <a:ext cx="5334000" cy="571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248400" y="2809875"/>
            <a:ext cx="5334000" cy="571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Distinction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 vs. AI Security Roles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300" y="3171825"/>
            <a:ext cx="6300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Blockchain: Record Verifiability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15100" y="3171825"/>
            <a:ext cx="5676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AI: Pattern &amp; Anomaly Detection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76300" y="3609975"/>
            <a:ext cx="6000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Role: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Tamper-resistant transaction ledger.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76300" y="3943350"/>
            <a:ext cx="48958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Multi-party customs clearance and container receipts.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76300" y="4495800"/>
            <a:ext cx="6000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Auditability and trust across international trade hubs.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15100" y="3609975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Role: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behavioral surveillance.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15100" y="3943350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Flags sudden $500,000 transaction spikes.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515100" y="4276725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Immediate alert generation for fraud mitigation.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/>
          <p:nvPr/>
        </p:nvSpPr>
        <p:spPr>
          <a:xfrm>
            <a:off x="609600" y="3919537"/>
            <a:ext cx="5257800" cy="1095375"/>
          </a:xfrm>
          <a:prstGeom prst="roundRect">
            <a:avLst>
              <a:gd fmla="val 10434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66925"/>
            <a:ext cx="5257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Control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Executive Decision Making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09600" y="2738437"/>
            <a:ext cx="69008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Monthly Reports to Live Action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09600" y="3176587"/>
            <a:ext cx="5353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Consolidates store sales, traffic, and inventory telemetry across 50 retail branches into single-pane dashboards.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47725" y="4119562"/>
            <a:ext cx="62757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Inventory Rebalancing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47725" y="4376737"/>
            <a:ext cx="4876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Transfers excess stock from Store C to low-stock Store A mid-day during demand spikes.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609600" y="2333625"/>
            <a:ext cx="5818882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09600" y="3438525"/>
            <a:ext cx="5818882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9600" y="4543425"/>
            <a:ext cx="5818882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282" y="2085975"/>
            <a:ext cx="484911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3282" y="2085975"/>
            <a:ext cx="484911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Acquisition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Sensing &amp; Tracking Tools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47725" y="2533650"/>
            <a:ext cx="70122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RFID Scanning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47725" y="2828925"/>
            <a:ext cx="6678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Bulk item identification without direct line-of-sight barcode scans.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47725" y="3638550"/>
            <a:ext cx="70122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GPS Tracking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47725" y="3933825"/>
            <a:ext cx="6678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fleet position coordinates and arrival estimation.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47725" y="4743450"/>
            <a:ext cx="70122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Sensors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47725" y="5038725"/>
            <a:ext cx="6678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Monitors temperature, humidity, and machine vibration metrics.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609600" y="4257675"/>
            <a:ext cx="10972800" cy="85725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09600" y="2676525"/>
            <a:ext cx="25717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409950" y="2676525"/>
            <a:ext cx="25717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210300" y="2676525"/>
            <a:ext cx="25717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9010650" y="2676525"/>
            <a:ext cx="25717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9782175" y="4481512"/>
            <a:ext cx="1524000" cy="409575"/>
          </a:xfrm>
          <a:prstGeom prst="roundRect">
            <a:avLst>
              <a:gd fmla="val 18604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Telemetry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KPI Dashboard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0010775" y="4576762"/>
            <a:ext cx="1162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82% Utilized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3881" y="2905125"/>
            <a:ext cx="26431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1,245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3881" y="3524250"/>
            <a:ext cx="2643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Active Shipments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3374231" y="2905125"/>
            <a:ext cx="26431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94%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374231" y="3524250"/>
            <a:ext cx="2643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On-Time Delivery Rate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174581" y="2905125"/>
            <a:ext cx="26431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174581" y="3524250"/>
            <a:ext cx="2643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Shipments Flagged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974931" y="2905125"/>
            <a:ext cx="26431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4.1°C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974931" y="3524250"/>
            <a:ext cx="2643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 Cold-Chain Temp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85825" y="4457700"/>
            <a:ext cx="61507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Warehouse Capacity Status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85825" y="4695825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delivery vehicles currently active across regional routes.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666750" y="3128962"/>
            <a:ext cx="2628900" cy="1571625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409950" y="3128962"/>
            <a:ext cx="2628900" cy="1571625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153150" y="3128962"/>
            <a:ext cx="2628900" cy="1571625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8896350" y="3128962"/>
            <a:ext cx="2628900" cy="1571625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 Execution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Food Distribution Flow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57250" y="3319462"/>
            <a:ext cx="23431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3600450" y="3319462"/>
            <a:ext cx="23431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343650" y="3319462"/>
            <a:ext cx="23431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086850" y="3319462"/>
            <a:ext cx="23431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04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866775" y="3567112"/>
            <a:ext cx="29253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Tag &amp; Sense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66775" y="3843337"/>
            <a:ext cx="23241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RFID identifies batch. Sensors log 3°C temperature.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3609975" y="3567112"/>
            <a:ext cx="29253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&amp; Store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3609975" y="3843337"/>
            <a:ext cx="2324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GPS tracks truck location. IoT streams data to Cloud.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353175" y="3567112"/>
            <a:ext cx="29253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 &amp; Alert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353175" y="3843337"/>
            <a:ext cx="2324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predicts traffic delay. Dashboard alerts manager.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096375" y="3567112"/>
            <a:ext cx="29253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 &amp; Verify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096375" y="3843337"/>
            <a:ext cx="2324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Manager reroutes truck. Blockchain logs receipt.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609600" y="2352675"/>
            <a:ext cx="10972800" cy="523875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09600" y="2990850"/>
            <a:ext cx="10972800" cy="523875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09600" y="3629025"/>
            <a:ext cx="10972800" cy="523875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09600" y="4267200"/>
            <a:ext cx="10972800" cy="523875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09600" y="4905375"/>
            <a:ext cx="10972800" cy="533400"/>
          </a:xfrm>
          <a:prstGeom prst="roundRect">
            <a:avLst>
              <a:gd fmla="val 1428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09600" y="2352675"/>
            <a:ext cx="57150" cy="52387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09600" y="2990850"/>
            <a:ext cx="57150" cy="5238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09600" y="3629025"/>
            <a:ext cx="57150" cy="523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609600" y="4267200"/>
            <a:ext cx="5715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609600" y="4905375"/>
            <a:ext cx="57150" cy="533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Overview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Multi-Layer Technology Stack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95350" y="2505075"/>
            <a:ext cx="2143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WORLD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2609850" y="2505075"/>
            <a:ext cx="9582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RFID Tags + GPS Telematics + Environmental Temperature Sensors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95350" y="3143250"/>
            <a:ext cx="2143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CONNECTIVITY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2609850" y="3143250"/>
            <a:ext cx="9582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Platform Gateway &amp; Telemetry Aggregation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895350" y="3781425"/>
            <a:ext cx="2143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PROCESSING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2609850" y="3781425"/>
            <a:ext cx="9582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Scalable Multi-Cloud Database Storage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95350" y="4419600"/>
            <a:ext cx="2143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INTELLIGENCE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2609850" y="4419600"/>
            <a:ext cx="9582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Predictive Analytics &amp; Blockchain Verifiable Audit Logs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95350" y="5062537"/>
            <a:ext cx="2143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 &amp; ACTION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2609850" y="5057775"/>
            <a:ext cx="9582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Dashboard Alerts → Rerouting &amp; Inventory Rebalancing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/>
          <p:nvPr/>
        </p:nvSpPr>
        <p:spPr>
          <a:xfrm>
            <a:off x="609600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463849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318099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172348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026598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9880848" y="3262312"/>
            <a:ext cx="1701849" cy="1304925"/>
          </a:xfrm>
          <a:prstGeom prst="roundRect">
            <a:avLst>
              <a:gd fmla="val 8759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269950" y="3481387"/>
            <a:ext cx="381000" cy="247650"/>
          </a:xfrm>
          <a:prstGeom prst="roundRect">
            <a:avLst>
              <a:gd fmla="val 461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3114675" y="3481387"/>
            <a:ext cx="400050" cy="247650"/>
          </a:xfrm>
          <a:prstGeom prst="roundRect">
            <a:avLst>
              <a:gd fmla="val 461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964162" y="3481387"/>
            <a:ext cx="409575" cy="247650"/>
          </a:xfrm>
          <a:prstGeom prst="roundRect">
            <a:avLst>
              <a:gd fmla="val 461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818411" y="3481387"/>
            <a:ext cx="409575" cy="247650"/>
          </a:xfrm>
          <a:prstGeom prst="roundRect">
            <a:avLst>
              <a:gd fmla="val 461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8672661" y="3481387"/>
            <a:ext cx="409575" cy="247650"/>
          </a:xfrm>
          <a:prstGeom prst="roundRect">
            <a:avLst>
              <a:gd fmla="val 461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10531673" y="3481387"/>
            <a:ext cx="400050" cy="247650"/>
          </a:xfrm>
          <a:prstGeom prst="roundRect">
            <a:avLst>
              <a:gd fmla="val 4615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Formula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Operational Integration Formula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241375" y="3519487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556212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Sense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599275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RFID &amp; Sensors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3086100" y="351948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2410462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2453524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Gateways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4935587" y="3519487"/>
            <a:ext cx="466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4264711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4307774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Platform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789836" y="3519487"/>
            <a:ext cx="466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118961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162023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Engine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8644086" y="3519487"/>
            <a:ext cx="466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7973210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Decide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8016273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Dashboards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503098" y="351948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9827460" y="3814762"/>
            <a:ext cx="18086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9870523" y="4110037"/>
            <a:ext cx="172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Reroute / Adjust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/>
          <p:nvPr/>
        </p:nvSpPr>
        <p:spPr>
          <a:xfrm>
            <a:off x="762000" y="4760416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762000" y="2059483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LO2 PRINCIPLE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762000" y="2383333"/>
            <a:ext cx="910113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Drives Transformation, Not Isolated Tools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762000" y="3709094"/>
            <a:ext cx="7524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maturity requires orchestrating RFID, GPS, Cloud, AI, and Blockchain into a synchronized, self-correcting operational architecture.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666875" y="1038225"/>
            <a:ext cx="10239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https://www.binarysemantics.com/wp-content/uploads/2025/02/How-IoT-Drivers-the-Connected-Future-of-Cold-Chain-Logistics.jpg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666875" y="1238250"/>
            <a:ext cx="3226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www.binarysemantics.com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666875" y="1809750"/>
            <a:ext cx="4774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https://www.inetsoft.com/images/supply-chain-dashboard.jpg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666875" y="2009775"/>
            <a:ext cx="242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www.inetsoft.com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666875" y="2581275"/>
            <a:ext cx="7822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https://www.cykeorfid.com/wp-content/uploads/2026/07/pasted-image-20260723-062303-715.jpg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66875" y="2781300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www.cykeorfid.com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
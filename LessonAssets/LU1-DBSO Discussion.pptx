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104" d="100"/>
          <a:sy n="104" d="100"/>
        </p:scale>
        <p:origin x="21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72DA7-99F5-47EF-C08B-B279FB7D58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3CFB96E3-8CD5-5580-FF2D-67D46E478D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B5CED7BC-EDF9-5221-9089-0ADD703981C3}"/>
              </a:ext>
            </a:extLst>
          </p:cNvPr>
          <p:cNvSpPr>
            <a:spLocks noGrp="1"/>
          </p:cNvSpPr>
          <p:nvPr>
            <p:ph type="dt" sz="half" idx="10"/>
          </p:nvPr>
        </p:nvSpPr>
        <p:spPr/>
        <p:txBody>
          <a:bodyPr/>
          <a:lstStyle/>
          <a:p>
            <a:fld id="{29AAF7A9-2654-4B6C-8860-CF8574AC76B4}" type="datetimeFigureOut">
              <a:rPr lang="en-SG" smtClean="0"/>
              <a:t>8/9/2026</a:t>
            </a:fld>
            <a:endParaRPr lang="en-SG"/>
          </a:p>
        </p:txBody>
      </p:sp>
      <p:sp>
        <p:nvSpPr>
          <p:cNvPr id="5" name="Footer Placeholder 4">
            <a:extLst>
              <a:ext uri="{FF2B5EF4-FFF2-40B4-BE49-F238E27FC236}">
                <a16:creationId xmlns:a16="http://schemas.microsoft.com/office/drawing/2014/main" id="{2B281266-C597-539E-7E5F-501D6DE3C50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3F379F5-38F4-5F88-A2A6-E6F83A1FBA07}"/>
              </a:ext>
            </a:extLst>
          </p:cNvPr>
          <p:cNvSpPr>
            <a:spLocks noGrp="1"/>
          </p:cNvSpPr>
          <p:nvPr>
            <p:ph type="sldNum" sz="quarter" idx="12"/>
          </p:nvPr>
        </p:nvSpPr>
        <p:spPr/>
        <p:txBody>
          <a:bodyPr/>
          <a:lstStyle/>
          <a:p>
            <a:fld id="{50BF007E-5B3D-4E37-A543-54B39775E9F4}" type="slidenum">
              <a:rPr lang="en-SG" smtClean="0"/>
              <a:t>‹#›</a:t>
            </a:fld>
            <a:endParaRPr lang="en-SG"/>
          </a:p>
        </p:txBody>
      </p:sp>
    </p:spTree>
    <p:extLst>
      <p:ext uri="{BB962C8B-B14F-4D97-AF65-F5344CB8AC3E}">
        <p14:creationId xmlns:p14="http://schemas.microsoft.com/office/powerpoint/2010/main" val="2556908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00635-D556-93D6-9F8D-C4C65E04FA36}"/>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2FEAA849-2C46-7FE6-8F08-7E8535E358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E05954-2AF6-6377-C3EA-9CC434BC0F10}"/>
              </a:ext>
            </a:extLst>
          </p:cNvPr>
          <p:cNvSpPr>
            <a:spLocks noGrp="1"/>
          </p:cNvSpPr>
          <p:nvPr>
            <p:ph type="dt" sz="half" idx="10"/>
          </p:nvPr>
        </p:nvSpPr>
        <p:spPr/>
        <p:txBody>
          <a:bodyPr/>
          <a:lstStyle/>
          <a:p>
            <a:fld id="{29AAF7A9-2654-4B6C-8860-CF8574AC76B4}" type="datetimeFigureOut">
              <a:rPr lang="en-SG" smtClean="0"/>
              <a:t>8/9/2026</a:t>
            </a:fld>
            <a:endParaRPr lang="en-SG"/>
          </a:p>
        </p:txBody>
      </p:sp>
      <p:sp>
        <p:nvSpPr>
          <p:cNvPr id="5" name="Footer Placeholder 4">
            <a:extLst>
              <a:ext uri="{FF2B5EF4-FFF2-40B4-BE49-F238E27FC236}">
                <a16:creationId xmlns:a16="http://schemas.microsoft.com/office/drawing/2014/main" id="{B361B1B2-D196-24F9-E6F6-5637E9B6942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5E914BA-6B23-9D5F-591E-76181E870CB4}"/>
              </a:ext>
            </a:extLst>
          </p:cNvPr>
          <p:cNvSpPr>
            <a:spLocks noGrp="1"/>
          </p:cNvSpPr>
          <p:nvPr>
            <p:ph type="sldNum" sz="quarter" idx="12"/>
          </p:nvPr>
        </p:nvSpPr>
        <p:spPr/>
        <p:txBody>
          <a:bodyPr/>
          <a:lstStyle/>
          <a:p>
            <a:fld id="{50BF007E-5B3D-4E37-A543-54B39775E9F4}" type="slidenum">
              <a:rPr lang="en-SG" smtClean="0"/>
              <a:t>‹#›</a:t>
            </a:fld>
            <a:endParaRPr lang="en-SG"/>
          </a:p>
        </p:txBody>
      </p:sp>
    </p:spTree>
    <p:extLst>
      <p:ext uri="{BB962C8B-B14F-4D97-AF65-F5344CB8AC3E}">
        <p14:creationId xmlns:p14="http://schemas.microsoft.com/office/powerpoint/2010/main" val="133749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D9971-273B-5A45-1293-5F1C5B654D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989A6EA-B4C8-88F7-B6E7-DF46E27607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CEAD07-532B-1485-5DB4-C09200C215E4}"/>
              </a:ext>
            </a:extLst>
          </p:cNvPr>
          <p:cNvSpPr>
            <a:spLocks noGrp="1"/>
          </p:cNvSpPr>
          <p:nvPr>
            <p:ph type="dt" sz="half" idx="10"/>
          </p:nvPr>
        </p:nvSpPr>
        <p:spPr/>
        <p:txBody>
          <a:bodyPr/>
          <a:lstStyle/>
          <a:p>
            <a:fld id="{29AAF7A9-2654-4B6C-8860-CF8574AC76B4}" type="datetimeFigureOut">
              <a:rPr lang="en-SG" smtClean="0"/>
              <a:t>8/9/2026</a:t>
            </a:fld>
            <a:endParaRPr lang="en-SG"/>
          </a:p>
        </p:txBody>
      </p:sp>
      <p:sp>
        <p:nvSpPr>
          <p:cNvPr id="5" name="Footer Placeholder 4">
            <a:extLst>
              <a:ext uri="{FF2B5EF4-FFF2-40B4-BE49-F238E27FC236}">
                <a16:creationId xmlns:a16="http://schemas.microsoft.com/office/drawing/2014/main" id="{D45E6ECA-AA2D-531F-59B9-009CCDBF9CA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43E6A0B-09E2-72E5-7A3D-D2C04C4D1899}"/>
              </a:ext>
            </a:extLst>
          </p:cNvPr>
          <p:cNvSpPr>
            <a:spLocks noGrp="1"/>
          </p:cNvSpPr>
          <p:nvPr>
            <p:ph type="sldNum" sz="quarter" idx="12"/>
          </p:nvPr>
        </p:nvSpPr>
        <p:spPr/>
        <p:txBody>
          <a:bodyPr/>
          <a:lstStyle/>
          <a:p>
            <a:fld id="{50BF007E-5B3D-4E37-A543-54B39775E9F4}" type="slidenum">
              <a:rPr lang="en-SG" smtClean="0"/>
              <a:t>‹#›</a:t>
            </a:fld>
            <a:endParaRPr lang="en-SG"/>
          </a:p>
        </p:txBody>
      </p:sp>
    </p:spTree>
    <p:extLst>
      <p:ext uri="{BB962C8B-B14F-4D97-AF65-F5344CB8AC3E}">
        <p14:creationId xmlns:p14="http://schemas.microsoft.com/office/powerpoint/2010/main" val="3467751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D9E96-8F38-0993-2AFE-79774D63C0F0}"/>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C9A96DA9-3BE3-EF39-9D07-2B24D20127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E1AD822B-21F0-AD2E-B04A-4CA3EA206E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9942AA7B-7614-0C0C-DC41-371359D4ED9E}"/>
              </a:ext>
            </a:extLst>
          </p:cNvPr>
          <p:cNvSpPr>
            <a:spLocks noGrp="1"/>
          </p:cNvSpPr>
          <p:nvPr>
            <p:ph type="dt" sz="half" idx="10"/>
          </p:nvPr>
        </p:nvSpPr>
        <p:spPr/>
        <p:txBody>
          <a:bodyPr/>
          <a:lstStyle/>
          <a:p>
            <a:fld id="{29AAF7A9-2654-4B6C-8860-CF8574AC76B4}" type="datetimeFigureOut">
              <a:rPr lang="en-SG" smtClean="0"/>
              <a:t>8/9/2026</a:t>
            </a:fld>
            <a:endParaRPr lang="en-SG"/>
          </a:p>
        </p:txBody>
      </p:sp>
      <p:sp>
        <p:nvSpPr>
          <p:cNvPr id="6" name="Footer Placeholder 5">
            <a:extLst>
              <a:ext uri="{FF2B5EF4-FFF2-40B4-BE49-F238E27FC236}">
                <a16:creationId xmlns:a16="http://schemas.microsoft.com/office/drawing/2014/main" id="{3BD6D23D-537F-C3E9-B8C7-AC8843D62F79}"/>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6DC0807-3A82-50DC-C2F4-F27F082522A0}"/>
              </a:ext>
            </a:extLst>
          </p:cNvPr>
          <p:cNvSpPr>
            <a:spLocks noGrp="1"/>
          </p:cNvSpPr>
          <p:nvPr>
            <p:ph type="sldNum" sz="quarter" idx="12"/>
          </p:nvPr>
        </p:nvSpPr>
        <p:spPr/>
        <p:txBody>
          <a:bodyPr/>
          <a:lstStyle/>
          <a:p>
            <a:fld id="{50BF007E-5B3D-4E37-A543-54B39775E9F4}" type="slidenum">
              <a:rPr lang="en-SG" smtClean="0"/>
              <a:t>‹#›</a:t>
            </a:fld>
            <a:endParaRPr lang="en-SG"/>
          </a:p>
        </p:txBody>
      </p:sp>
    </p:spTree>
    <p:extLst>
      <p:ext uri="{BB962C8B-B14F-4D97-AF65-F5344CB8AC3E}">
        <p14:creationId xmlns:p14="http://schemas.microsoft.com/office/powerpoint/2010/main" val="90589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B04C-93E5-100A-3919-4E4BDC6B327C}"/>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6A7A7F6D-76E2-35BA-75BF-B97610F9F8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7EA7C1-334C-C782-0E88-A3BEDA9E7D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B9260635-707D-AA1D-371C-3A26C2A830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4D520E-0910-5F3A-2998-175D806657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063EF04A-E189-C6DA-F885-F05E6809E6E1}"/>
              </a:ext>
            </a:extLst>
          </p:cNvPr>
          <p:cNvSpPr>
            <a:spLocks noGrp="1"/>
          </p:cNvSpPr>
          <p:nvPr>
            <p:ph type="dt" sz="half" idx="10"/>
          </p:nvPr>
        </p:nvSpPr>
        <p:spPr/>
        <p:txBody>
          <a:bodyPr/>
          <a:lstStyle/>
          <a:p>
            <a:fld id="{29AAF7A9-2654-4B6C-8860-CF8574AC76B4}" type="datetimeFigureOut">
              <a:rPr lang="en-SG" smtClean="0"/>
              <a:t>8/9/2026</a:t>
            </a:fld>
            <a:endParaRPr lang="en-SG"/>
          </a:p>
        </p:txBody>
      </p:sp>
      <p:sp>
        <p:nvSpPr>
          <p:cNvPr id="8" name="Footer Placeholder 7">
            <a:extLst>
              <a:ext uri="{FF2B5EF4-FFF2-40B4-BE49-F238E27FC236}">
                <a16:creationId xmlns:a16="http://schemas.microsoft.com/office/drawing/2014/main" id="{8EA8F376-B8ED-D645-B108-6D2DBE872B32}"/>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5FC0482A-5774-DD80-3437-1C37158BA0F3}"/>
              </a:ext>
            </a:extLst>
          </p:cNvPr>
          <p:cNvSpPr>
            <a:spLocks noGrp="1"/>
          </p:cNvSpPr>
          <p:nvPr>
            <p:ph type="sldNum" sz="quarter" idx="12"/>
          </p:nvPr>
        </p:nvSpPr>
        <p:spPr/>
        <p:txBody>
          <a:bodyPr/>
          <a:lstStyle/>
          <a:p>
            <a:fld id="{50BF007E-5B3D-4E37-A543-54B39775E9F4}" type="slidenum">
              <a:rPr lang="en-SG" smtClean="0"/>
              <a:t>‹#›</a:t>
            </a:fld>
            <a:endParaRPr lang="en-SG"/>
          </a:p>
        </p:txBody>
      </p:sp>
    </p:spTree>
    <p:extLst>
      <p:ext uri="{BB962C8B-B14F-4D97-AF65-F5344CB8AC3E}">
        <p14:creationId xmlns:p14="http://schemas.microsoft.com/office/powerpoint/2010/main" val="2580992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5DD26-F4B2-686F-6AE9-E49D2043287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36A05DE8-C8CA-F086-5B24-333700A425AA}"/>
              </a:ext>
            </a:extLst>
          </p:cNvPr>
          <p:cNvSpPr>
            <a:spLocks noGrp="1"/>
          </p:cNvSpPr>
          <p:nvPr>
            <p:ph type="dt" sz="half" idx="10"/>
          </p:nvPr>
        </p:nvSpPr>
        <p:spPr/>
        <p:txBody>
          <a:bodyPr/>
          <a:lstStyle/>
          <a:p>
            <a:fld id="{29AAF7A9-2654-4B6C-8860-CF8574AC76B4}" type="datetimeFigureOut">
              <a:rPr lang="en-SG" smtClean="0"/>
              <a:t>8/9/2026</a:t>
            </a:fld>
            <a:endParaRPr lang="en-SG"/>
          </a:p>
        </p:txBody>
      </p:sp>
      <p:sp>
        <p:nvSpPr>
          <p:cNvPr id="4" name="Footer Placeholder 3">
            <a:extLst>
              <a:ext uri="{FF2B5EF4-FFF2-40B4-BE49-F238E27FC236}">
                <a16:creationId xmlns:a16="http://schemas.microsoft.com/office/drawing/2014/main" id="{24A2F0B0-75DB-BCBF-1F07-B4D578F00E15}"/>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FBD6C280-8574-2368-9FF5-0293CAA150D8}"/>
              </a:ext>
            </a:extLst>
          </p:cNvPr>
          <p:cNvSpPr>
            <a:spLocks noGrp="1"/>
          </p:cNvSpPr>
          <p:nvPr>
            <p:ph type="sldNum" sz="quarter" idx="12"/>
          </p:nvPr>
        </p:nvSpPr>
        <p:spPr/>
        <p:txBody>
          <a:bodyPr/>
          <a:lstStyle/>
          <a:p>
            <a:fld id="{50BF007E-5B3D-4E37-A543-54B39775E9F4}" type="slidenum">
              <a:rPr lang="en-SG" smtClean="0"/>
              <a:t>‹#›</a:t>
            </a:fld>
            <a:endParaRPr lang="en-SG"/>
          </a:p>
        </p:txBody>
      </p:sp>
    </p:spTree>
    <p:extLst>
      <p:ext uri="{BB962C8B-B14F-4D97-AF65-F5344CB8AC3E}">
        <p14:creationId xmlns:p14="http://schemas.microsoft.com/office/powerpoint/2010/main" val="2418923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25D87A-7DF1-1805-8810-281C072C59B9}"/>
              </a:ext>
            </a:extLst>
          </p:cNvPr>
          <p:cNvSpPr>
            <a:spLocks noGrp="1"/>
          </p:cNvSpPr>
          <p:nvPr>
            <p:ph type="dt" sz="half" idx="10"/>
          </p:nvPr>
        </p:nvSpPr>
        <p:spPr/>
        <p:txBody>
          <a:bodyPr/>
          <a:lstStyle/>
          <a:p>
            <a:fld id="{29AAF7A9-2654-4B6C-8860-CF8574AC76B4}" type="datetimeFigureOut">
              <a:rPr lang="en-SG" smtClean="0"/>
              <a:t>8/9/2026</a:t>
            </a:fld>
            <a:endParaRPr lang="en-SG"/>
          </a:p>
        </p:txBody>
      </p:sp>
      <p:sp>
        <p:nvSpPr>
          <p:cNvPr id="3" name="Footer Placeholder 2">
            <a:extLst>
              <a:ext uri="{FF2B5EF4-FFF2-40B4-BE49-F238E27FC236}">
                <a16:creationId xmlns:a16="http://schemas.microsoft.com/office/drawing/2014/main" id="{A9B684F1-A59F-7E1B-DDCD-DA7F7ACA5BF5}"/>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CB5D59AD-784A-1B33-ADE7-E2758C490C13}"/>
              </a:ext>
            </a:extLst>
          </p:cNvPr>
          <p:cNvSpPr>
            <a:spLocks noGrp="1"/>
          </p:cNvSpPr>
          <p:nvPr>
            <p:ph type="sldNum" sz="quarter" idx="12"/>
          </p:nvPr>
        </p:nvSpPr>
        <p:spPr/>
        <p:txBody>
          <a:bodyPr/>
          <a:lstStyle/>
          <a:p>
            <a:fld id="{50BF007E-5B3D-4E37-A543-54B39775E9F4}" type="slidenum">
              <a:rPr lang="en-SG" smtClean="0"/>
              <a:t>‹#›</a:t>
            </a:fld>
            <a:endParaRPr lang="en-SG"/>
          </a:p>
        </p:txBody>
      </p:sp>
    </p:spTree>
    <p:extLst>
      <p:ext uri="{BB962C8B-B14F-4D97-AF65-F5344CB8AC3E}">
        <p14:creationId xmlns:p14="http://schemas.microsoft.com/office/powerpoint/2010/main" val="974712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509C3-8EE7-7625-507A-99AA279102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4EA34C56-73A6-B8D7-F963-2F74A75BE8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EE0DAF6-0CD6-25F4-528C-C654C9E075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051C2-A3ED-EBBF-57B0-A0C204410919}"/>
              </a:ext>
            </a:extLst>
          </p:cNvPr>
          <p:cNvSpPr>
            <a:spLocks noGrp="1"/>
          </p:cNvSpPr>
          <p:nvPr>
            <p:ph type="dt" sz="half" idx="10"/>
          </p:nvPr>
        </p:nvSpPr>
        <p:spPr/>
        <p:txBody>
          <a:bodyPr/>
          <a:lstStyle/>
          <a:p>
            <a:fld id="{29AAF7A9-2654-4B6C-8860-CF8574AC76B4}" type="datetimeFigureOut">
              <a:rPr lang="en-SG" smtClean="0"/>
              <a:t>8/9/2026</a:t>
            </a:fld>
            <a:endParaRPr lang="en-SG"/>
          </a:p>
        </p:txBody>
      </p:sp>
      <p:sp>
        <p:nvSpPr>
          <p:cNvPr id="6" name="Footer Placeholder 5">
            <a:extLst>
              <a:ext uri="{FF2B5EF4-FFF2-40B4-BE49-F238E27FC236}">
                <a16:creationId xmlns:a16="http://schemas.microsoft.com/office/drawing/2014/main" id="{EF48FB81-139B-23CC-3633-FB5E020A19C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D1EFE66-EB14-D49A-A64E-5D0D7AD654F7}"/>
              </a:ext>
            </a:extLst>
          </p:cNvPr>
          <p:cNvSpPr>
            <a:spLocks noGrp="1"/>
          </p:cNvSpPr>
          <p:nvPr>
            <p:ph type="sldNum" sz="quarter" idx="12"/>
          </p:nvPr>
        </p:nvSpPr>
        <p:spPr/>
        <p:txBody>
          <a:bodyPr/>
          <a:lstStyle/>
          <a:p>
            <a:fld id="{50BF007E-5B3D-4E37-A543-54B39775E9F4}" type="slidenum">
              <a:rPr lang="en-SG" smtClean="0"/>
              <a:t>‹#›</a:t>
            </a:fld>
            <a:endParaRPr lang="en-SG"/>
          </a:p>
        </p:txBody>
      </p:sp>
    </p:spTree>
    <p:extLst>
      <p:ext uri="{BB962C8B-B14F-4D97-AF65-F5344CB8AC3E}">
        <p14:creationId xmlns:p14="http://schemas.microsoft.com/office/powerpoint/2010/main" val="422413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01AAC-35CB-63EA-648C-5BF214F9BA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7573C270-97FF-2EC1-F3F3-D818AF018C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0C814730-6BBC-8EDB-92EF-4BB33A9E2B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C7BDC2-6E15-26CE-0CEE-9F8093636E1F}"/>
              </a:ext>
            </a:extLst>
          </p:cNvPr>
          <p:cNvSpPr>
            <a:spLocks noGrp="1"/>
          </p:cNvSpPr>
          <p:nvPr>
            <p:ph type="dt" sz="half" idx="10"/>
          </p:nvPr>
        </p:nvSpPr>
        <p:spPr/>
        <p:txBody>
          <a:bodyPr/>
          <a:lstStyle/>
          <a:p>
            <a:fld id="{29AAF7A9-2654-4B6C-8860-CF8574AC76B4}" type="datetimeFigureOut">
              <a:rPr lang="en-SG" smtClean="0"/>
              <a:t>8/9/2026</a:t>
            </a:fld>
            <a:endParaRPr lang="en-SG"/>
          </a:p>
        </p:txBody>
      </p:sp>
      <p:sp>
        <p:nvSpPr>
          <p:cNvPr id="6" name="Footer Placeholder 5">
            <a:extLst>
              <a:ext uri="{FF2B5EF4-FFF2-40B4-BE49-F238E27FC236}">
                <a16:creationId xmlns:a16="http://schemas.microsoft.com/office/drawing/2014/main" id="{4932A188-6229-D0F8-53CC-A12AC65FD37C}"/>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D9DA5AF0-8687-E332-7271-6A73CBAF086B}"/>
              </a:ext>
            </a:extLst>
          </p:cNvPr>
          <p:cNvSpPr>
            <a:spLocks noGrp="1"/>
          </p:cNvSpPr>
          <p:nvPr>
            <p:ph type="sldNum" sz="quarter" idx="12"/>
          </p:nvPr>
        </p:nvSpPr>
        <p:spPr/>
        <p:txBody>
          <a:bodyPr/>
          <a:lstStyle/>
          <a:p>
            <a:fld id="{50BF007E-5B3D-4E37-A543-54B39775E9F4}" type="slidenum">
              <a:rPr lang="en-SG" smtClean="0"/>
              <a:t>‹#›</a:t>
            </a:fld>
            <a:endParaRPr lang="en-SG"/>
          </a:p>
        </p:txBody>
      </p:sp>
    </p:spTree>
    <p:extLst>
      <p:ext uri="{BB962C8B-B14F-4D97-AF65-F5344CB8AC3E}">
        <p14:creationId xmlns:p14="http://schemas.microsoft.com/office/powerpoint/2010/main" val="2623878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7CE50-6476-03FA-6831-F3651A53CC13}"/>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B92DFBDD-670C-D804-678E-F2EE70476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CCC0C40-46B9-F49C-F35A-F390399E79C7}"/>
              </a:ext>
            </a:extLst>
          </p:cNvPr>
          <p:cNvSpPr>
            <a:spLocks noGrp="1"/>
          </p:cNvSpPr>
          <p:nvPr>
            <p:ph type="dt" sz="half" idx="10"/>
          </p:nvPr>
        </p:nvSpPr>
        <p:spPr/>
        <p:txBody>
          <a:bodyPr/>
          <a:lstStyle/>
          <a:p>
            <a:fld id="{29AAF7A9-2654-4B6C-8860-CF8574AC76B4}" type="datetimeFigureOut">
              <a:rPr lang="en-SG" smtClean="0"/>
              <a:t>8/9/2026</a:t>
            </a:fld>
            <a:endParaRPr lang="en-SG"/>
          </a:p>
        </p:txBody>
      </p:sp>
      <p:sp>
        <p:nvSpPr>
          <p:cNvPr id="5" name="Footer Placeholder 4">
            <a:extLst>
              <a:ext uri="{FF2B5EF4-FFF2-40B4-BE49-F238E27FC236}">
                <a16:creationId xmlns:a16="http://schemas.microsoft.com/office/drawing/2014/main" id="{B614E825-59DE-F34B-6E68-EF2234C5E11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06EDFAB-7056-31F3-097C-9339E01E7A7A}"/>
              </a:ext>
            </a:extLst>
          </p:cNvPr>
          <p:cNvSpPr>
            <a:spLocks noGrp="1"/>
          </p:cNvSpPr>
          <p:nvPr>
            <p:ph type="sldNum" sz="quarter" idx="12"/>
          </p:nvPr>
        </p:nvSpPr>
        <p:spPr/>
        <p:txBody>
          <a:bodyPr/>
          <a:lstStyle/>
          <a:p>
            <a:fld id="{50BF007E-5B3D-4E37-A543-54B39775E9F4}" type="slidenum">
              <a:rPr lang="en-SG" smtClean="0"/>
              <a:t>‹#›</a:t>
            </a:fld>
            <a:endParaRPr lang="en-SG"/>
          </a:p>
        </p:txBody>
      </p:sp>
    </p:spTree>
    <p:extLst>
      <p:ext uri="{BB962C8B-B14F-4D97-AF65-F5344CB8AC3E}">
        <p14:creationId xmlns:p14="http://schemas.microsoft.com/office/powerpoint/2010/main" val="301999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326F95-DB7F-0F51-EADA-1AD2B2962A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3E19B0D7-53FA-1EE6-27DD-20F25377FA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EF9F9AAD-A730-4456-21A4-878024EF29E8}"/>
              </a:ext>
            </a:extLst>
          </p:cNvPr>
          <p:cNvSpPr>
            <a:spLocks noGrp="1"/>
          </p:cNvSpPr>
          <p:nvPr>
            <p:ph type="dt" sz="half" idx="10"/>
          </p:nvPr>
        </p:nvSpPr>
        <p:spPr/>
        <p:txBody>
          <a:bodyPr/>
          <a:lstStyle/>
          <a:p>
            <a:fld id="{29AAF7A9-2654-4B6C-8860-CF8574AC76B4}" type="datetimeFigureOut">
              <a:rPr lang="en-SG" smtClean="0"/>
              <a:t>8/9/2026</a:t>
            </a:fld>
            <a:endParaRPr lang="en-SG"/>
          </a:p>
        </p:txBody>
      </p:sp>
      <p:sp>
        <p:nvSpPr>
          <p:cNvPr id="5" name="Footer Placeholder 4">
            <a:extLst>
              <a:ext uri="{FF2B5EF4-FFF2-40B4-BE49-F238E27FC236}">
                <a16:creationId xmlns:a16="http://schemas.microsoft.com/office/drawing/2014/main" id="{2FCAEF57-4FF3-AD6C-E33C-27629826356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B0F9521-35A1-7B1F-638C-4F4327EA737B}"/>
              </a:ext>
            </a:extLst>
          </p:cNvPr>
          <p:cNvSpPr>
            <a:spLocks noGrp="1"/>
          </p:cNvSpPr>
          <p:nvPr>
            <p:ph type="sldNum" sz="quarter" idx="12"/>
          </p:nvPr>
        </p:nvSpPr>
        <p:spPr/>
        <p:txBody>
          <a:bodyPr/>
          <a:lstStyle/>
          <a:p>
            <a:fld id="{50BF007E-5B3D-4E37-A543-54B39775E9F4}" type="slidenum">
              <a:rPr lang="en-SG" smtClean="0"/>
              <a:t>‹#›</a:t>
            </a:fld>
            <a:endParaRPr lang="en-SG"/>
          </a:p>
        </p:txBody>
      </p:sp>
    </p:spTree>
    <p:extLst>
      <p:ext uri="{BB962C8B-B14F-4D97-AF65-F5344CB8AC3E}">
        <p14:creationId xmlns:p14="http://schemas.microsoft.com/office/powerpoint/2010/main" val="1565391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6C4CE7-D8A4-B0AF-83A5-1A1268208C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A3870497-FFCC-5BF3-FD4A-587B829F7B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6F1C5269-58C3-BC0D-3CA4-AC0E704230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AAF7A9-2654-4B6C-8860-CF8574AC76B4}" type="datetimeFigureOut">
              <a:rPr lang="en-SG" smtClean="0"/>
              <a:t>8/9/2026</a:t>
            </a:fld>
            <a:endParaRPr lang="en-SG"/>
          </a:p>
        </p:txBody>
      </p:sp>
      <p:sp>
        <p:nvSpPr>
          <p:cNvPr id="5" name="Footer Placeholder 4">
            <a:extLst>
              <a:ext uri="{FF2B5EF4-FFF2-40B4-BE49-F238E27FC236}">
                <a16:creationId xmlns:a16="http://schemas.microsoft.com/office/drawing/2014/main" id="{EC09E5F3-708C-4B4E-9A61-66C2C3666D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BA540D43-9676-3BE0-DA4A-DA1A3E2B71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BF007E-5B3D-4E37-A543-54B39775E9F4}" type="slidenum">
              <a:rPr lang="en-SG" smtClean="0"/>
              <a:t>‹#›</a:t>
            </a:fld>
            <a:endParaRPr lang="en-SG"/>
          </a:p>
        </p:txBody>
      </p:sp>
    </p:spTree>
    <p:extLst>
      <p:ext uri="{BB962C8B-B14F-4D97-AF65-F5344CB8AC3E}">
        <p14:creationId xmlns:p14="http://schemas.microsoft.com/office/powerpoint/2010/main" val="185672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7C8CB-A246-8A96-99C2-FDD5BC4A71E1}"/>
              </a:ext>
            </a:extLst>
          </p:cNvPr>
          <p:cNvSpPr>
            <a:spLocks noGrp="1"/>
          </p:cNvSpPr>
          <p:nvPr>
            <p:ph type="title"/>
          </p:nvPr>
        </p:nvSpPr>
        <p:spPr/>
        <p:txBody>
          <a:bodyPr/>
          <a:lstStyle/>
          <a:p>
            <a:r>
              <a:rPr lang="en-SG" dirty="0"/>
              <a:t>LO1 Activity – Digital Business Concepts</a:t>
            </a:r>
          </a:p>
        </p:txBody>
      </p:sp>
      <p:pic>
        <p:nvPicPr>
          <p:cNvPr id="5" name="Picture 4">
            <a:extLst>
              <a:ext uri="{FF2B5EF4-FFF2-40B4-BE49-F238E27FC236}">
                <a16:creationId xmlns:a16="http://schemas.microsoft.com/office/drawing/2014/main" id="{B6C9A730-66A1-43BC-C398-E98E578A1001}"/>
              </a:ext>
            </a:extLst>
          </p:cNvPr>
          <p:cNvPicPr>
            <a:picLocks noChangeAspect="1"/>
          </p:cNvPicPr>
          <p:nvPr/>
        </p:nvPicPr>
        <p:blipFill>
          <a:blip r:embed="rId2"/>
          <a:stretch>
            <a:fillRect/>
          </a:stretch>
        </p:blipFill>
        <p:spPr>
          <a:xfrm>
            <a:off x="956842" y="1690688"/>
            <a:ext cx="10332866" cy="2926282"/>
          </a:xfrm>
          <a:prstGeom prst="rect">
            <a:avLst/>
          </a:prstGeom>
        </p:spPr>
      </p:pic>
      <p:sp>
        <p:nvSpPr>
          <p:cNvPr id="7" name="TextBox 6">
            <a:extLst>
              <a:ext uri="{FF2B5EF4-FFF2-40B4-BE49-F238E27FC236}">
                <a16:creationId xmlns:a16="http://schemas.microsoft.com/office/drawing/2014/main" id="{00C785F7-0298-B9E7-2781-A82DA3592240}"/>
              </a:ext>
            </a:extLst>
          </p:cNvPr>
          <p:cNvSpPr txBox="1"/>
          <p:nvPr/>
        </p:nvSpPr>
        <p:spPr>
          <a:xfrm>
            <a:off x="956841" y="4704218"/>
            <a:ext cx="10332865" cy="1754326"/>
          </a:xfrm>
          <a:prstGeom prst="rect">
            <a:avLst/>
          </a:prstGeom>
          <a:noFill/>
        </p:spPr>
        <p:txBody>
          <a:bodyPr wrap="square">
            <a:spAutoFit/>
          </a:bodyPr>
          <a:lstStyle/>
          <a:p>
            <a:r>
              <a:rPr lang="en-SG" dirty="0"/>
              <a:t>A strong Singapore enterprise for this activity is </a:t>
            </a:r>
            <a:r>
              <a:rPr lang="en-SG" b="1" dirty="0"/>
              <a:t>NTUC FairPrice / FairPrice Group</a:t>
            </a:r>
            <a:r>
              <a:rPr lang="en-SG" dirty="0"/>
              <a:t>. It is especially suitable because it has evolved from a traditional supermarket retailer into an </a:t>
            </a:r>
            <a:r>
              <a:rPr lang="en-SG" b="1" dirty="0"/>
              <a:t>omnichannel digital business ecosystem</a:t>
            </a:r>
            <a:r>
              <a:rPr lang="en-SG" dirty="0"/>
              <a:t> involving online shopping, mobile payments, loyalty, dining, partners, AI, retail media, and data-driven services. FairPrice reports that its app is used across FairPrice stores, Kopitiam, Cheers and Unity, while its newer “Store of Tomorrow” programme includes AI-enabled operations, smart carts and digital-physical retail experiences</a:t>
            </a:r>
          </a:p>
        </p:txBody>
      </p:sp>
    </p:spTree>
    <p:extLst>
      <p:ext uri="{BB962C8B-B14F-4D97-AF65-F5344CB8AC3E}">
        <p14:creationId xmlns:p14="http://schemas.microsoft.com/office/powerpoint/2010/main" val="1860296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BAC78-C480-EE94-B2F7-3FD968613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4B1F2-819B-B720-9256-9E3BF604D70B}"/>
              </a:ext>
            </a:extLst>
          </p:cNvPr>
          <p:cNvSpPr>
            <a:spLocks noGrp="1"/>
          </p:cNvSpPr>
          <p:nvPr>
            <p:ph type="title"/>
          </p:nvPr>
        </p:nvSpPr>
        <p:spPr/>
        <p:txBody>
          <a:bodyPr/>
          <a:lstStyle/>
          <a:p>
            <a:r>
              <a:rPr lang="en-SG" dirty="0"/>
              <a:t>LO1 Activity – Digital Business Concepts</a:t>
            </a:r>
          </a:p>
        </p:txBody>
      </p:sp>
      <p:pic>
        <p:nvPicPr>
          <p:cNvPr id="4" name="Picture 3">
            <a:extLst>
              <a:ext uri="{FF2B5EF4-FFF2-40B4-BE49-F238E27FC236}">
                <a16:creationId xmlns:a16="http://schemas.microsoft.com/office/drawing/2014/main" id="{3C9F871A-A012-8810-B921-D4BAB3AB1F32}"/>
              </a:ext>
            </a:extLst>
          </p:cNvPr>
          <p:cNvPicPr>
            <a:picLocks noChangeAspect="1"/>
          </p:cNvPicPr>
          <p:nvPr/>
        </p:nvPicPr>
        <p:blipFill>
          <a:blip r:embed="rId2"/>
          <a:stretch>
            <a:fillRect/>
          </a:stretch>
        </p:blipFill>
        <p:spPr>
          <a:xfrm>
            <a:off x="695188" y="1690688"/>
            <a:ext cx="10801624" cy="4040383"/>
          </a:xfrm>
          <a:prstGeom prst="rect">
            <a:avLst/>
          </a:prstGeom>
        </p:spPr>
      </p:pic>
    </p:spTree>
    <p:extLst>
      <p:ext uri="{BB962C8B-B14F-4D97-AF65-F5344CB8AC3E}">
        <p14:creationId xmlns:p14="http://schemas.microsoft.com/office/powerpoint/2010/main" val="4219212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77880-76B7-EF64-AA1F-29255CC14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FA57C-36B0-A0B4-F059-2155F7487A57}"/>
              </a:ext>
            </a:extLst>
          </p:cNvPr>
          <p:cNvSpPr>
            <a:spLocks noGrp="1"/>
          </p:cNvSpPr>
          <p:nvPr>
            <p:ph type="title"/>
          </p:nvPr>
        </p:nvSpPr>
        <p:spPr/>
        <p:txBody>
          <a:bodyPr/>
          <a:lstStyle/>
          <a:p>
            <a:r>
              <a:rPr lang="en-SG" dirty="0"/>
              <a:t>LO1 Activity – Digital Business Concepts</a:t>
            </a:r>
          </a:p>
        </p:txBody>
      </p:sp>
      <p:pic>
        <p:nvPicPr>
          <p:cNvPr id="5" name="Picture 4">
            <a:extLst>
              <a:ext uri="{FF2B5EF4-FFF2-40B4-BE49-F238E27FC236}">
                <a16:creationId xmlns:a16="http://schemas.microsoft.com/office/drawing/2014/main" id="{1CDAE0CB-86BA-1311-2ABF-AC5989D42C8F}"/>
              </a:ext>
            </a:extLst>
          </p:cNvPr>
          <p:cNvPicPr>
            <a:picLocks noChangeAspect="1"/>
          </p:cNvPicPr>
          <p:nvPr/>
        </p:nvPicPr>
        <p:blipFill>
          <a:blip r:embed="rId2"/>
          <a:stretch>
            <a:fillRect/>
          </a:stretch>
        </p:blipFill>
        <p:spPr>
          <a:xfrm>
            <a:off x="885119" y="1623715"/>
            <a:ext cx="10329849" cy="3844273"/>
          </a:xfrm>
          <a:prstGeom prst="rect">
            <a:avLst/>
          </a:prstGeom>
        </p:spPr>
      </p:pic>
    </p:spTree>
    <p:extLst>
      <p:ext uri="{BB962C8B-B14F-4D97-AF65-F5344CB8AC3E}">
        <p14:creationId xmlns:p14="http://schemas.microsoft.com/office/powerpoint/2010/main" val="2281024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1D26A-A0F6-1F12-46C5-4CE8A9AFA2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33E33D-A91E-8BEA-2908-1D9AF367FE50}"/>
              </a:ext>
            </a:extLst>
          </p:cNvPr>
          <p:cNvSpPr>
            <a:spLocks noGrp="1"/>
          </p:cNvSpPr>
          <p:nvPr>
            <p:ph type="title"/>
          </p:nvPr>
        </p:nvSpPr>
        <p:spPr/>
        <p:txBody>
          <a:bodyPr/>
          <a:lstStyle/>
          <a:p>
            <a:r>
              <a:rPr lang="en-SG" dirty="0"/>
              <a:t>LO1 Activity – Digital Business Concepts</a:t>
            </a:r>
          </a:p>
        </p:txBody>
      </p:sp>
      <p:pic>
        <p:nvPicPr>
          <p:cNvPr id="4" name="Picture 3">
            <a:extLst>
              <a:ext uri="{FF2B5EF4-FFF2-40B4-BE49-F238E27FC236}">
                <a16:creationId xmlns:a16="http://schemas.microsoft.com/office/drawing/2014/main" id="{5BD16EE4-23CC-2E74-9738-2DA7033B0F0D}"/>
              </a:ext>
            </a:extLst>
          </p:cNvPr>
          <p:cNvPicPr>
            <a:picLocks noChangeAspect="1"/>
          </p:cNvPicPr>
          <p:nvPr/>
        </p:nvPicPr>
        <p:blipFill>
          <a:blip r:embed="rId2"/>
          <a:stretch>
            <a:fillRect/>
          </a:stretch>
        </p:blipFill>
        <p:spPr>
          <a:xfrm>
            <a:off x="928745" y="1593806"/>
            <a:ext cx="9450082" cy="4273081"/>
          </a:xfrm>
          <a:prstGeom prst="rect">
            <a:avLst/>
          </a:prstGeom>
        </p:spPr>
      </p:pic>
    </p:spTree>
    <p:extLst>
      <p:ext uri="{BB962C8B-B14F-4D97-AF65-F5344CB8AC3E}">
        <p14:creationId xmlns:p14="http://schemas.microsoft.com/office/powerpoint/2010/main" val="4252451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84E3D-68D2-2CD2-9B5D-99BE16C3C1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C37EF-2327-8FA4-C8B1-B7215E29CFB8}"/>
              </a:ext>
            </a:extLst>
          </p:cNvPr>
          <p:cNvSpPr>
            <a:spLocks noGrp="1"/>
          </p:cNvSpPr>
          <p:nvPr>
            <p:ph type="title"/>
          </p:nvPr>
        </p:nvSpPr>
        <p:spPr/>
        <p:txBody>
          <a:bodyPr/>
          <a:lstStyle/>
          <a:p>
            <a:r>
              <a:rPr lang="en-SG" dirty="0"/>
              <a:t>LO1 Activity – Digital Business Concepts</a:t>
            </a:r>
          </a:p>
        </p:txBody>
      </p:sp>
      <p:pic>
        <p:nvPicPr>
          <p:cNvPr id="5" name="Picture 4">
            <a:extLst>
              <a:ext uri="{FF2B5EF4-FFF2-40B4-BE49-F238E27FC236}">
                <a16:creationId xmlns:a16="http://schemas.microsoft.com/office/drawing/2014/main" id="{6E39998C-B607-B290-08DD-07D95980C881}"/>
              </a:ext>
            </a:extLst>
          </p:cNvPr>
          <p:cNvPicPr>
            <a:picLocks noChangeAspect="1"/>
          </p:cNvPicPr>
          <p:nvPr/>
        </p:nvPicPr>
        <p:blipFill>
          <a:blip r:embed="rId2"/>
          <a:stretch>
            <a:fillRect/>
          </a:stretch>
        </p:blipFill>
        <p:spPr>
          <a:xfrm>
            <a:off x="883037" y="1421179"/>
            <a:ext cx="8524849" cy="5202610"/>
          </a:xfrm>
          <a:prstGeom prst="rect">
            <a:avLst/>
          </a:prstGeom>
        </p:spPr>
      </p:pic>
    </p:spTree>
    <p:extLst>
      <p:ext uri="{BB962C8B-B14F-4D97-AF65-F5344CB8AC3E}">
        <p14:creationId xmlns:p14="http://schemas.microsoft.com/office/powerpoint/2010/main" val="2916949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26883-4631-9DE5-81B7-82AF9751D64C}"/>
              </a:ext>
            </a:extLst>
          </p:cNvPr>
          <p:cNvSpPr>
            <a:spLocks noGrp="1"/>
          </p:cNvSpPr>
          <p:nvPr>
            <p:ph type="title"/>
          </p:nvPr>
        </p:nvSpPr>
        <p:spPr/>
        <p:txBody>
          <a:bodyPr/>
          <a:lstStyle/>
          <a:p>
            <a:r>
              <a:rPr lang="en-SG" dirty="0"/>
              <a:t>LO2 Activity: Network Mapping</a:t>
            </a:r>
          </a:p>
        </p:txBody>
      </p:sp>
      <p:pic>
        <p:nvPicPr>
          <p:cNvPr id="5" name="Picture 4">
            <a:extLst>
              <a:ext uri="{FF2B5EF4-FFF2-40B4-BE49-F238E27FC236}">
                <a16:creationId xmlns:a16="http://schemas.microsoft.com/office/drawing/2014/main" id="{D218D4F3-692D-1E7F-291D-483C0DE91D11}"/>
              </a:ext>
            </a:extLst>
          </p:cNvPr>
          <p:cNvPicPr>
            <a:picLocks noChangeAspect="1"/>
          </p:cNvPicPr>
          <p:nvPr/>
        </p:nvPicPr>
        <p:blipFill>
          <a:blip r:embed="rId2"/>
          <a:stretch>
            <a:fillRect/>
          </a:stretch>
        </p:blipFill>
        <p:spPr>
          <a:xfrm>
            <a:off x="884620" y="1518296"/>
            <a:ext cx="9989989" cy="3184061"/>
          </a:xfrm>
          <a:prstGeom prst="rect">
            <a:avLst/>
          </a:prstGeom>
        </p:spPr>
      </p:pic>
      <p:sp>
        <p:nvSpPr>
          <p:cNvPr id="7" name="TextBox 6">
            <a:extLst>
              <a:ext uri="{FF2B5EF4-FFF2-40B4-BE49-F238E27FC236}">
                <a16:creationId xmlns:a16="http://schemas.microsoft.com/office/drawing/2014/main" id="{A27723C7-BDF1-7D7C-4D27-8DC5233647DB}"/>
              </a:ext>
            </a:extLst>
          </p:cNvPr>
          <p:cNvSpPr txBox="1"/>
          <p:nvPr/>
        </p:nvSpPr>
        <p:spPr>
          <a:xfrm>
            <a:off x="884619" y="4826675"/>
            <a:ext cx="10069769" cy="1754326"/>
          </a:xfrm>
          <a:prstGeom prst="rect">
            <a:avLst/>
          </a:prstGeom>
          <a:noFill/>
        </p:spPr>
        <p:txBody>
          <a:bodyPr wrap="square">
            <a:spAutoFit/>
          </a:bodyPr>
          <a:lstStyle/>
          <a:p>
            <a:r>
              <a:rPr lang="en-SG" dirty="0"/>
              <a:t>It works particularly well because the company transition from a </a:t>
            </a:r>
            <a:r>
              <a:rPr lang="en-SG" b="1" dirty="0"/>
              <a:t>linear grocery supply chain</a:t>
            </a:r>
            <a:r>
              <a:rPr lang="en-SG" dirty="0"/>
              <a:t> to a </a:t>
            </a:r>
            <a:r>
              <a:rPr lang="en-SG" b="1" dirty="0"/>
              <a:t>multi-directional digital value network</a:t>
            </a:r>
            <a:r>
              <a:rPr lang="en-SG" dirty="0"/>
              <a:t>. </a:t>
            </a:r>
          </a:p>
          <a:p>
            <a:endParaRPr lang="en-SG" dirty="0"/>
          </a:p>
          <a:p>
            <a:r>
              <a:rPr lang="en-SG" dirty="0"/>
              <a:t>FairPrice works with more than 4,000 suppliers across over 40 countries and operates more than 600 stores, while its digital ecosystem connects customers, suppliers, partners, technology providers, loyalty services and digital platforms.</a:t>
            </a:r>
          </a:p>
        </p:txBody>
      </p:sp>
    </p:spTree>
    <p:extLst>
      <p:ext uri="{BB962C8B-B14F-4D97-AF65-F5344CB8AC3E}">
        <p14:creationId xmlns:p14="http://schemas.microsoft.com/office/powerpoint/2010/main" val="3606803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822AC-BE36-9478-3CCB-90EF566A5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DC7E9-6F24-3535-7A65-BC1C2AD4AFFD}"/>
              </a:ext>
            </a:extLst>
          </p:cNvPr>
          <p:cNvSpPr>
            <a:spLocks noGrp="1"/>
          </p:cNvSpPr>
          <p:nvPr>
            <p:ph type="title"/>
          </p:nvPr>
        </p:nvSpPr>
        <p:spPr/>
        <p:txBody>
          <a:bodyPr/>
          <a:lstStyle/>
          <a:p>
            <a:r>
              <a:rPr lang="en-SG" dirty="0"/>
              <a:t>LO2 Activity: Network Mapping</a:t>
            </a:r>
          </a:p>
        </p:txBody>
      </p:sp>
      <p:sp>
        <p:nvSpPr>
          <p:cNvPr id="4" name="TextBox 3">
            <a:extLst>
              <a:ext uri="{FF2B5EF4-FFF2-40B4-BE49-F238E27FC236}">
                <a16:creationId xmlns:a16="http://schemas.microsoft.com/office/drawing/2014/main" id="{DE3278EA-4200-3FDE-30D0-C6AA825B11F2}"/>
              </a:ext>
            </a:extLst>
          </p:cNvPr>
          <p:cNvSpPr txBox="1"/>
          <p:nvPr/>
        </p:nvSpPr>
        <p:spPr>
          <a:xfrm>
            <a:off x="838200" y="1616100"/>
            <a:ext cx="1665660" cy="3693319"/>
          </a:xfrm>
          <a:prstGeom prst="rect">
            <a:avLst/>
          </a:prstGeom>
          <a:noFill/>
        </p:spPr>
        <p:txBody>
          <a:bodyPr wrap="square">
            <a:spAutoFit/>
          </a:bodyPr>
          <a:lstStyle/>
          <a:p>
            <a:r>
              <a:rPr lang="en-SG" dirty="0"/>
              <a:t>Farmers / Manufacturers ↓</a:t>
            </a:r>
          </a:p>
          <a:p>
            <a:r>
              <a:rPr lang="en-SG" dirty="0"/>
              <a:t> Suppliers </a:t>
            </a:r>
          </a:p>
          <a:p>
            <a:r>
              <a:rPr lang="en-SG" dirty="0"/>
              <a:t>↓ </a:t>
            </a:r>
          </a:p>
          <a:p>
            <a:r>
              <a:rPr lang="en-SG" dirty="0"/>
              <a:t>FairPrice Distribution Centre </a:t>
            </a:r>
          </a:p>
          <a:p>
            <a:r>
              <a:rPr lang="en-SG" dirty="0"/>
              <a:t>↓ </a:t>
            </a:r>
          </a:p>
          <a:p>
            <a:r>
              <a:rPr lang="en-SG" dirty="0"/>
              <a:t>FairPrice Supermarkets ↓</a:t>
            </a:r>
          </a:p>
          <a:p>
            <a:r>
              <a:rPr lang="en-SG" dirty="0"/>
              <a:t> Customers</a:t>
            </a:r>
          </a:p>
        </p:txBody>
      </p:sp>
      <p:sp>
        <p:nvSpPr>
          <p:cNvPr id="8" name="TextBox 7">
            <a:extLst>
              <a:ext uri="{FF2B5EF4-FFF2-40B4-BE49-F238E27FC236}">
                <a16:creationId xmlns:a16="http://schemas.microsoft.com/office/drawing/2014/main" id="{2BA5ACC1-45E9-9D72-0188-D8F4CF812DFF}"/>
              </a:ext>
            </a:extLst>
          </p:cNvPr>
          <p:cNvSpPr txBox="1"/>
          <p:nvPr/>
        </p:nvSpPr>
        <p:spPr>
          <a:xfrm>
            <a:off x="3576798" y="1517207"/>
            <a:ext cx="7777002" cy="2031325"/>
          </a:xfrm>
          <a:prstGeom prst="rect">
            <a:avLst/>
          </a:prstGeom>
          <a:noFill/>
        </p:spPr>
        <p:txBody>
          <a:bodyPr wrap="square">
            <a:spAutoFit/>
          </a:bodyPr>
          <a:lstStyle/>
          <a:p>
            <a:pPr>
              <a:buNone/>
            </a:pPr>
            <a:r>
              <a:rPr lang="en-SG" dirty="0"/>
              <a:t>In the traditional model:</a:t>
            </a:r>
          </a:p>
          <a:p>
            <a:pPr marL="342900" lvl="0" indent="-342900">
              <a:buFont typeface="+mj-lt"/>
              <a:buAutoNum type="arabicPeriod"/>
            </a:pPr>
            <a:r>
              <a:rPr lang="en-SG" b="1" dirty="0"/>
              <a:t>Suppliers/manufacturers</a:t>
            </a:r>
            <a:r>
              <a:rPr lang="en-SG" dirty="0"/>
              <a:t> provide food and consumer products. </a:t>
            </a:r>
          </a:p>
          <a:p>
            <a:pPr marL="342900" lvl="0" indent="-342900">
              <a:buFont typeface="+mj-lt"/>
              <a:buAutoNum type="arabicPeriod"/>
            </a:pPr>
            <a:r>
              <a:rPr lang="en-SG" dirty="0"/>
              <a:t>Products are transported to </a:t>
            </a:r>
            <a:r>
              <a:rPr lang="en-SG" b="1" dirty="0"/>
              <a:t>FairPrice distribution facilities</a:t>
            </a:r>
            <a:r>
              <a:rPr lang="en-SG" dirty="0"/>
              <a:t>. </a:t>
            </a:r>
          </a:p>
          <a:p>
            <a:pPr marL="342900" lvl="0" indent="-342900">
              <a:buFont typeface="+mj-lt"/>
              <a:buAutoNum type="arabicPeriod"/>
            </a:pPr>
            <a:r>
              <a:rPr lang="en-SG" dirty="0"/>
              <a:t>Products are distributed to </a:t>
            </a:r>
            <a:r>
              <a:rPr lang="en-SG" b="1" dirty="0"/>
              <a:t>physical FairPrice stores</a:t>
            </a:r>
            <a:r>
              <a:rPr lang="en-SG" dirty="0"/>
              <a:t>. </a:t>
            </a:r>
          </a:p>
          <a:p>
            <a:pPr marL="342900" lvl="0" indent="-342900">
              <a:buFont typeface="+mj-lt"/>
              <a:buAutoNum type="arabicPeriod"/>
            </a:pPr>
            <a:r>
              <a:rPr lang="en-SG" b="1" dirty="0"/>
              <a:t>Customers purchase</a:t>
            </a:r>
            <a:r>
              <a:rPr lang="en-SG" dirty="0"/>
              <a:t> the products. </a:t>
            </a:r>
          </a:p>
          <a:p>
            <a:pPr marL="342900" lvl="0" indent="-342900">
              <a:buFont typeface="+mj-lt"/>
              <a:buAutoNum type="arabicPeriod"/>
            </a:pPr>
            <a:r>
              <a:rPr lang="en-SG" dirty="0"/>
              <a:t>Customer feedback generally travels back through the retailer. </a:t>
            </a:r>
          </a:p>
          <a:p>
            <a:pPr>
              <a:buNone/>
            </a:pPr>
            <a:r>
              <a:rPr lang="en-SG" dirty="0"/>
              <a:t>This is primarily a </a:t>
            </a:r>
            <a:r>
              <a:rPr lang="en-SG" b="1" dirty="0"/>
              <a:t>one-directional flow of products and information</a:t>
            </a:r>
            <a:r>
              <a:rPr lang="en-SG" dirty="0"/>
              <a:t>.</a:t>
            </a:r>
          </a:p>
        </p:txBody>
      </p:sp>
      <p:sp>
        <p:nvSpPr>
          <p:cNvPr id="10" name="TextBox 9">
            <a:extLst>
              <a:ext uri="{FF2B5EF4-FFF2-40B4-BE49-F238E27FC236}">
                <a16:creationId xmlns:a16="http://schemas.microsoft.com/office/drawing/2014/main" id="{0E59C3F5-043F-4038-6C73-E32BD2A99E2F}"/>
              </a:ext>
            </a:extLst>
          </p:cNvPr>
          <p:cNvSpPr txBox="1"/>
          <p:nvPr/>
        </p:nvSpPr>
        <p:spPr>
          <a:xfrm>
            <a:off x="3692888" y="4110335"/>
            <a:ext cx="6097022" cy="923330"/>
          </a:xfrm>
          <a:prstGeom prst="rect">
            <a:avLst/>
          </a:prstGeom>
          <a:noFill/>
        </p:spPr>
        <p:txBody>
          <a:bodyPr wrap="square">
            <a:spAutoFit/>
          </a:bodyPr>
          <a:lstStyle/>
          <a:p>
            <a:r>
              <a:rPr lang="en-SG" dirty="0"/>
              <a:t>FairPrice's supplier network is substantial: the company states that it works with more than </a:t>
            </a:r>
            <a:r>
              <a:rPr lang="en-SG" b="1" dirty="0"/>
              <a:t>4,000 suppliers from over 40 countries</a:t>
            </a:r>
            <a:r>
              <a:rPr lang="en-SG" dirty="0"/>
              <a:t>. </a:t>
            </a:r>
          </a:p>
        </p:txBody>
      </p:sp>
    </p:spTree>
    <p:extLst>
      <p:ext uri="{BB962C8B-B14F-4D97-AF65-F5344CB8AC3E}">
        <p14:creationId xmlns:p14="http://schemas.microsoft.com/office/powerpoint/2010/main" val="1746625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4CE34-B169-45C4-CAEB-77FA8BF78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764E7D-6AA0-B777-4AAC-4F9461E32EB0}"/>
              </a:ext>
            </a:extLst>
          </p:cNvPr>
          <p:cNvSpPr>
            <a:spLocks noGrp="1"/>
          </p:cNvSpPr>
          <p:nvPr>
            <p:ph type="title"/>
          </p:nvPr>
        </p:nvSpPr>
        <p:spPr>
          <a:xfrm>
            <a:off x="596316" y="0"/>
            <a:ext cx="10515600" cy="1325563"/>
          </a:xfrm>
        </p:spPr>
        <p:txBody>
          <a:bodyPr/>
          <a:lstStyle/>
          <a:p>
            <a:r>
              <a:rPr lang="en-SG" dirty="0"/>
              <a:t>LO2 Activity: Network Mapping</a:t>
            </a:r>
          </a:p>
        </p:txBody>
      </p:sp>
      <p:pic>
        <p:nvPicPr>
          <p:cNvPr id="5" name="Picture 4">
            <a:extLst>
              <a:ext uri="{FF2B5EF4-FFF2-40B4-BE49-F238E27FC236}">
                <a16:creationId xmlns:a16="http://schemas.microsoft.com/office/drawing/2014/main" id="{19A759F4-C347-D98E-C148-42B1C06B510C}"/>
              </a:ext>
            </a:extLst>
          </p:cNvPr>
          <p:cNvPicPr>
            <a:picLocks noChangeAspect="1"/>
          </p:cNvPicPr>
          <p:nvPr/>
        </p:nvPicPr>
        <p:blipFill>
          <a:blip r:embed="rId2"/>
          <a:stretch>
            <a:fillRect/>
          </a:stretch>
        </p:blipFill>
        <p:spPr>
          <a:xfrm>
            <a:off x="516536" y="1050384"/>
            <a:ext cx="4445811" cy="5118448"/>
          </a:xfrm>
          <a:prstGeom prst="rect">
            <a:avLst/>
          </a:prstGeom>
        </p:spPr>
      </p:pic>
      <p:pic>
        <p:nvPicPr>
          <p:cNvPr id="7" name="Picture 6">
            <a:extLst>
              <a:ext uri="{FF2B5EF4-FFF2-40B4-BE49-F238E27FC236}">
                <a16:creationId xmlns:a16="http://schemas.microsoft.com/office/drawing/2014/main" id="{6CEBF01F-2BA3-B78A-D167-AADB847562B9}"/>
              </a:ext>
            </a:extLst>
          </p:cNvPr>
          <p:cNvPicPr>
            <a:picLocks noChangeAspect="1"/>
          </p:cNvPicPr>
          <p:nvPr/>
        </p:nvPicPr>
        <p:blipFill>
          <a:blip r:embed="rId3"/>
          <a:stretch>
            <a:fillRect/>
          </a:stretch>
        </p:blipFill>
        <p:spPr>
          <a:xfrm>
            <a:off x="5202254" y="1050384"/>
            <a:ext cx="6704012" cy="5005555"/>
          </a:xfrm>
          <a:prstGeom prst="rect">
            <a:avLst/>
          </a:prstGeom>
        </p:spPr>
      </p:pic>
      <p:sp>
        <p:nvSpPr>
          <p:cNvPr id="11" name="TextBox 10">
            <a:extLst>
              <a:ext uri="{FF2B5EF4-FFF2-40B4-BE49-F238E27FC236}">
                <a16:creationId xmlns:a16="http://schemas.microsoft.com/office/drawing/2014/main" id="{51D7E44C-BF2F-0CD9-942B-A0875FC2C68F}"/>
              </a:ext>
            </a:extLst>
          </p:cNvPr>
          <p:cNvSpPr txBox="1"/>
          <p:nvPr/>
        </p:nvSpPr>
        <p:spPr>
          <a:xfrm>
            <a:off x="208655" y="6232869"/>
            <a:ext cx="11801283" cy="584775"/>
          </a:xfrm>
          <a:prstGeom prst="rect">
            <a:avLst/>
          </a:prstGeom>
          <a:noFill/>
        </p:spPr>
        <p:txBody>
          <a:bodyPr wrap="square">
            <a:spAutoFit/>
          </a:bodyPr>
          <a:lstStyle/>
          <a:p>
            <a:r>
              <a:rPr lang="en-SG" sz="1600" dirty="0"/>
              <a:t>FairPrice's Link Rewards network is a particularly good example of a </a:t>
            </a:r>
            <a:r>
              <a:rPr lang="en-SG" sz="1600" b="1" dirty="0"/>
              <a:t>multi-sided network</a:t>
            </a:r>
            <a:r>
              <a:rPr lang="en-SG" sz="1600" dirty="0"/>
              <a:t>: it has more than 2.4 million members and over 1,000 participating partner outlets. Customers can earn and redeem </a:t>
            </a:r>
            <a:r>
              <a:rPr lang="en-SG" sz="1600" dirty="0" err="1"/>
              <a:t>Linkpoints</a:t>
            </a:r>
            <a:r>
              <a:rPr lang="en-SG" sz="1600" dirty="0"/>
              <a:t> across participating businesses. </a:t>
            </a:r>
          </a:p>
        </p:txBody>
      </p:sp>
    </p:spTree>
    <p:extLst>
      <p:ext uri="{BB962C8B-B14F-4D97-AF65-F5344CB8AC3E}">
        <p14:creationId xmlns:p14="http://schemas.microsoft.com/office/powerpoint/2010/main" val="889585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B93CD-0697-89C2-175C-A44CE9C22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5A506-5800-BA83-D1E2-0BC205DA65A6}"/>
              </a:ext>
            </a:extLst>
          </p:cNvPr>
          <p:cNvSpPr>
            <a:spLocks noGrp="1"/>
          </p:cNvSpPr>
          <p:nvPr>
            <p:ph type="title"/>
          </p:nvPr>
        </p:nvSpPr>
        <p:spPr>
          <a:xfrm>
            <a:off x="596316" y="0"/>
            <a:ext cx="10515600" cy="1325563"/>
          </a:xfrm>
        </p:spPr>
        <p:txBody>
          <a:bodyPr/>
          <a:lstStyle/>
          <a:p>
            <a:r>
              <a:rPr lang="en-SG" dirty="0"/>
              <a:t>LO2 Activity: Network Mapping</a:t>
            </a:r>
          </a:p>
        </p:txBody>
      </p:sp>
      <p:pic>
        <p:nvPicPr>
          <p:cNvPr id="4" name="Picture 3">
            <a:extLst>
              <a:ext uri="{FF2B5EF4-FFF2-40B4-BE49-F238E27FC236}">
                <a16:creationId xmlns:a16="http://schemas.microsoft.com/office/drawing/2014/main" id="{EBFC6991-A78A-E39E-BE07-D1A0166E728E}"/>
              </a:ext>
            </a:extLst>
          </p:cNvPr>
          <p:cNvPicPr>
            <a:picLocks noChangeAspect="1"/>
          </p:cNvPicPr>
          <p:nvPr/>
        </p:nvPicPr>
        <p:blipFill>
          <a:blip r:embed="rId2"/>
          <a:stretch>
            <a:fillRect/>
          </a:stretch>
        </p:blipFill>
        <p:spPr>
          <a:xfrm>
            <a:off x="700165" y="1054134"/>
            <a:ext cx="9036514" cy="3645087"/>
          </a:xfrm>
          <a:prstGeom prst="rect">
            <a:avLst/>
          </a:prstGeom>
        </p:spPr>
      </p:pic>
    </p:spTree>
    <p:extLst>
      <p:ext uri="{BB962C8B-B14F-4D97-AF65-F5344CB8AC3E}">
        <p14:creationId xmlns:p14="http://schemas.microsoft.com/office/powerpoint/2010/main" val="1389188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22477-8FFB-9749-2276-235DF776F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7B96F-3CEB-B63F-FCFD-B33853EDBB84}"/>
              </a:ext>
            </a:extLst>
          </p:cNvPr>
          <p:cNvSpPr>
            <a:spLocks noGrp="1"/>
          </p:cNvSpPr>
          <p:nvPr>
            <p:ph type="title"/>
          </p:nvPr>
        </p:nvSpPr>
        <p:spPr>
          <a:xfrm>
            <a:off x="596316" y="0"/>
            <a:ext cx="10515600" cy="1325563"/>
          </a:xfrm>
        </p:spPr>
        <p:txBody>
          <a:bodyPr/>
          <a:lstStyle/>
          <a:p>
            <a:r>
              <a:rPr lang="en-SG" dirty="0"/>
              <a:t>LO2 Activity: Network Mapping</a:t>
            </a:r>
          </a:p>
        </p:txBody>
      </p:sp>
      <p:pic>
        <p:nvPicPr>
          <p:cNvPr id="5" name="Picture 4">
            <a:extLst>
              <a:ext uri="{FF2B5EF4-FFF2-40B4-BE49-F238E27FC236}">
                <a16:creationId xmlns:a16="http://schemas.microsoft.com/office/drawing/2014/main" id="{174BDD3C-677E-9F12-84D8-B2D636EDC202}"/>
              </a:ext>
            </a:extLst>
          </p:cNvPr>
          <p:cNvPicPr>
            <a:picLocks noChangeAspect="1"/>
          </p:cNvPicPr>
          <p:nvPr/>
        </p:nvPicPr>
        <p:blipFill>
          <a:blip r:embed="rId2"/>
          <a:stretch>
            <a:fillRect/>
          </a:stretch>
        </p:blipFill>
        <p:spPr>
          <a:xfrm>
            <a:off x="722014" y="1196381"/>
            <a:ext cx="8649145" cy="4858000"/>
          </a:xfrm>
          <a:prstGeom prst="rect">
            <a:avLst/>
          </a:prstGeom>
        </p:spPr>
      </p:pic>
    </p:spTree>
    <p:extLst>
      <p:ext uri="{BB962C8B-B14F-4D97-AF65-F5344CB8AC3E}">
        <p14:creationId xmlns:p14="http://schemas.microsoft.com/office/powerpoint/2010/main" val="1863340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57A88-4525-5859-8470-092F7439D3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5661F6-B6A2-4516-2E1C-92A1B83917B4}"/>
              </a:ext>
            </a:extLst>
          </p:cNvPr>
          <p:cNvSpPr>
            <a:spLocks noGrp="1"/>
          </p:cNvSpPr>
          <p:nvPr>
            <p:ph type="title"/>
          </p:nvPr>
        </p:nvSpPr>
        <p:spPr>
          <a:xfrm>
            <a:off x="596316" y="0"/>
            <a:ext cx="10515600" cy="1325563"/>
          </a:xfrm>
        </p:spPr>
        <p:txBody>
          <a:bodyPr/>
          <a:lstStyle/>
          <a:p>
            <a:r>
              <a:rPr lang="en-SG" dirty="0"/>
              <a:t>LO2 Activity: Network Mapping</a:t>
            </a:r>
          </a:p>
        </p:txBody>
      </p:sp>
      <p:pic>
        <p:nvPicPr>
          <p:cNvPr id="4" name="Picture 3">
            <a:extLst>
              <a:ext uri="{FF2B5EF4-FFF2-40B4-BE49-F238E27FC236}">
                <a16:creationId xmlns:a16="http://schemas.microsoft.com/office/drawing/2014/main" id="{9C30BDD4-F107-35AC-4FAB-9B33A6093944}"/>
              </a:ext>
            </a:extLst>
          </p:cNvPr>
          <p:cNvPicPr>
            <a:picLocks noChangeAspect="1"/>
          </p:cNvPicPr>
          <p:nvPr/>
        </p:nvPicPr>
        <p:blipFill>
          <a:blip r:embed="rId2"/>
          <a:stretch>
            <a:fillRect/>
          </a:stretch>
        </p:blipFill>
        <p:spPr>
          <a:xfrm>
            <a:off x="741202" y="1023189"/>
            <a:ext cx="9150820" cy="5486682"/>
          </a:xfrm>
          <a:prstGeom prst="rect">
            <a:avLst/>
          </a:prstGeom>
        </p:spPr>
      </p:pic>
    </p:spTree>
    <p:extLst>
      <p:ext uri="{BB962C8B-B14F-4D97-AF65-F5344CB8AC3E}">
        <p14:creationId xmlns:p14="http://schemas.microsoft.com/office/powerpoint/2010/main" val="1703373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63FDF-45E0-0CAB-F1F2-BDC7D2E54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D61AB-B8FE-D15B-1D8C-63F83FCBDF73}"/>
              </a:ext>
            </a:extLst>
          </p:cNvPr>
          <p:cNvSpPr>
            <a:spLocks noGrp="1"/>
          </p:cNvSpPr>
          <p:nvPr>
            <p:ph type="title"/>
          </p:nvPr>
        </p:nvSpPr>
        <p:spPr>
          <a:xfrm>
            <a:off x="596316" y="0"/>
            <a:ext cx="10515600" cy="1325563"/>
          </a:xfrm>
        </p:spPr>
        <p:txBody>
          <a:bodyPr/>
          <a:lstStyle/>
          <a:p>
            <a:r>
              <a:rPr lang="en-SG" dirty="0"/>
              <a:t>LO2 Activity: Network Mapping</a:t>
            </a:r>
          </a:p>
        </p:txBody>
      </p:sp>
      <p:pic>
        <p:nvPicPr>
          <p:cNvPr id="5" name="Picture 4">
            <a:extLst>
              <a:ext uri="{FF2B5EF4-FFF2-40B4-BE49-F238E27FC236}">
                <a16:creationId xmlns:a16="http://schemas.microsoft.com/office/drawing/2014/main" id="{8311DEDB-07E6-2550-23DC-85153E2CEDE5}"/>
              </a:ext>
            </a:extLst>
          </p:cNvPr>
          <p:cNvPicPr>
            <a:picLocks noChangeAspect="1"/>
          </p:cNvPicPr>
          <p:nvPr/>
        </p:nvPicPr>
        <p:blipFill>
          <a:blip r:embed="rId2"/>
          <a:stretch>
            <a:fillRect/>
          </a:stretch>
        </p:blipFill>
        <p:spPr>
          <a:xfrm>
            <a:off x="697978" y="1013440"/>
            <a:ext cx="7194092" cy="2597283"/>
          </a:xfrm>
          <a:prstGeom prst="rect">
            <a:avLst/>
          </a:prstGeom>
        </p:spPr>
      </p:pic>
      <p:pic>
        <p:nvPicPr>
          <p:cNvPr id="7" name="Picture 6">
            <a:extLst>
              <a:ext uri="{FF2B5EF4-FFF2-40B4-BE49-F238E27FC236}">
                <a16:creationId xmlns:a16="http://schemas.microsoft.com/office/drawing/2014/main" id="{22C04C1C-16DA-9655-99D0-7B6E4DFEAD57}"/>
              </a:ext>
            </a:extLst>
          </p:cNvPr>
          <p:cNvPicPr>
            <a:picLocks noChangeAspect="1"/>
          </p:cNvPicPr>
          <p:nvPr/>
        </p:nvPicPr>
        <p:blipFill>
          <a:blip r:embed="rId3"/>
          <a:stretch>
            <a:fillRect/>
          </a:stretch>
        </p:blipFill>
        <p:spPr>
          <a:xfrm>
            <a:off x="7993732" y="1013440"/>
            <a:ext cx="4000706" cy="5283472"/>
          </a:xfrm>
          <a:prstGeom prst="rect">
            <a:avLst/>
          </a:prstGeom>
        </p:spPr>
      </p:pic>
    </p:spTree>
    <p:extLst>
      <p:ext uri="{BB962C8B-B14F-4D97-AF65-F5344CB8AC3E}">
        <p14:creationId xmlns:p14="http://schemas.microsoft.com/office/powerpoint/2010/main" val="2681295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D6746-FF43-C41C-8134-1CAE2712601D}"/>
              </a:ext>
            </a:extLst>
          </p:cNvPr>
          <p:cNvSpPr>
            <a:spLocks noGrp="1"/>
          </p:cNvSpPr>
          <p:nvPr>
            <p:ph type="title"/>
          </p:nvPr>
        </p:nvSpPr>
        <p:spPr/>
        <p:txBody>
          <a:bodyPr/>
          <a:lstStyle/>
          <a:p>
            <a:r>
              <a:rPr lang="en-SG" dirty="0"/>
              <a:t>LO3: Activity – Digital Transformation</a:t>
            </a:r>
          </a:p>
        </p:txBody>
      </p:sp>
      <p:pic>
        <p:nvPicPr>
          <p:cNvPr id="5" name="Picture 4">
            <a:extLst>
              <a:ext uri="{FF2B5EF4-FFF2-40B4-BE49-F238E27FC236}">
                <a16:creationId xmlns:a16="http://schemas.microsoft.com/office/drawing/2014/main" id="{E30392D0-4092-DA64-1240-BF2B775FF605}"/>
              </a:ext>
            </a:extLst>
          </p:cNvPr>
          <p:cNvPicPr>
            <a:picLocks noChangeAspect="1"/>
          </p:cNvPicPr>
          <p:nvPr/>
        </p:nvPicPr>
        <p:blipFill>
          <a:blip r:embed="rId2"/>
          <a:stretch>
            <a:fillRect/>
          </a:stretch>
        </p:blipFill>
        <p:spPr>
          <a:xfrm>
            <a:off x="1115120" y="1761714"/>
            <a:ext cx="9392133" cy="3829247"/>
          </a:xfrm>
          <a:prstGeom prst="rect">
            <a:avLst/>
          </a:prstGeom>
        </p:spPr>
      </p:pic>
    </p:spTree>
    <p:extLst>
      <p:ext uri="{BB962C8B-B14F-4D97-AF65-F5344CB8AC3E}">
        <p14:creationId xmlns:p14="http://schemas.microsoft.com/office/powerpoint/2010/main" val="4073248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53E59-11EA-A22E-0BB4-2452556675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8DA5E-AC76-0E6E-AFBA-CF63273FE618}"/>
              </a:ext>
            </a:extLst>
          </p:cNvPr>
          <p:cNvSpPr>
            <a:spLocks noGrp="1"/>
          </p:cNvSpPr>
          <p:nvPr>
            <p:ph type="title"/>
          </p:nvPr>
        </p:nvSpPr>
        <p:spPr/>
        <p:txBody>
          <a:bodyPr/>
          <a:lstStyle/>
          <a:p>
            <a:r>
              <a:rPr lang="en-SG" dirty="0"/>
              <a:t>LO3: Activity – Digital Transformation</a:t>
            </a:r>
          </a:p>
        </p:txBody>
      </p:sp>
      <p:pic>
        <p:nvPicPr>
          <p:cNvPr id="4" name="Picture 3">
            <a:extLst>
              <a:ext uri="{FF2B5EF4-FFF2-40B4-BE49-F238E27FC236}">
                <a16:creationId xmlns:a16="http://schemas.microsoft.com/office/drawing/2014/main" id="{6D66D85E-18B1-E105-5DDA-529DA9FA8AFE}"/>
              </a:ext>
            </a:extLst>
          </p:cNvPr>
          <p:cNvPicPr>
            <a:picLocks noChangeAspect="1"/>
          </p:cNvPicPr>
          <p:nvPr/>
        </p:nvPicPr>
        <p:blipFill>
          <a:blip r:embed="rId2"/>
          <a:stretch>
            <a:fillRect/>
          </a:stretch>
        </p:blipFill>
        <p:spPr>
          <a:xfrm>
            <a:off x="965628" y="1476531"/>
            <a:ext cx="8594970" cy="4871803"/>
          </a:xfrm>
          <a:prstGeom prst="rect">
            <a:avLst/>
          </a:prstGeom>
        </p:spPr>
      </p:pic>
    </p:spTree>
    <p:extLst>
      <p:ext uri="{BB962C8B-B14F-4D97-AF65-F5344CB8AC3E}">
        <p14:creationId xmlns:p14="http://schemas.microsoft.com/office/powerpoint/2010/main" val="1314245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C7648-809F-6A97-587B-30328B574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284E73-59A4-5356-4FCD-75B4B6215CAB}"/>
              </a:ext>
            </a:extLst>
          </p:cNvPr>
          <p:cNvSpPr>
            <a:spLocks noGrp="1"/>
          </p:cNvSpPr>
          <p:nvPr>
            <p:ph type="title"/>
          </p:nvPr>
        </p:nvSpPr>
        <p:spPr/>
        <p:txBody>
          <a:bodyPr/>
          <a:lstStyle/>
          <a:p>
            <a:r>
              <a:rPr lang="en-SG" dirty="0"/>
              <a:t>LO3: Activity – Digital Transformation</a:t>
            </a:r>
          </a:p>
        </p:txBody>
      </p:sp>
      <p:pic>
        <p:nvPicPr>
          <p:cNvPr id="5" name="Picture 4">
            <a:extLst>
              <a:ext uri="{FF2B5EF4-FFF2-40B4-BE49-F238E27FC236}">
                <a16:creationId xmlns:a16="http://schemas.microsoft.com/office/drawing/2014/main" id="{FAB4001F-1C47-67E6-00A8-DFBFF46DC96B}"/>
              </a:ext>
            </a:extLst>
          </p:cNvPr>
          <p:cNvPicPr>
            <a:picLocks noChangeAspect="1"/>
          </p:cNvPicPr>
          <p:nvPr/>
        </p:nvPicPr>
        <p:blipFill>
          <a:blip r:embed="rId2"/>
          <a:stretch>
            <a:fillRect/>
          </a:stretch>
        </p:blipFill>
        <p:spPr>
          <a:xfrm>
            <a:off x="916320" y="1498690"/>
            <a:ext cx="7215844" cy="5171934"/>
          </a:xfrm>
          <a:prstGeom prst="rect">
            <a:avLst/>
          </a:prstGeom>
        </p:spPr>
      </p:pic>
    </p:spTree>
    <p:extLst>
      <p:ext uri="{BB962C8B-B14F-4D97-AF65-F5344CB8AC3E}">
        <p14:creationId xmlns:p14="http://schemas.microsoft.com/office/powerpoint/2010/main" val="3455922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3EBA-FEA9-5F56-C09B-ECE49FDEF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44352-DD31-B897-C5F5-04B3863FBAB3}"/>
              </a:ext>
            </a:extLst>
          </p:cNvPr>
          <p:cNvSpPr>
            <a:spLocks noGrp="1"/>
          </p:cNvSpPr>
          <p:nvPr>
            <p:ph type="title"/>
          </p:nvPr>
        </p:nvSpPr>
        <p:spPr/>
        <p:txBody>
          <a:bodyPr/>
          <a:lstStyle/>
          <a:p>
            <a:r>
              <a:rPr lang="en-SG" dirty="0"/>
              <a:t>LO3: Activity – Digital Transformation</a:t>
            </a:r>
          </a:p>
        </p:txBody>
      </p:sp>
      <p:pic>
        <p:nvPicPr>
          <p:cNvPr id="4" name="Picture 3">
            <a:extLst>
              <a:ext uri="{FF2B5EF4-FFF2-40B4-BE49-F238E27FC236}">
                <a16:creationId xmlns:a16="http://schemas.microsoft.com/office/drawing/2014/main" id="{85F3678D-A92C-060A-B3B5-DDC5845F006E}"/>
              </a:ext>
            </a:extLst>
          </p:cNvPr>
          <p:cNvPicPr>
            <a:picLocks noChangeAspect="1"/>
          </p:cNvPicPr>
          <p:nvPr/>
        </p:nvPicPr>
        <p:blipFill>
          <a:blip r:embed="rId2"/>
          <a:stretch>
            <a:fillRect/>
          </a:stretch>
        </p:blipFill>
        <p:spPr>
          <a:xfrm>
            <a:off x="962694" y="1356609"/>
            <a:ext cx="6551460" cy="5136266"/>
          </a:xfrm>
          <a:prstGeom prst="rect">
            <a:avLst/>
          </a:prstGeom>
        </p:spPr>
      </p:pic>
      <p:sp>
        <p:nvSpPr>
          <p:cNvPr id="7" name="TextBox 6">
            <a:extLst>
              <a:ext uri="{FF2B5EF4-FFF2-40B4-BE49-F238E27FC236}">
                <a16:creationId xmlns:a16="http://schemas.microsoft.com/office/drawing/2014/main" id="{63B6E84C-A3D9-F453-55AF-845CF22370D1}"/>
              </a:ext>
            </a:extLst>
          </p:cNvPr>
          <p:cNvSpPr txBox="1"/>
          <p:nvPr/>
        </p:nvSpPr>
        <p:spPr>
          <a:xfrm>
            <a:off x="7873658" y="1356609"/>
            <a:ext cx="3878529" cy="3416320"/>
          </a:xfrm>
          <a:prstGeom prst="rect">
            <a:avLst/>
          </a:prstGeom>
          <a:noFill/>
        </p:spPr>
        <p:txBody>
          <a:bodyPr wrap="square">
            <a:spAutoFit/>
          </a:bodyPr>
          <a:lstStyle/>
          <a:p>
            <a:pPr>
              <a:buNone/>
            </a:pPr>
            <a:r>
              <a:rPr lang="en-SG" b="1" dirty="0"/>
              <a:t>Strategic interpretation</a:t>
            </a:r>
          </a:p>
          <a:p>
            <a:pPr>
              <a:buNone/>
            </a:pPr>
            <a:r>
              <a:rPr lang="en-SG" dirty="0"/>
              <a:t>The </a:t>
            </a:r>
            <a:r>
              <a:rPr lang="en-SG" b="1" dirty="0"/>
              <a:t>top-right quadrant</a:t>
            </a:r>
            <a:r>
              <a:rPr lang="en-SG" dirty="0"/>
              <a:t> represents drivers that have </a:t>
            </a:r>
            <a:r>
              <a:rPr lang="en-SG" b="1" dirty="0"/>
              <a:t>high impact and high urgency</a:t>
            </a:r>
            <a:r>
              <a:rPr lang="en-SG" dirty="0"/>
              <a:t>.</a:t>
            </a:r>
          </a:p>
          <a:p>
            <a:pPr>
              <a:buNone/>
            </a:pPr>
            <a:r>
              <a:rPr lang="en-SG" dirty="0"/>
              <a:t>For Singapore education, the two most important immediate drivers are:</a:t>
            </a:r>
          </a:p>
          <a:p>
            <a:pPr>
              <a:buNone/>
            </a:pPr>
            <a:r>
              <a:rPr lang="en-SG" b="1" dirty="0"/>
              <a:t>1. AI / Generative AI</a:t>
            </a:r>
            <a:br>
              <a:rPr lang="en-SG" dirty="0"/>
            </a:br>
            <a:r>
              <a:rPr lang="en-SG" b="1" dirty="0"/>
              <a:t>2. Changing workforce and skills requirements</a:t>
            </a:r>
            <a:endParaRPr lang="en-SG" dirty="0"/>
          </a:p>
          <a:p>
            <a:pPr>
              <a:buNone/>
            </a:pPr>
            <a:r>
              <a:rPr lang="en-SG" dirty="0"/>
              <a:t>These should receive immediate strategic attention.</a:t>
            </a:r>
          </a:p>
        </p:txBody>
      </p:sp>
    </p:spTree>
    <p:extLst>
      <p:ext uri="{BB962C8B-B14F-4D97-AF65-F5344CB8AC3E}">
        <p14:creationId xmlns:p14="http://schemas.microsoft.com/office/powerpoint/2010/main" val="2142074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2EE42-9C74-A137-BC12-E405A27C4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A06F4-1933-B800-DA1E-83C1A9050189}"/>
              </a:ext>
            </a:extLst>
          </p:cNvPr>
          <p:cNvSpPr>
            <a:spLocks noGrp="1"/>
          </p:cNvSpPr>
          <p:nvPr>
            <p:ph type="title"/>
          </p:nvPr>
        </p:nvSpPr>
        <p:spPr/>
        <p:txBody>
          <a:bodyPr/>
          <a:lstStyle/>
          <a:p>
            <a:r>
              <a:rPr lang="en-SG" dirty="0"/>
              <a:t>LO4: Activity – Strategic Alignment and ROI</a:t>
            </a:r>
          </a:p>
        </p:txBody>
      </p:sp>
      <p:pic>
        <p:nvPicPr>
          <p:cNvPr id="5" name="Picture 4">
            <a:extLst>
              <a:ext uri="{FF2B5EF4-FFF2-40B4-BE49-F238E27FC236}">
                <a16:creationId xmlns:a16="http://schemas.microsoft.com/office/drawing/2014/main" id="{A3018435-F38A-F7F6-3848-61AAB3E1E9DF}"/>
              </a:ext>
            </a:extLst>
          </p:cNvPr>
          <p:cNvPicPr>
            <a:picLocks noChangeAspect="1"/>
          </p:cNvPicPr>
          <p:nvPr/>
        </p:nvPicPr>
        <p:blipFill>
          <a:blip r:embed="rId2"/>
          <a:stretch>
            <a:fillRect/>
          </a:stretch>
        </p:blipFill>
        <p:spPr>
          <a:xfrm>
            <a:off x="923004" y="1359891"/>
            <a:ext cx="6001058" cy="5353325"/>
          </a:xfrm>
          <a:prstGeom prst="rect">
            <a:avLst/>
          </a:prstGeom>
        </p:spPr>
      </p:pic>
    </p:spTree>
    <p:extLst>
      <p:ext uri="{BB962C8B-B14F-4D97-AF65-F5344CB8AC3E}">
        <p14:creationId xmlns:p14="http://schemas.microsoft.com/office/powerpoint/2010/main" val="1089993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5D1FF-F53B-F8C7-A509-D7A4E96EB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DCED7F-A2F5-A0A4-F6E2-16782CB593BF}"/>
              </a:ext>
            </a:extLst>
          </p:cNvPr>
          <p:cNvSpPr>
            <a:spLocks noGrp="1"/>
          </p:cNvSpPr>
          <p:nvPr>
            <p:ph type="title"/>
          </p:nvPr>
        </p:nvSpPr>
        <p:spPr/>
        <p:txBody>
          <a:bodyPr/>
          <a:lstStyle/>
          <a:p>
            <a:r>
              <a:rPr lang="en-SG" dirty="0"/>
              <a:t>LO4: Activity – Strategic Alignment and ROI</a:t>
            </a:r>
          </a:p>
        </p:txBody>
      </p:sp>
      <p:pic>
        <p:nvPicPr>
          <p:cNvPr id="7" name="Picture 6">
            <a:extLst>
              <a:ext uri="{FF2B5EF4-FFF2-40B4-BE49-F238E27FC236}">
                <a16:creationId xmlns:a16="http://schemas.microsoft.com/office/drawing/2014/main" id="{0B77E017-C4A1-900A-59A8-A93C88CC44A2}"/>
              </a:ext>
            </a:extLst>
          </p:cNvPr>
          <p:cNvPicPr>
            <a:picLocks noChangeAspect="1"/>
          </p:cNvPicPr>
          <p:nvPr/>
        </p:nvPicPr>
        <p:blipFill>
          <a:blip r:embed="rId2"/>
          <a:stretch>
            <a:fillRect/>
          </a:stretch>
        </p:blipFill>
        <p:spPr>
          <a:xfrm>
            <a:off x="947607" y="1392819"/>
            <a:ext cx="6350449" cy="5327100"/>
          </a:xfrm>
          <a:prstGeom prst="rect">
            <a:avLst/>
          </a:prstGeom>
        </p:spPr>
      </p:pic>
    </p:spTree>
    <p:extLst>
      <p:ext uri="{BB962C8B-B14F-4D97-AF65-F5344CB8AC3E}">
        <p14:creationId xmlns:p14="http://schemas.microsoft.com/office/powerpoint/2010/main" val="135231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6638F-1A06-A716-8137-E7146B1744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9CFDE-76F1-9649-05DF-05CEBDF9F70B}"/>
              </a:ext>
            </a:extLst>
          </p:cNvPr>
          <p:cNvSpPr>
            <a:spLocks noGrp="1"/>
          </p:cNvSpPr>
          <p:nvPr>
            <p:ph type="title"/>
          </p:nvPr>
        </p:nvSpPr>
        <p:spPr/>
        <p:txBody>
          <a:bodyPr/>
          <a:lstStyle/>
          <a:p>
            <a:r>
              <a:rPr lang="en-SG" dirty="0"/>
              <a:t>LO4: Activity – Strategic Alignment and ROI</a:t>
            </a:r>
          </a:p>
        </p:txBody>
      </p:sp>
      <p:pic>
        <p:nvPicPr>
          <p:cNvPr id="4" name="Picture 3">
            <a:extLst>
              <a:ext uri="{FF2B5EF4-FFF2-40B4-BE49-F238E27FC236}">
                <a16:creationId xmlns:a16="http://schemas.microsoft.com/office/drawing/2014/main" id="{202AC26E-F0E0-7666-CC16-8A137EEB02BC}"/>
              </a:ext>
            </a:extLst>
          </p:cNvPr>
          <p:cNvPicPr>
            <a:picLocks noChangeAspect="1"/>
          </p:cNvPicPr>
          <p:nvPr/>
        </p:nvPicPr>
        <p:blipFill>
          <a:blip r:embed="rId2"/>
          <a:stretch>
            <a:fillRect/>
          </a:stretch>
        </p:blipFill>
        <p:spPr>
          <a:xfrm>
            <a:off x="365188" y="1415974"/>
            <a:ext cx="4604945" cy="5335313"/>
          </a:xfrm>
          <a:prstGeom prst="rect">
            <a:avLst/>
          </a:prstGeom>
        </p:spPr>
      </p:pic>
      <p:pic>
        <p:nvPicPr>
          <p:cNvPr id="6" name="Picture 5">
            <a:extLst>
              <a:ext uri="{FF2B5EF4-FFF2-40B4-BE49-F238E27FC236}">
                <a16:creationId xmlns:a16="http://schemas.microsoft.com/office/drawing/2014/main" id="{73680CBA-3125-7DBF-9181-DE8C507ABC93}"/>
              </a:ext>
            </a:extLst>
          </p:cNvPr>
          <p:cNvPicPr>
            <a:picLocks noChangeAspect="1"/>
          </p:cNvPicPr>
          <p:nvPr/>
        </p:nvPicPr>
        <p:blipFill>
          <a:blip r:embed="rId3"/>
          <a:stretch>
            <a:fillRect/>
          </a:stretch>
        </p:blipFill>
        <p:spPr>
          <a:xfrm>
            <a:off x="5368530" y="1415974"/>
            <a:ext cx="6458282" cy="2140060"/>
          </a:xfrm>
          <a:prstGeom prst="rect">
            <a:avLst/>
          </a:prstGeom>
        </p:spPr>
      </p:pic>
    </p:spTree>
    <p:extLst>
      <p:ext uri="{BB962C8B-B14F-4D97-AF65-F5344CB8AC3E}">
        <p14:creationId xmlns:p14="http://schemas.microsoft.com/office/powerpoint/2010/main" val="2285927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D6EDF-5813-9F22-945F-4154668ED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E12A4-2EBA-0584-CD0D-59605A8D72F8}"/>
              </a:ext>
            </a:extLst>
          </p:cNvPr>
          <p:cNvSpPr>
            <a:spLocks noGrp="1"/>
          </p:cNvSpPr>
          <p:nvPr>
            <p:ph type="title"/>
          </p:nvPr>
        </p:nvSpPr>
        <p:spPr/>
        <p:txBody>
          <a:bodyPr/>
          <a:lstStyle/>
          <a:p>
            <a:r>
              <a:rPr lang="en-SG" dirty="0"/>
              <a:t>LO4: Activity – Strategic Alignment and ROI</a:t>
            </a:r>
          </a:p>
        </p:txBody>
      </p:sp>
      <p:pic>
        <p:nvPicPr>
          <p:cNvPr id="5" name="Picture 4">
            <a:extLst>
              <a:ext uri="{FF2B5EF4-FFF2-40B4-BE49-F238E27FC236}">
                <a16:creationId xmlns:a16="http://schemas.microsoft.com/office/drawing/2014/main" id="{EDF8E483-C25F-1F96-BB3E-BE3FF169B810}"/>
              </a:ext>
            </a:extLst>
          </p:cNvPr>
          <p:cNvPicPr>
            <a:picLocks noChangeAspect="1"/>
          </p:cNvPicPr>
          <p:nvPr/>
        </p:nvPicPr>
        <p:blipFill>
          <a:blip r:embed="rId2"/>
          <a:stretch>
            <a:fillRect/>
          </a:stretch>
        </p:blipFill>
        <p:spPr>
          <a:xfrm>
            <a:off x="565978" y="1347394"/>
            <a:ext cx="5006969" cy="5396008"/>
          </a:xfrm>
          <a:prstGeom prst="rect">
            <a:avLst/>
          </a:prstGeom>
        </p:spPr>
      </p:pic>
      <p:pic>
        <p:nvPicPr>
          <p:cNvPr id="8" name="Picture 7">
            <a:extLst>
              <a:ext uri="{FF2B5EF4-FFF2-40B4-BE49-F238E27FC236}">
                <a16:creationId xmlns:a16="http://schemas.microsoft.com/office/drawing/2014/main" id="{185336C5-67DD-2678-48A7-37933C02FC76}"/>
              </a:ext>
            </a:extLst>
          </p:cNvPr>
          <p:cNvPicPr>
            <a:picLocks noChangeAspect="1"/>
          </p:cNvPicPr>
          <p:nvPr/>
        </p:nvPicPr>
        <p:blipFill>
          <a:blip r:embed="rId3"/>
          <a:stretch>
            <a:fillRect/>
          </a:stretch>
        </p:blipFill>
        <p:spPr>
          <a:xfrm>
            <a:off x="5845169" y="1347394"/>
            <a:ext cx="5839741" cy="5396008"/>
          </a:xfrm>
          <a:prstGeom prst="rect">
            <a:avLst/>
          </a:prstGeom>
        </p:spPr>
      </p:pic>
    </p:spTree>
    <p:extLst>
      <p:ext uri="{BB962C8B-B14F-4D97-AF65-F5344CB8AC3E}">
        <p14:creationId xmlns:p14="http://schemas.microsoft.com/office/powerpoint/2010/main" val="4174870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16C37-51A6-98E0-8B08-F16488A5C0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9FC09-6B79-0B01-497D-154ECC82016C}"/>
              </a:ext>
            </a:extLst>
          </p:cNvPr>
          <p:cNvSpPr>
            <a:spLocks noGrp="1"/>
          </p:cNvSpPr>
          <p:nvPr>
            <p:ph type="title"/>
          </p:nvPr>
        </p:nvSpPr>
        <p:spPr/>
        <p:txBody>
          <a:bodyPr/>
          <a:lstStyle/>
          <a:p>
            <a:r>
              <a:rPr lang="en-SG" dirty="0"/>
              <a:t>LO4: Activity – Strategic Alignment and ROI</a:t>
            </a:r>
          </a:p>
        </p:txBody>
      </p:sp>
      <p:pic>
        <p:nvPicPr>
          <p:cNvPr id="4" name="Picture 3">
            <a:extLst>
              <a:ext uri="{FF2B5EF4-FFF2-40B4-BE49-F238E27FC236}">
                <a16:creationId xmlns:a16="http://schemas.microsoft.com/office/drawing/2014/main" id="{84D53A32-7E3F-0FC5-8B46-AAF76EE75CE0}"/>
              </a:ext>
            </a:extLst>
          </p:cNvPr>
          <p:cNvPicPr>
            <a:picLocks noChangeAspect="1"/>
          </p:cNvPicPr>
          <p:nvPr/>
        </p:nvPicPr>
        <p:blipFill>
          <a:blip r:embed="rId2"/>
          <a:stretch>
            <a:fillRect/>
          </a:stretch>
        </p:blipFill>
        <p:spPr>
          <a:xfrm>
            <a:off x="982870" y="1492192"/>
            <a:ext cx="7895346" cy="4728725"/>
          </a:xfrm>
          <a:prstGeom prst="rect">
            <a:avLst/>
          </a:prstGeom>
        </p:spPr>
      </p:pic>
    </p:spTree>
    <p:extLst>
      <p:ext uri="{BB962C8B-B14F-4D97-AF65-F5344CB8AC3E}">
        <p14:creationId xmlns:p14="http://schemas.microsoft.com/office/powerpoint/2010/main" val="142964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35850-D002-4C40-5DD9-D8AF91910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85BE9-CF0F-2057-286A-6C6E1509D384}"/>
              </a:ext>
            </a:extLst>
          </p:cNvPr>
          <p:cNvSpPr>
            <a:spLocks noGrp="1"/>
          </p:cNvSpPr>
          <p:nvPr>
            <p:ph type="title"/>
          </p:nvPr>
        </p:nvSpPr>
        <p:spPr>
          <a:xfrm>
            <a:off x="868180" y="1571833"/>
            <a:ext cx="2699479" cy="1325563"/>
          </a:xfrm>
        </p:spPr>
        <p:txBody>
          <a:bodyPr>
            <a:normAutofit fontScale="90000"/>
          </a:bodyPr>
          <a:lstStyle/>
          <a:p>
            <a:r>
              <a:rPr lang="en-SG" dirty="0"/>
              <a:t>LO4: Activity – Strategic Alignment and ROI</a:t>
            </a:r>
          </a:p>
        </p:txBody>
      </p:sp>
      <p:pic>
        <p:nvPicPr>
          <p:cNvPr id="5" name="Picture 4">
            <a:extLst>
              <a:ext uri="{FF2B5EF4-FFF2-40B4-BE49-F238E27FC236}">
                <a16:creationId xmlns:a16="http://schemas.microsoft.com/office/drawing/2014/main" id="{B72BE439-7CC1-66B6-8CE7-BD2FD2216D0D}"/>
              </a:ext>
            </a:extLst>
          </p:cNvPr>
          <p:cNvPicPr>
            <a:picLocks noChangeAspect="1"/>
          </p:cNvPicPr>
          <p:nvPr/>
        </p:nvPicPr>
        <p:blipFill>
          <a:blip r:embed="rId2"/>
          <a:stretch>
            <a:fillRect/>
          </a:stretch>
        </p:blipFill>
        <p:spPr>
          <a:xfrm>
            <a:off x="5034191" y="0"/>
            <a:ext cx="6170961" cy="6858000"/>
          </a:xfrm>
          <a:prstGeom prst="rect">
            <a:avLst/>
          </a:prstGeom>
        </p:spPr>
      </p:pic>
    </p:spTree>
    <p:extLst>
      <p:ext uri="{BB962C8B-B14F-4D97-AF65-F5344CB8AC3E}">
        <p14:creationId xmlns:p14="http://schemas.microsoft.com/office/powerpoint/2010/main" val="5601046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1204</TotalTime>
  <Words>466</Words>
  <Application>Microsoft Office PowerPoint</Application>
  <PresentationFormat>Widescreen</PresentationFormat>
  <Paragraphs>47</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LO1 Activity – Digital Business Concepts</vt:lpstr>
      <vt:lpstr>LO1 Activity – Digital Business Concepts</vt:lpstr>
      <vt:lpstr>LO1 Activity – Digital Business Concepts</vt:lpstr>
      <vt:lpstr>LO1 Activity – Digital Business Concepts</vt:lpstr>
      <vt:lpstr>LO1 Activity – Digital Business Concepts</vt:lpstr>
      <vt:lpstr>LO2 Activity: Network Mapping</vt:lpstr>
      <vt:lpstr>LO2 Activity: Network Mapping</vt:lpstr>
      <vt:lpstr>LO2 Activity: Network Mapping</vt:lpstr>
      <vt:lpstr>LO2 Activity: Network Mapping</vt:lpstr>
      <vt:lpstr>LO2 Activity: Network Mapping</vt:lpstr>
      <vt:lpstr>LO2 Activity: Network Mapping</vt:lpstr>
      <vt:lpstr>LO2 Activity: Network Mapping</vt:lpstr>
      <vt:lpstr>LO3: Activity – Digital Transformation</vt:lpstr>
      <vt:lpstr>LO3: Activity – Digital Transformation</vt:lpstr>
      <vt:lpstr>LO3: Activity – Digital Transformation</vt:lpstr>
      <vt:lpstr>LO3: Activity – Digital Transformation</vt:lpstr>
      <vt:lpstr>LO4: Activity – Strategic Alignment and ROI</vt:lpstr>
      <vt:lpstr>LO4: Activity – Strategic Alignment and ROI</vt:lpstr>
      <vt:lpstr>LO4: Activity – Strategic Alignment and ROI</vt:lpstr>
      <vt:lpstr>LO4: Activity – Strategic Alignment and ROI</vt:lpstr>
      <vt:lpstr>LO4: Activity – Strategic Alignment and ROI</vt:lpstr>
      <vt:lpstr>LO4: Activity – Strategic Alignment and ROI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Marie Chris Soque</dc:creator>
  <cp:lastModifiedBy>Marie Chris Soque</cp:lastModifiedBy>
  <cp:revision>5</cp:revision>
  <dcterms:created xsi:type="dcterms:W3CDTF">2026-09-08T01:28:36Z</dcterms:created>
  <dcterms:modified xsi:type="dcterms:W3CDTF">2026-09-09T03:34:08Z</dcterms:modified>
</cp:coreProperties>
</file>
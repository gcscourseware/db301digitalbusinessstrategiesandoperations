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Inter ExtraBold" panose="020B0604020202020204" charset="0"/>
      <p:bold r:id="rId20"/>
      <p:boldItalic r:id="rId21"/>
    </p:embeddedFont>
    <p:embeddedFont>
      <p:font typeface="Inter Medium" panose="020B0604020202020204" charset="0"/>
      <p:regular r:id="rId22"/>
      <p:bold r:id="rId23"/>
      <p:italic r:id="rId24"/>
      <p:boldItalic r:id="rId25"/>
    </p:embeddedFont>
    <p:embeddedFont>
      <p:font typeface="Inter SemiBold" panose="020B0604020202020204" charset="0"/>
      <p:regular r:id="rId26"/>
      <p:bold r:id="rId27"/>
      <p:italic r:id="rId28"/>
      <p:boldItalic r:id="rId29"/>
    </p:embeddedFont>
    <p:embeddedFont>
      <p:font typeface="Plus Jakarta Sans" panose="020B0604020202020204" charset="0"/>
      <p:regular r:id="rId30"/>
      <p:bold r:id="rId31"/>
      <p:italic r:id="rId32"/>
      <p:boldItalic r:id="rId33"/>
    </p:embeddedFont>
    <p:embeddedFont>
      <p:font typeface="Plus Jakarta Sans ExtraBold" panose="020B0604020202020204" charset="0"/>
      <p:bold r:id="rId34"/>
      <p:boldItalic r:id="rId35"/>
    </p:embeddedFont>
    <p:embeddedFont>
      <p:font typeface="Plus Jakarta Sans SemiBold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AE3273-BFF7-40FB-AF4B-0B725A5A07F5}">
  <a:tblStyle styleId="{D4AE3273-BFF7-40FB-AF4B-0B725A5A07F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font" Target="fonts/font24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21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3.png"/><Relationship Id="rId4" Type="http://schemas.openxmlformats.org/officeDocument/2006/relationships/image" Target="../media/image24.pn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21.png"/><Relationship Id="rId9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24.png"/><Relationship Id="rId9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.png"/><Relationship Id="rId7" Type="http://schemas.openxmlformats.org/officeDocument/2006/relationships/image" Target="../media/image57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21.pn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7.png"/><Relationship Id="rId3" Type="http://schemas.openxmlformats.org/officeDocument/2006/relationships/image" Target="../media/image4.png"/><Relationship Id="rId7" Type="http://schemas.openxmlformats.org/officeDocument/2006/relationships/image" Target="../media/image62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65.png"/><Relationship Id="rId5" Type="http://schemas.openxmlformats.org/officeDocument/2006/relationships/image" Target="../media/image49.png"/><Relationship Id="rId15" Type="http://schemas.openxmlformats.org/officeDocument/2006/relationships/image" Target="../media/image69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64.png"/><Relationship Id="rId14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 l="2947"/>
          <a:stretch>
            <a:fillRect/>
          </a:stretch>
        </p:blipFill>
        <p:spPr>
          <a:xfrm>
            <a:off x="-71600" y="-54262"/>
            <a:ext cx="12449753" cy="724155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971550" y="2348358"/>
            <a:ext cx="103060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LEARNING UNIT 4</a:t>
            </a:r>
            <a:endParaRPr sz="1800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971550" y="2624583"/>
            <a:ext cx="10821352" cy="503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Operations Management in a Digital World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71550" y="3280767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Transforming operational workflows through Lean-Agile methodologies, automation, digital supply chains, customer journey optimization, and real-time dashboard analytics.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989EEE-36D4-0AA3-C2DC-4D78ED795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4258443"/>
            <a:ext cx="9129808" cy="54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39300" y="503783"/>
            <a:ext cx="20193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33400" y="457200"/>
            <a:ext cx="5546318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Session Schedule &amp; Lesson Timings</a:t>
            </a:r>
            <a:endParaRPr/>
          </a:p>
        </p:txBody>
      </p:sp>
      <p:graphicFrame>
        <p:nvGraphicFramePr>
          <p:cNvPr id="102" name="Google Shape;102;p14"/>
          <p:cNvGraphicFramePr/>
          <p:nvPr/>
        </p:nvGraphicFramePr>
        <p:xfrm>
          <a:off x="533400" y="1198215"/>
          <a:ext cx="11106125" cy="4924400"/>
        </p:xfrm>
        <a:graphic>
          <a:graphicData uri="http://schemas.openxmlformats.org/drawingml/2006/table">
            <a:tbl>
              <a:tblPr firstRow="1" bandRow="1">
                <a:noFill/>
                <a:tableStyleId>{D4AE3273-BFF7-40FB-AF4B-0B725A5A07F5}</a:tableStyleId>
              </a:tblPr>
              <a:tblGrid>
                <a:gridCol w="166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5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Time Frame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Module / Focus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Learning Content &amp; Core Activities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Delivery 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00:00 - 00:15</a:t>
                      </a: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(15m)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Intro &amp; Setup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Course overview, learning outcomes alignment, and context setting.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Interactive Lecture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00:15 - 00:55</a:t>
                      </a: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(40m)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LO1: Lean &amp; Agile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Process waste elimination, responsiveness + </a:t>
                      </a: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Simulation Workshop</a:t>
                      </a: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(25m)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Theory + Group Activity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00:55 - 01:35</a:t>
                      </a: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(40m)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LO2: Digital Chains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RPA, automated inventory, supply chain + </a:t>
                      </a: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Evaluation Case Study</a:t>
                      </a: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(25m)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Theory + Case Study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92400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01:35 - 01:50</a:t>
                      </a:r>
                      <a:r>
                        <a:rPr lang="en-US" sz="1125" b="0" i="0" u="none" strike="noStrike" cap="none">
                          <a:solidFill>
                            <a:srgbClr val="92400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(15m)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92400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NETWORKING BREAK</a:t>
                      </a:r>
                      <a:endParaRPr/>
                    </a:p>
                  </a:txBody>
                  <a:tcPr marL="2952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92400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15-Minute Refreshment &amp; Informal Discussion Break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92400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Break Period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01:50 - 02:30</a:t>
                      </a: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(40m)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LO3: Service Design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Customer journey mapping, digital touchpoints + </a:t>
                      </a: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Journey Mapping Lab</a:t>
                      </a: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(25m)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Theory + Mapping Lab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5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02:30 - 03:10</a:t>
                      </a: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(40m)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LO4: KPIs &amp; Dashboards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Operational metrics, real-time KPI design + </a:t>
                      </a: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Studio</a:t>
                      </a: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(25m)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Theory + Hands-on Lab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5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03:10 - 03:25</a:t>
                      </a: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(15m)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Wrap-Up &amp; Q&amp;A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 takeaway synthesis, workplace implementation plan, and open Q&amp;A.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Class Discussion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03033" y="58474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/>
          <p:nvPr/>
        </p:nvSpPr>
        <p:spPr>
          <a:xfrm>
            <a:off x="542925" y="2284065"/>
            <a:ext cx="1665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2208758" y="2284065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9869" y="2284065"/>
            <a:ext cx="49977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9427666" y="2284065"/>
            <a:ext cx="22214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42925" y="2922240"/>
            <a:ext cx="1665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2208758" y="2922240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4429869" y="2922240"/>
            <a:ext cx="49977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9427666" y="2922240"/>
            <a:ext cx="22214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542925" y="3560415"/>
            <a:ext cx="1665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2208758" y="3560415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4429869" y="3560415"/>
            <a:ext cx="49977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9427666" y="3560415"/>
            <a:ext cx="22214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542925" y="4198590"/>
            <a:ext cx="1665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2208758" y="4198590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4429869" y="4198590"/>
            <a:ext cx="49977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9427666" y="4198590"/>
            <a:ext cx="22214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542925" y="4836765"/>
            <a:ext cx="1665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2208758" y="4836765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4429869" y="4836765"/>
            <a:ext cx="49977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9427666" y="4836765"/>
            <a:ext cx="22214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542925" y="5474940"/>
            <a:ext cx="1665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2208758" y="5474940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4429869" y="5474940"/>
            <a:ext cx="49977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9427666" y="5474940"/>
            <a:ext cx="22214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08758" y="3897659"/>
            <a:ext cx="1809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77450" y="503783"/>
            <a:ext cx="15811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198215"/>
            <a:ext cx="541020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8400" y="1198215"/>
            <a:ext cx="541020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400" y="3846165"/>
            <a:ext cx="54102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48400" y="3846165"/>
            <a:ext cx="541020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533400" y="457200"/>
            <a:ext cx="5046724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Overall Unit Learning Outcomes</a:t>
            </a:r>
            <a:endParaRPr/>
          </a:p>
        </p:txBody>
      </p:sp>
      <p:pic>
        <p:nvPicPr>
          <p:cNvPr id="141" name="Google Shape;14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39375" y="58474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14363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771525" y="2045940"/>
            <a:ext cx="4933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LEARNING OUTCOME 1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771525" y="2245965"/>
            <a:ext cx="518064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Agile &amp; Lean Operations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771525" y="2598390"/>
            <a:ext cx="4933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Apply Agile and Lean operational principles to eliminate process waste and increase organizational responsiveness in digital workflows.</a:t>
            </a:r>
            <a:endParaRPr/>
          </a:p>
        </p:txBody>
      </p:sp>
      <p:pic>
        <p:nvPicPr>
          <p:cNvPr id="146" name="Google Shape;146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86525" y="14363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6486525" y="2045940"/>
            <a:ext cx="4933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LEARNING OUTCOME 2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486525" y="2245965"/>
            <a:ext cx="518064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Digital Supply Chains &amp; RPA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486525" y="2598390"/>
            <a:ext cx="4933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 end-to-end digital supply chains, Robotic Process Automation (RPA), and real-time inventory management systems.</a:t>
            </a:r>
            <a:endParaRPr/>
          </a:p>
        </p:txBody>
      </p:sp>
      <p:pic>
        <p:nvPicPr>
          <p:cNvPr id="150" name="Google Shape;150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1525" y="408429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771525" y="4693890"/>
            <a:ext cx="4933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LEARNING OUTCOME 3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771525" y="4893915"/>
            <a:ext cx="518064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Customer Journey &amp; Service Design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771525" y="5246340"/>
            <a:ext cx="4933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Map customer journeys and apply service design methodologies to optimize digital touchpoints and elevate user experience.</a:t>
            </a:r>
            <a:endParaRPr/>
          </a:p>
        </p:txBody>
      </p:sp>
      <p:pic>
        <p:nvPicPr>
          <p:cNvPr id="154" name="Google Shape;154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86525" y="408429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6486525" y="4693890"/>
            <a:ext cx="4933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LEARNING OUTCOME 4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6486525" y="4893915"/>
            <a:ext cx="518064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Operational KPIs &amp; Dashboards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6486525" y="5246340"/>
            <a:ext cx="4933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Establish operational KPIs and digital dashboard metrics to evaluate process performance and continuous operational efficiency.</a:t>
            </a:r>
            <a:endParaRPr/>
          </a:p>
        </p:txBody>
      </p:sp>
      <p:pic>
        <p:nvPicPr>
          <p:cNvPr id="158" name="Google Shape;158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14400" y="156969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96062" y="156969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04875" y="421764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619875" y="421764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9825" y="503783"/>
            <a:ext cx="162877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533400" y="457200"/>
            <a:ext cx="4330228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LO1: Agile &amp; Lean Principles</a:t>
            </a:r>
            <a:endParaRPr/>
          </a:p>
        </p:txBody>
      </p:sp>
      <p:pic>
        <p:nvPicPr>
          <p:cNvPr id="170" name="Google Shape;17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6594" y="591008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533400" y="1198215"/>
            <a:ext cx="568071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Eliminating Waste &amp; Increasing Agility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533400" y="1550640"/>
            <a:ext cx="541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digital operations, Lean focuses on eliminating non-value-adding steps (Muda), while Agile enables rapid response to shifting market conditions.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800100" y="210309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Identify 8 Digital Wastes: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Defects, overprocessing, waiting times, unused talent, and unnecessary data movement.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800100" y="267459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Iterative Sprints: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Breaking operational transformation into rapid 2-week execution cycles.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800100" y="324609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Pull Systems: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Triggering operational tasks based on real-time customer demand signals.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800100" y="381759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Continuous Improvement (Kaizen):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Empowering cross-functional teams to streamline daily operational flows.</a:t>
            </a:r>
            <a:endParaRPr/>
          </a:p>
        </p:txBody>
      </p:sp>
      <p:pic>
        <p:nvPicPr>
          <p:cNvPr id="178" name="Google Shape;17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214119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271269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328419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385569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9E5313-6911-2C1A-515B-5716D102E3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66" y="1144013"/>
            <a:ext cx="6006164" cy="3597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0275" y="503783"/>
            <a:ext cx="18383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198215"/>
            <a:ext cx="5410200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2779365"/>
            <a:ext cx="491490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48400" y="1198215"/>
            <a:ext cx="54102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48400" y="3950940"/>
            <a:ext cx="541020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533400" y="457200"/>
            <a:ext cx="5059851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LO1 Activity: Process Waste Lab</a:t>
            </a:r>
            <a:endParaRPr/>
          </a:p>
        </p:txBody>
      </p:sp>
      <p:pic>
        <p:nvPicPr>
          <p:cNvPr id="193" name="Google Shape;19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81992" y="591008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1050" y="1445865"/>
            <a:ext cx="2653754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 txBox="1"/>
          <p:nvPr/>
        </p:nvSpPr>
        <p:spPr>
          <a:xfrm>
            <a:off x="781050" y="1779240"/>
            <a:ext cx="516064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Lean Process Waste Audit &amp; Redesign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781050" y="2131665"/>
            <a:ext cx="491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Scenario: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digital order fulfillment process suffers from 40% lead time delays due to manual approvals and redundant data entry.</a:t>
            </a:r>
            <a:endParaRPr/>
          </a:p>
        </p:txBody>
      </p:sp>
      <p:pic>
        <p:nvPicPr>
          <p:cNvPr id="197" name="Google Shape;197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95350" y="1503015"/>
            <a:ext cx="148679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923925" y="2941290"/>
            <a:ext cx="13716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Activity Instructions: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6486525" y="1436340"/>
            <a:ext cx="518064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Activity Breakdown (25 Mins)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6486525" y="1712565"/>
            <a:ext cx="4933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05 Mins: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Team setup &amp; scenario briefing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12 Mins: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Waste identification &amp; workflow redesign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08 Mins: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Group presentations &amp; feedback discussion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6486525" y="4189065"/>
            <a:ext cx="518064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Expected Deliverable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6486525" y="4465290"/>
            <a:ext cx="4933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1-page "Before vs. After" Lean workflow diagram showing eliminated bottlenecks and calculated cycle-time savings.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981075" y="3188940"/>
            <a:ext cx="114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1095375" y="3188940"/>
            <a:ext cx="445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Review the sample order workflow diagram provided.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952500" y="351279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1095375" y="3512790"/>
            <a:ext cx="4457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Identify at least 3 forms of digital waste (e.g., waiting, overprocessing).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952500" y="406524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1095375" y="4065240"/>
            <a:ext cx="445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Apply Lean-Agile principles to eliminate 2 redundant steps.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962025" y="4389090"/>
            <a:ext cx="133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1095375" y="4389090"/>
            <a:ext cx="445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Draft a revised, streamlined workflow structure.</a:t>
            </a:r>
            <a:endParaRPr/>
          </a:p>
        </p:txBody>
      </p:sp>
      <p:pic>
        <p:nvPicPr>
          <p:cNvPr id="211" name="Google Shape;211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86525" y="146491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86525" y="4217640"/>
            <a:ext cx="1714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750" y="461388"/>
            <a:ext cx="1466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198215"/>
            <a:ext cx="5410200" cy="308967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533400" y="457200"/>
            <a:ext cx="5183147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LO2: Digital Supply Chains &amp; RPA</a:t>
            </a:r>
            <a:endParaRPr/>
          </a:p>
        </p:txBody>
      </p:sp>
      <p:pic>
        <p:nvPicPr>
          <p:cNvPr id="221" name="Google Shape;22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48118" y="5423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2925" y="1207740"/>
            <a:ext cx="5391150" cy="307062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 txBox="1"/>
          <p:nvPr/>
        </p:nvSpPr>
        <p:spPr>
          <a:xfrm>
            <a:off x="6248400" y="1198215"/>
            <a:ext cx="568071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Automating End-to-End Operations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6248400" y="1550640"/>
            <a:ext cx="541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Integrating Robotic Process Automation (RPA) and real-time IoT tracking creates a seamless, error-free supply chain architecture.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6515100" y="210309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Robotic Process Automation (RPA):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Automates repetitive transactional tasks such as invoice matching and order status updates.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6515100" y="267459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Real-Time Inventory Systems: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RFID and IoT sensor integration for precise stock visibility across all fulfillment nodes.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6515100" y="324609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Connected Supply Ecosystems: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Direct API connectivity between suppliers, logistics providers, and end customers.</a:t>
            </a:r>
            <a:endParaRPr/>
          </a:p>
        </p:txBody>
      </p:sp>
      <p:pic>
        <p:nvPicPr>
          <p:cNvPr id="228" name="Google Shape;22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48400" y="214119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48400" y="271269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48400" y="3284190"/>
            <a:ext cx="1905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0275" y="503783"/>
            <a:ext cx="18383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198215"/>
            <a:ext cx="54102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2779365"/>
            <a:ext cx="49149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48400" y="1198215"/>
            <a:ext cx="54102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48400" y="2017365"/>
            <a:ext cx="54102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48400" y="2836515"/>
            <a:ext cx="54102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9"/>
          <p:cNvSpPr txBox="1"/>
          <p:nvPr/>
        </p:nvSpPr>
        <p:spPr>
          <a:xfrm>
            <a:off x="533400" y="457200"/>
            <a:ext cx="6318914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LO2 Activity: RPA Feasibility Case Study</a:t>
            </a:r>
            <a:endParaRPr/>
          </a:p>
        </p:txBody>
      </p:sp>
      <p:pic>
        <p:nvPicPr>
          <p:cNvPr id="243" name="Google Shape;24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77871" y="597019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1050" y="1445865"/>
            <a:ext cx="1863179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9"/>
          <p:cNvSpPr txBox="1"/>
          <p:nvPr/>
        </p:nvSpPr>
        <p:spPr>
          <a:xfrm>
            <a:off x="781050" y="1779240"/>
            <a:ext cx="516064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RPA &amp; Inventory Automation Matrix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781050" y="2131665"/>
            <a:ext cx="491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Scenario: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Global Logistics Corp experiences high error rates in manual inventory reconciliation across 3 regional distribution hubs.</a:t>
            </a:r>
            <a:endParaRPr/>
          </a:p>
        </p:txBody>
      </p:sp>
      <p:pic>
        <p:nvPicPr>
          <p:cNvPr id="247" name="Google Shape;247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5350" y="1503015"/>
            <a:ext cx="139154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9"/>
          <p:cNvSpPr txBox="1"/>
          <p:nvPr/>
        </p:nvSpPr>
        <p:spPr>
          <a:xfrm>
            <a:off x="923925" y="2941290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Activity Tasks: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981075" y="3188940"/>
            <a:ext cx="114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1095375" y="3188940"/>
            <a:ext cx="4457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 4 candidate tasks for RPA implementation using the Feasibility Matrix.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952500" y="374139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1095375" y="3741390"/>
            <a:ext cx="4457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Select top 2 tasks with highest ROI and lowest implementation complexity.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952500" y="429384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1095375" y="4293840"/>
            <a:ext cx="445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Propose a real-time inventory tracking integration model.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6410325" y="1388715"/>
            <a:ext cx="5086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TASK 1: EVALUATION (10 MINS)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6410325" y="1607790"/>
            <a:ext cx="5086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Assess rule-based tasks vs. exception-heavy tasks using candidate matrix.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6410325" y="2207865"/>
            <a:ext cx="5086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TASK 2: ROI CALCULATION (08 MINS)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6410325" y="2426940"/>
            <a:ext cx="5086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Estimate cost-per-transaction reduction following bot deployment.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6410325" y="3027015"/>
            <a:ext cx="5086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TASK 3: DEBRIEF (07 MINS)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6410325" y="3246090"/>
            <a:ext cx="5086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Compare team evaluation scores and refine automation criteria.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9825" y="503783"/>
            <a:ext cx="16287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8400" y="1198215"/>
            <a:ext cx="5410200" cy="36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533400" y="457200"/>
            <a:ext cx="6452525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LO3: Customer Journey &amp; Service Design</a:t>
            </a:r>
            <a:endParaRPr/>
          </a:p>
        </p:txBody>
      </p:sp>
      <p:pic>
        <p:nvPicPr>
          <p:cNvPr id="269" name="Google Shape;26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24243" y="58474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0"/>
          <p:cNvSpPr txBox="1"/>
          <p:nvPr/>
        </p:nvSpPr>
        <p:spPr>
          <a:xfrm>
            <a:off x="533400" y="1198215"/>
            <a:ext cx="568071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Service Design &amp; Touchpoint Optimization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533400" y="1550640"/>
            <a:ext cx="541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Aligning front-stage user experiences with back-stage operational processes ensures seamless customer interactions.</a:t>
            </a:r>
            <a:endParaRPr/>
          </a:p>
        </p:txBody>
      </p:sp>
      <p:pic>
        <p:nvPicPr>
          <p:cNvPr id="272" name="Google Shape;27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57925" y="1207740"/>
            <a:ext cx="5391150" cy="363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0"/>
          <p:cNvSpPr txBox="1"/>
          <p:nvPr/>
        </p:nvSpPr>
        <p:spPr>
          <a:xfrm>
            <a:off x="800100" y="210309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Customer Journey Mapping: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Visualizing steps, emotion levels, pain points, and moments of truth.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800100" y="267459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Service Blueprinting: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Connecting customer actions directly to operational support processes and IT infrastructure.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800100" y="324609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Omnichannel Touchpoints: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Creating consistent digital experiences across mobile apps, web, and support channels.</a:t>
            </a:r>
            <a:endParaRPr/>
          </a:p>
        </p:txBody>
      </p:sp>
      <p:pic>
        <p:nvPicPr>
          <p:cNvPr id="276" name="Google Shape;27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3400" y="214119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3400" y="271269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3400" y="3284190"/>
            <a:ext cx="1143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0275" y="503783"/>
            <a:ext cx="18383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198215"/>
            <a:ext cx="541020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2779365"/>
            <a:ext cx="49149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48400" y="1198215"/>
            <a:ext cx="54102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1"/>
          <p:cNvSpPr txBox="1"/>
          <p:nvPr/>
        </p:nvSpPr>
        <p:spPr>
          <a:xfrm>
            <a:off x="533400" y="457200"/>
            <a:ext cx="595605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LO3 Activity: Journey Mapping Studio</a:t>
            </a:r>
            <a:endParaRPr/>
          </a:p>
        </p:txBody>
      </p:sp>
      <p:pic>
        <p:nvPicPr>
          <p:cNvPr id="289" name="Google Shape;289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96282" y="584745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1050" y="1445865"/>
            <a:ext cx="1693664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 txBox="1"/>
          <p:nvPr/>
        </p:nvSpPr>
        <p:spPr>
          <a:xfrm>
            <a:off x="781050" y="1779240"/>
            <a:ext cx="516064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Digital Touchpoint Optimization Exercise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781050" y="2131665"/>
            <a:ext cx="491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Scenario: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Users report a friction-heavy onboarding process for an enterprise SaaS operational platform.</a:t>
            </a:r>
            <a:endParaRPr/>
          </a:p>
        </p:txBody>
      </p:sp>
      <p:pic>
        <p:nvPicPr>
          <p:cNvPr id="293" name="Google Shape;293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5350" y="1503015"/>
            <a:ext cx="120104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1"/>
          <p:cNvSpPr txBox="1"/>
          <p:nvPr/>
        </p:nvSpPr>
        <p:spPr>
          <a:xfrm>
            <a:off x="923925" y="2941290"/>
            <a:ext cx="685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Lab Steps: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6486525" y="2641252"/>
            <a:ext cx="518064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Activity Objective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6486525" y="2993677"/>
            <a:ext cx="49339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Develop a high-impact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Service Blueprint Draft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that links optimized customer touchpoints directly to backend digital automation systems.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6486525" y="3631852"/>
            <a:ext cx="4933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Timing: 15m Mapping | 10m Group Showcase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981075" y="3188940"/>
            <a:ext cx="114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1095375" y="3188940"/>
            <a:ext cx="4457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Map out the 5 key onboarding phases (Awareness -&gt; Signup -&gt; Setup -&gt; Usage -&gt; Support).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952500" y="374139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1095375" y="3741390"/>
            <a:ext cx="4457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Identify key digital touchpoints and pin high-friction pain points.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952500" y="429384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1095375" y="4293840"/>
            <a:ext cx="4457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Redesign 2 critical touchpoints to improve user satisfaction (CSAT).</a:t>
            </a:r>
            <a:endParaRPr/>
          </a:p>
        </p:txBody>
      </p:sp>
      <p:pic>
        <p:nvPicPr>
          <p:cNvPr id="304" name="Google Shape;304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86525" y="2679352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9825" y="503783"/>
            <a:ext cx="16287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8400" y="1198215"/>
            <a:ext cx="5410200" cy="308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4516487"/>
            <a:ext cx="2638425" cy="84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62325" y="4516487"/>
            <a:ext cx="2638425" cy="84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4516487"/>
            <a:ext cx="2638425" cy="84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20175" y="4516487"/>
            <a:ext cx="2638425" cy="84951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2"/>
          <p:cNvSpPr txBox="1"/>
          <p:nvPr/>
        </p:nvSpPr>
        <p:spPr>
          <a:xfrm>
            <a:off x="533400" y="457200"/>
            <a:ext cx="4916708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LO4: KPIs &amp; Digital Dashboards</a:t>
            </a:r>
            <a:endParaRPr/>
          </a:p>
        </p:txBody>
      </p:sp>
      <p:pic>
        <p:nvPicPr>
          <p:cNvPr id="317" name="Google Shape;317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105832" y="58474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2"/>
          <p:cNvSpPr txBox="1"/>
          <p:nvPr/>
        </p:nvSpPr>
        <p:spPr>
          <a:xfrm>
            <a:off x="533400" y="1198215"/>
            <a:ext cx="568071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Data-Driven Operational Decision Making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533400" y="1550640"/>
            <a:ext cx="541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Transforming raw operational logs into actionable real-time intelligence using executive and operational dashboards.</a:t>
            </a:r>
            <a:endParaRPr/>
          </a:p>
        </p:txBody>
      </p:sp>
      <p:pic>
        <p:nvPicPr>
          <p:cNvPr id="320" name="Google Shape;320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7925" y="1207740"/>
            <a:ext cx="5391150" cy="307062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2"/>
          <p:cNvSpPr txBox="1"/>
          <p:nvPr/>
        </p:nvSpPr>
        <p:spPr>
          <a:xfrm>
            <a:off x="695325" y="4678412"/>
            <a:ext cx="23145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99.4%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695325" y="5051673"/>
            <a:ext cx="23145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On-Time In-Full (OTIF)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3524250" y="4678412"/>
            <a:ext cx="23145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12.5m</a:t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3524250" y="5051673"/>
            <a:ext cx="23145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Avg Cycle Time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6353175" y="4678412"/>
            <a:ext cx="23145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0.02%</a:t>
            </a: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6353175" y="5051673"/>
            <a:ext cx="23145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Process Error Rate</a:t>
            </a:r>
            <a:endParaRPr/>
          </a:p>
        </p:txBody>
      </p:sp>
      <p:sp>
        <p:nvSpPr>
          <p:cNvPr id="327" name="Google Shape;327;p22"/>
          <p:cNvSpPr txBox="1"/>
          <p:nvPr/>
        </p:nvSpPr>
        <p:spPr>
          <a:xfrm>
            <a:off x="9182100" y="4678412"/>
            <a:ext cx="23145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94/100</a:t>
            </a:r>
            <a:endParaRPr/>
          </a:p>
        </p:txBody>
      </p:sp>
      <p:sp>
        <p:nvSpPr>
          <p:cNvPr id="328" name="Google Shape;328;p22"/>
          <p:cNvSpPr txBox="1"/>
          <p:nvPr/>
        </p:nvSpPr>
        <p:spPr>
          <a:xfrm>
            <a:off x="9182100" y="5051673"/>
            <a:ext cx="23145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Health Index Score</a:t>
            </a:r>
            <a:endParaRPr/>
          </a:p>
        </p:txBody>
      </p:sp>
      <p:sp>
        <p:nvSpPr>
          <p:cNvPr id="329" name="Google Shape;329;p22"/>
          <p:cNvSpPr txBox="1"/>
          <p:nvPr/>
        </p:nvSpPr>
        <p:spPr>
          <a:xfrm>
            <a:off x="800100" y="210309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Core Operational KPIs: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Cycle Time, Order Fulfillment Rate (OTIF), First Contact Resolution (FCR), and Resource Utilization.</a:t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800100" y="267459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Dashboard Architecture: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Real-time visual metrics, threshold alerts, and drill-down analytical capabilities.</a:t>
            </a:r>
            <a:endParaRPr/>
          </a:p>
        </p:txBody>
      </p:sp>
      <p:pic>
        <p:nvPicPr>
          <p:cNvPr id="331" name="Google Shape;331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33400" y="214119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33400" y="2712690"/>
            <a:ext cx="1714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0275" y="503783"/>
            <a:ext cx="18383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198215"/>
            <a:ext cx="541020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2779365"/>
            <a:ext cx="49149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48400" y="1198215"/>
            <a:ext cx="5410200" cy="1433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48400" y="4370040"/>
            <a:ext cx="54102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86525" y="2012602"/>
            <a:ext cx="4933950" cy="38070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3"/>
          <p:cNvSpPr txBox="1"/>
          <p:nvPr/>
        </p:nvSpPr>
        <p:spPr>
          <a:xfrm>
            <a:off x="533400" y="457200"/>
            <a:ext cx="6465651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LO4 Activity: Metric &amp; Dashboard Design</a:t>
            </a:r>
            <a:endParaRPr/>
          </a:p>
        </p:txBody>
      </p:sp>
      <p:pic>
        <p:nvPicPr>
          <p:cNvPr id="345" name="Google Shape;345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90145" y="584745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81050" y="1445865"/>
            <a:ext cx="1863179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3"/>
          <p:cNvSpPr txBox="1"/>
          <p:nvPr/>
        </p:nvSpPr>
        <p:spPr>
          <a:xfrm>
            <a:off x="781050" y="1779240"/>
            <a:ext cx="516064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Executive Dashboard Metric Specification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781050" y="2131665"/>
            <a:ext cx="491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Task: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Design a real-time operational dashboard wireframe for a Chief Operating Officer (COO) overseeing digital operations.</a:t>
            </a:r>
            <a:endParaRPr/>
          </a:p>
        </p:txBody>
      </p:sp>
      <p:pic>
        <p:nvPicPr>
          <p:cNvPr id="349" name="Google Shape;349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95350" y="1503015"/>
            <a:ext cx="120104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3"/>
          <p:cNvSpPr txBox="1"/>
          <p:nvPr/>
        </p:nvSpPr>
        <p:spPr>
          <a:xfrm>
            <a:off x="923925" y="2941290"/>
            <a:ext cx="12287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Lab Requirements:</a:t>
            </a:r>
            <a:endParaRPr/>
          </a:p>
        </p:txBody>
      </p:sp>
      <p:sp>
        <p:nvSpPr>
          <p:cNvPr id="351" name="Google Shape;351;p23"/>
          <p:cNvSpPr txBox="1"/>
          <p:nvPr/>
        </p:nvSpPr>
        <p:spPr>
          <a:xfrm>
            <a:off x="6486525" y="1436340"/>
            <a:ext cx="518064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Sample Formula Definition</a:t>
            </a:r>
            <a:endParaRPr/>
          </a:p>
        </p:txBody>
      </p:sp>
      <p:sp>
        <p:nvSpPr>
          <p:cNvPr id="352" name="Google Shape;352;p23"/>
          <p:cNvSpPr txBox="1"/>
          <p:nvPr/>
        </p:nvSpPr>
        <p:spPr>
          <a:xfrm>
            <a:off x="6486525" y="1750665"/>
            <a:ext cx="49339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Order Fulfillment Rate Formula:</a:t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6486525" y="4608165"/>
            <a:ext cx="518064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Time Allocation (25 Mins)</a:t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6486525" y="4846290"/>
            <a:ext cx="4933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15m Wireframe &amp; KPI Definition | 10m Peer Review</a:t>
            </a:r>
            <a:endParaRPr/>
          </a:p>
        </p:txBody>
      </p:sp>
      <p:sp>
        <p:nvSpPr>
          <p:cNvPr id="355" name="Google Shape;355;p23"/>
          <p:cNvSpPr txBox="1"/>
          <p:nvPr/>
        </p:nvSpPr>
        <p:spPr>
          <a:xfrm>
            <a:off x="981075" y="3188940"/>
            <a:ext cx="114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356" name="Google Shape;356;p23"/>
          <p:cNvSpPr txBox="1"/>
          <p:nvPr/>
        </p:nvSpPr>
        <p:spPr>
          <a:xfrm>
            <a:off x="1095375" y="3188940"/>
            <a:ext cx="4457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Select 4 critical operational KPIs (Efficiency, Quality, Speed, Cost).</a:t>
            </a:r>
            <a:endParaRPr/>
          </a:p>
        </p:txBody>
      </p:sp>
      <p:sp>
        <p:nvSpPr>
          <p:cNvPr id="357" name="Google Shape;357;p23"/>
          <p:cNvSpPr txBox="1"/>
          <p:nvPr/>
        </p:nvSpPr>
        <p:spPr>
          <a:xfrm>
            <a:off x="952500" y="374139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358" name="Google Shape;358;p23"/>
          <p:cNvSpPr txBox="1"/>
          <p:nvPr/>
        </p:nvSpPr>
        <p:spPr>
          <a:xfrm>
            <a:off x="1095375" y="3741390"/>
            <a:ext cx="4457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Define metric calculation formulas and target thresholds for each KPI.</a:t>
            </a:r>
            <a:endParaRPr/>
          </a:p>
        </p:txBody>
      </p:sp>
      <p:sp>
        <p:nvSpPr>
          <p:cNvPr id="359" name="Google Shape;359;p23"/>
          <p:cNvSpPr txBox="1"/>
          <p:nvPr/>
        </p:nvSpPr>
        <p:spPr>
          <a:xfrm>
            <a:off x="952500" y="429384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360" name="Google Shape;360;p23"/>
          <p:cNvSpPr txBox="1"/>
          <p:nvPr/>
        </p:nvSpPr>
        <p:spPr>
          <a:xfrm>
            <a:off x="1095375" y="4293840"/>
            <a:ext cx="4457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Sketch a visual layout structure for key widgets and status alerts.</a:t>
            </a:r>
            <a:endParaRPr/>
          </a:p>
        </p:txBody>
      </p:sp>
      <p:pic>
        <p:nvPicPr>
          <p:cNvPr id="361" name="Google Shape;361;p2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86525" y="146491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93831" y="2146845"/>
            <a:ext cx="2319337" cy="132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486525" y="4636740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82200" y="503783"/>
            <a:ext cx="16764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198215"/>
            <a:ext cx="541020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8400" y="1198215"/>
            <a:ext cx="5410200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4"/>
          <p:cNvSpPr txBox="1"/>
          <p:nvPr/>
        </p:nvSpPr>
        <p:spPr>
          <a:xfrm>
            <a:off x="533400" y="457200"/>
            <a:ext cx="4373827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Unit Summary &amp; Action Plan</a:t>
            </a:r>
            <a:endParaRPr/>
          </a:p>
        </p:txBody>
      </p:sp>
      <p:pic>
        <p:nvPicPr>
          <p:cNvPr id="373" name="Google Shape;37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0481" y="590882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4"/>
          <p:cNvSpPr txBox="1"/>
          <p:nvPr/>
        </p:nvSpPr>
        <p:spPr>
          <a:xfrm>
            <a:off x="771525" y="1436340"/>
            <a:ext cx="518064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Summary of Key Takeaways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6363176" y="2450752"/>
            <a:ext cx="51806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Questions &amp; Discussion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6486525" y="2860327"/>
            <a:ext cx="4933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How will you apply these digital operations concepts to your immediate work environment?</a:t>
            </a:r>
            <a:endParaRPr/>
          </a:p>
        </p:txBody>
      </p:sp>
      <p:pic>
        <p:nvPicPr>
          <p:cNvPr id="377" name="Google Shape;377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147444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4"/>
          <p:cNvSpPr txBox="1"/>
          <p:nvPr/>
        </p:nvSpPr>
        <p:spPr>
          <a:xfrm>
            <a:off x="1038225" y="1826865"/>
            <a:ext cx="4667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LO1: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Lean-Agile principles eliminate waste and boost agility.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1038225" y="2169765"/>
            <a:ext cx="4667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LO2: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RPA and IoT enable automated, real-time supply chains.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1038225" y="2512665"/>
            <a:ext cx="4667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LO3: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Service design connects touchpoints to backend processes.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1038225" y="3084165"/>
            <a:ext cx="4667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LO4: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Real-time KPI dashboards drive data-backed operational decisions.</a:t>
            </a:r>
            <a:endParaRPr/>
          </a:p>
        </p:txBody>
      </p:sp>
      <p:pic>
        <p:nvPicPr>
          <p:cNvPr id="382" name="Google Shape;382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0" y="182210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186496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220786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255076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3122265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5"/>
          <p:cNvSpPr/>
          <p:nvPr/>
        </p:nvSpPr>
        <p:spPr>
          <a:xfrm>
            <a:off x="533400" y="845790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5"/>
          <p:cNvSpPr/>
          <p:nvPr/>
        </p:nvSpPr>
        <p:spPr>
          <a:xfrm>
            <a:off x="533400" y="161731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533400" y="2388840"/>
            <a:ext cx="111252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533400" y="160779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533400" y="160779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5"/>
          <p:cNvSpPr/>
          <p:nvPr/>
        </p:nvSpPr>
        <p:spPr>
          <a:xfrm>
            <a:off x="533400" y="237931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5"/>
          <p:cNvSpPr/>
          <p:nvPr/>
        </p:nvSpPr>
        <p:spPr>
          <a:xfrm>
            <a:off x="533400" y="237931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533400" y="332229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5"/>
          <p:cNvSpPr/>
          <p:nvPr/>
        </p:nvSpPr>
        <p:spPr>
          <a:xfrm>
            <a:off x="533400" y="332229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9886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5"/>
          <p:cNvSpPr txBox="1"/>
          <p:nvPr/>
        </p:nvSpPr>
        <p:spPr>
          <a:xfrm>
            <a:off x="1628775" y="995808"/>
            <a:ext cx="10029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https://businessmap.io/wp-content/uploads/website-images/Agile/what-is-digital-transformation.png</a:t>
            </a:r>
            <a:endParaRPr/>
          </a:p>
        </p:txBody>
      </p:sp>
      <p:sp>
        <p:nvSpPr>
          <p:cNvPr id="403" name="Google Shape;403;p25"/>
          <p:cNvSpPr txBox="1"/>
          <p:nvPr/>
        </p:nvSpPr>
        <p:spPr>
          <a:xfrm>
            <a:off x="1628775" y="1229171"/>
            <a:ext cx="10029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businessmap.io</a:t>
            </a:r>
            <a:endParaRPr/>
          </a:p>
        </p:txBody>
      </p:sp>
      <p:pic>
        <p:nvPicPr>
          <p:cNvPr id="404" name="Google Shape;40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7601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5"/>
          <p:cNvSpPr txBox="1"/>
          <p:nvPr/>
        </p:nvSpPr>
        <p:spPr>
          <a:xfrm>
            <a:off x="1628775" y="1767333"/>
            <a:ext cx="10029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https://congnghiepviet.com.vn/uploads/noidung/images/3d-logistics-center.jpg</a:t>
            </a:r>
            <a:endParaRPr/>
          </a:p>
        </p:txBody>
      </p:sp>
      <p:sp>
        <p:nvSpPr>
          <p:cNvPr id="406" name="Google Shape;406;p25"/>
          <p:cNvSpPr txBox="1"/>
          <p:nvPr/>
        </p:nvSpPr>
        <p:spPr>
          <a:xfrm>
            <a:off x="1628775" y="2000696"/>
            <a:ext cx="10029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congnghiepviet.com.vn</a:t>
            </a:r>
            <a:endParaRPr/>
          </a:p>
        </p:txBody>
      </p:sp>
      <p:pic>
        <p:nvPicPr>
          <p:cNvPr id="407" name="Google Shape;407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26174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5"/>
          <p:cNvSpPr txBox="1"/>
          <p:nvPr/>
        </p:nvSpPr>
        <p:spPr>
          <a:xfrm>
            <a:off x="1628775" y="2531715"/>
            <a:ext cx="100298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https://images.ctfassets.net/w6r2i5d8q73s/4MbJ2mflVFW6t3PzzyZYEP/f8da880064ed27ea221243adc7e20288/customer_journey_map_01_cjm_product_image_EN_standard_3_2_2x.png?fm=webp&amp;q=75</a:t>
            </a:r>
            <a:endParaRPr/>
          </a:p>
        </p:txBody>
      </p:sp>
      <p:sp>
        <p:nvSpPr>
          <p:cNvPr id="409" name="Google Shape;409;p25"/>
          <p:cNvSpPr txBox="1"/>
          <p:nvPr/>
        </p:nvSpPr>
        <p:spPr>
          <a:xfrm>
            <a:off x="1628775" y="2950815"/>
            <a:ext cx="10029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miro.com</a:t>
            </a:r>
            <a:endParaRPr/>
          </a:p>
        </p:txBody>
      </p:sp>
      <p:pic>
        <p:nvPicPr>
          <p:cNvPr id="410" name="Google Shape;410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400" y="34746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5"/>
          <p:cNvSpPr txBox="1"/>
          <p:nvPr/>
        </p:nvSpPr>
        <p:spPr>
          <a:xfrm>
            <a:off x="1628775" y="3481833"/>
            <a:ext cx="10029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https://www.geckoboard.com/uploads/Digital-dashboard-example.png</a:t>
            </a:r>
            <a:endParaRPr/>
          </a:p>
        </p:txBody>
      </p:sp>
      <p:sp>
        <p:nvSpPr>
          <p:cNvPr id="412" name="Google Shape;412;p25"/>
          <p:cNvSpPr txBox="1"/>
          <p:nvPr/>
        </p:nvSpPr>
        <p:spPr>
          <a:xfrm>
            <a:off x="1628775" y="3715196"/>
            <a:ext cx="10029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www.geckoboard.com</a:t>
            </a:r>
            <a:endParaRPr/>
          </a:p>
        </p:txBody>
      </p:sp>
      <p:sp>
        <p:nvSpPr>
          <p:cNvPr id="413" name="Google Shape;413;p25"/>
          <p:cNvSpPr txBox="1"/>
          <p:nvPr/>
        </p:nvSpPr>
        <p:spPr>
          <a:xfrm>
            <a:off x="533400" y="457200"/>
            <a:ext cx="2362013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1313</Words>
  <Application>Microsoft Office PowerPoint</Application>
  <PresentationFormat>Widescreen</PresentationFormat>
  <Paragraphs>157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Plus Jakarta Sans</vt:lpstr>
      <vt:lpstr>Arial</vt:lpstr>
      <vt:lpstr>Inter Medium</vt:lpstr>
      <vt:lpstr>Calibri</vt:lpstr>
      <vt:lpstr>Inter</vt:lpstr>
      <vt:lpstr>Plus Jakarta Sans SemiBold</vt:lpstr>
      <vt:lpstr>Inter SemiBold</vt:lpstr>
      <vt:lpstr>Inter ExtraBold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Marie Chris Soque</cp:lastModifiedBy>
  <cp:revision>1</cp:revision>
  <dcterms:modified xsi:type="dcterms:W3CDTF">2026-09-09T09:09:32Z</dcterms:modified>
</cp:coreProperties>
</file>
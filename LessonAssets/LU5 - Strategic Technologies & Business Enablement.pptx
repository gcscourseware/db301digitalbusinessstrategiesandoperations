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Inter" panose="020B0604020202020204" charset="0"/>
      <p:regular r:id="rId16"/>
      <p:bold r:id="rId17"/>
      <p:italic r:id="rId18"/>
      <p:boldItalic r:id="rId19"/>
    </p:embeddedFont>
    <p:embeddedFont>
      <p:font typeface="Inter SemiBold" panose="020B0604020202020204" charset="0"/>
      <p:regular r:id="rId20"/>
      <p:bold r:id="rId21"/>
      <p:italic r:id="rId22"/>
      <p:boldItalic r:id="rId23"/>
    </p:embeddedFont>
    <p:embeddedFont>
      <p:font typeface="Plus Jakarta Sans" panose="020B0604020202020204" charset="0"/>
      <p:regular r:id="rId24"/>
      <p:bold r:id="rId25"/>
      <p:italic r:id="rId26"/>
      <p:boldItalic r:id="rId27"/>
    </p:embeddedFont>
    <p:embeddedFont>
      <p:font typeface="Plus Jakarta Sans ExtraBold" panose="020B0604020202020204" charset="0"/>
      <p:bold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11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11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3" Type="http://schemas.openxmlformats.org/officeDocument/2006/relationships/image" Target="../media/image11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11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10" Type="http://schemas.openxmlformats.org/officeDocument/2006/relationships/image" Target="../media/image70.jpe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11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10" Type="http://schemas.openxmlformats.org/officeDocument/2006/relationships/image" Target="../media/image76.png"/><Relationship Id="rId4" Type="http://schemas.openxmlformats.org/officeDocument/2006/relationships/image" Target="../media/image71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11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63.png"/><Relationship Id="rId3" Type="http://schemas.openxmlformats.org/officeDocument/2006/relationships/image" Target="../media/image11.png"/><Relationship Id="rId7" Type="http://schemas.openxmlformats.org/officeDocument/2006/relationships/image" Target="../media/image87.png"/><Relationship Id="rId12" Type="http://schemas.openxmlformats.org/officeDocument/2006/relationships/image" Target="../media/image9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11" Type="http://schemas.openxmlformats.org/officeDocument/2006/relationships/image" Target="../media/image90.png"/><Relationship Id="rId5" Type="http://schemas.openxmlformats.org/officeDocument/2006/relationships/image" Target="../media/image85.png"/><Relationship Id="rId10" Type="http://schemas.openxmlformats.org/officeDocument/2006/relationships/image" Target="../media/image89.png"/><Relationship Id="rId4" Type="http://schemas.openxmlformats.org/officeDocument/2006/relationships/image" Target="../media/image84.png"/><Relationship Id="rId9" Type="http://schemas.openxmlformats.org/officeDocument/2006/relationships/image" Target="../media/image8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11.png"/><Relationship Id="rId7" Type="http://schemas.openxmlformats.org/officeDocument/2006/relationships/image" Target="../media/image9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5" Type="http://schemas.openxmlformats.org/officeDocument/2006/relationships/image" Target="../media/image93.png"/><Relationship Id="rId10" Type="http://schemas.openxmlformats.org/officeDocument/2006/relationships/image" Target="../media/image98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108.png"/><Relationship Id="rId3" Type="http://schemas.openxmlformats.org/officeDocument/2006/relationships/image" Target="../media/image11.png"/><Relationship Id="rId7" Type="http://schemas.openxmlformats.org/officeDocument/2006/relationships/image" Target="../media/image103.png"/><Relationship Id="rId12" Type="http://schemas.openxmlformats.org/officeDocument/2006/relationships/image" Target="../media/image10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11" Type="http://schemas.openxmlformats.org/officeDocument/2006/relationships/image" Target="../media/image106.png"/><Relationship Id="rId5" Type="http://schemas.openxmlformats.org/officeDocument/2006/relationships/image" Target="../media/image101.png"/><Relationship Id="rId10" Type="http://schemas.openxmlformats.org/officeDocument/2006/relationships/image" Target="../media/image105.png"/><Relationship Id="rId4" Type="http://schemas.openxmlformats.org/officeDocument/2006/relationships/image" Target="../media/image100.png"/><Relationship Id="rId9" Type="http://schemas.openxmlformats.org/officeDocument/2006/relationships/image" Target="../media/image10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image" Target="../media/image109.png"/><Relationship Id="rId7" Type="http://schemas.openxmlformats.org/officeDocument/2006/relationships/image" Target="../media/image1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10" Type="http://schemas.openxmlformats.org/officeDocument/2006/relationships/image" Target="../media/image63.png"/><Relationship Id="rId4" Type="http://schemas.openxmlformats.org/officeDocument/2006/relationships/image" Target="../media/image110.png"/><Relationship Id="rId9" Type="http://schemas.openxmlformats.org/officeDocument/2006/relationships/image" Target="../media/image1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5314950"/>
            <a:ext cx="2638425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62325" y="5314950"/>
            <a:ext cx="2638425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5314950"/>
            <a:ext cx="2638425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20175" y="5314950"/>
            <a:ext cx="2638425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533400" y="1114425"/>
            <a:ext cx="9001125" cy="1139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 dirty="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Strategic Technologies &amp; Business Enablement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533400" y="2444055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3C5FD"/>
                </a:solidFill>
                <a:latin typeface="Inter"/>
                <a:ea typeface="Inter"/>
                <a:cs typeface="Inter"/>
                <a:sym typeface="Inter"/>
              </a:rPr>
              <a:t>Architecting competitive advantage through foundational technologies, multi-tech integration, adoption lifecycles, and Zero Trust security frameworks.</a:t>
            </a:r>
            <a:endParaRPr/>
          </a:p>
        </p:txBody>
      </p:sp>
      <p:pic>
        <p:nvPicPr>
          <p:cNvPr id="91" name="Google Shape;91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" y="457200"/>
            <a:ext cx="15049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52650" y="457200"/>
            <a:ext cx="250507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714375" y="5848350"/>
            <a:ext cx="22764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LO1: Enablers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714375" y="6067425"/>
            <a:ext cx="22764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Cloud, AI, IoT &amp; Blockchain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3543300" y="5848350"/>
            <a:ext cx="22764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LO2: Architecture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3543300" y="6067425"/>
            <a:ext cx="22764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Multi-Tech Integration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6372225" y="5848350"/>
            <a:ext cx="22764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LO3: Diffusion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6372225" y="6067425"/>
            <a:ext cx="22764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Rogers' Adoption Model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9201150" y="5848350"/>
            <a:ext cx="22764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LO4: Zero Trust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9201150" y="6067425"/>
            <a:ext cx="227647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Cybersecurity &amp; Risk</a:t>
            </a:r>
            <a:endParaRPr/>
          </a:p>
        </p:txBody>
      </p:sp>
      <p:pic>
        <p:nvPicPr>
          <p:cNvPr id="101" name="Google Shape;101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5380" y="528637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86000" y="528637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14375" y="55149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543300" y="5514975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372225" y="55149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201150" y="5514975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381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689696"/>
            <a:ext cx="1112520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1575521"/>
            <a:ext cx="1112520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2461346"/>
            <a:ext cx="1112520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" y="3347171"/>
            <a:ext cx="1112520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4232996"/>
            <a:ext cx="1112520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5118821"/>
            <a:ext cx="1112520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3400" y="6004646"/>
            <a:ext cx="1112520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15600" y="932583"/>
            <a:ext cx="9525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515600" y="1818408"/>
            <a:ext cx="9525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515600" y="2704233"/>
            <a:ext cx="9525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515600" y="3590058"/>
            <a:ext cx="9525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515600" y="4475883"/>
            <a:ext cx="9525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515600" y="5361708"/>
            <a:ext cx="9525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515600" y="6247533"/>
            <a:ext cx="9525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632602" y="108671"/>
            <a:ext cx="2025997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4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714107" y="194396"/>
            <a:ext cx="1364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4"/>
          <p:cNvSpPr txBox="1"/>
          <p:nvPr/>
        </p:nvSpPr>
        <p:spPr>
          <a:xfrm>
            <a:off x="762000" y="965921"/>
            <a:ext cx="1333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00:00 - 00:15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762000" y="1851746"/>
            <a:ext cx="1333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00:15 - 00:55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762000" y="2737571"/>
            <a:ext cx="1333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00:55 - 01:35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762000" y="3623396"/>
            <a:ext cx="1333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01:35 - 01:50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762000" y="4509221"/>
            <a:ext cx="1333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01:50 - 02:30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762000" y="5395046"/>
            <a:ext cx="1333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02:30 - 03:10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762000" y="6280871"/>
            <a:ext cx="13335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03:10 - 03:15</a:t>
            </a:r>
            <a:endParaRPr/>
          </a:p>
        </p:txBody>
      </p:sp>
      <p:pic>
        <p:nvPicPr>
          <p:cNvPr id="135" name="Google Shape;135;p14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62000" y="984971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4"/>
          <p:cNvSpPr txBox="1"/>
          <p:nvPr/>
        </p:nvSpPr>
        <p:spPr>
          <a:xfrm>
            <a:off x="2286000" y="842096"/>
            <a:ext cx="844105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Session Opening &amp; Unit Overview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2286000" y="1070696"/>
            <a:ext cx="80391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Introduction to LU5 concepts, business enablement goals, and learning expectations.</a:t>
            </a:r>
            <a:endParaRPr/>
          </a:p>
        </p:txBody>
      </p:sp>
      <p:pic>
        <p:nvPicPr>
          <p:cNvPr id="138" name="Google Shape;138;p14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62000" y="1870796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4"/>
          <p:cNvSpPr txBox="1"/>
          <p:nvPr/>
        </p:nvSpPr>
        <p:spPr>
          <a:xfrm>
            <a:off x="2286000" y="1727921"/>
            <a:ext cx="844105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LO1: Foundational Enablers &amp; Enterprise Operations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2286000" y="1956521"/>
            <a:ext cx="80391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Lecture on Cloud, AI, IoT &amp; Blockchain (25m) + </a:t>
            </a:r>
            <a:r>
              <a:rPr lang="en-US" sz="10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Activity 1: Enabler Matrix Audit</a:t>
            </a: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(15m)</a:t>
            </a:r>
            <a:endParaRPr/>
          </a:p>
        </p:txBody>
      </p:sp>
      <p:pic>
        <p:nvPicPr>
          <p:cNvPr id="141" name="Google Shape;141;p14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62000" y="2756621"/>
            <a:ext cx="1809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4"/>
          <p:cNvSpPr txBox="1"/>
          <p:nvPr/>
        </p:nvSpPr>
        <p:spPr>
          <a:xfrm>
            <a:off x="2286000" y="2613746"/>
            <a:ext cx="844105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LO2: Multi-Technology Architectures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2286000" y="2842346"/>
            <a:ext cx="80391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Operational bottlenecks in logistics &amp; data (25m) + </a:t>
            </a:r>
            <a:r>
              <a:rPr lang="en-US" sz="10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Activity 2: Architecture Blueprinting</a:t>
            </a: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(15m)</a:t>
            </a:r>
            <a:endParaRPr/>
          </a:p>
        </p:txBody>
      </p:sp>
      <p:pic>
        <p:nvPicPr>
          <p:cNvPr id="144" name="Google Shape;144;p14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62000" y="3642446"/>
            <a:ext cx="1809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4"/>
          <p:cNvSpPr txBox="1"/>
          <p:nvPr/>
        </p:nvSpPr>
        <p:spPr>
          <a:xfrm>
            <a:off x="2286000" y="3499571"/>
            <a:ext cx="844105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65F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Networking &amp; Refreshment Break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2286000" y="3728171"/>
            <a:ext cx="80391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47857"/>
                </a:solidFill>
                <a:latin typeface="Inter"/>
                <a:ea typeface="Inter"/>
                <a:cs typeface="Inter"/>
                <a:sym typeface="Inter"/>
              </a:rPr>
              <a:t>Rest break to refresh before adoption lifecycles and cybersecurity modules.</a:t>
            </a:r>
            <a:endParaRPr/>
          </a:p>
        </p:txBody>
      </p:sp>
      <p:pic>
        <p:nvPicPr>
          <p:cNvPr id="147" name="Google Shape;147;p14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62000" y="4528271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4"/>
          <p:cNvSpPr txBox="1"/>
          <p:nvPr/>
        </p:nvSpPr>
        <p:spPr>
          <a:xfrm>
            <a:off x="2286000" y="4385396"/>
            <a:ext cx="844105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LO3: Rogers' Diffusion of Innovation Framework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2286000" y="4613996"/>
            <a:ext cx="80391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Adoption lifecycles &amp; user segments (25m) + </a:t>
            </a:r>
            <a:r>
              <a:rPr lang="en-US" sz="10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Activity 3: Innovation Mapping Workshop</a:t>
            </a: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(15m)</a:t>
            </a:r>
            <a:endParaRPr/>
          </a:p>
        </p:txBody>
      </p:sp>
      <p:pic>
        <p:nvPicPr>
          <p:cNvPr id="150" name="Google Shape;150;p14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762000" y="5414096"/>
            <a:ext cx="1238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4"/>
          <p:cNvSpPr txBox="1"/>
          <p:nvPr/>
        </p:nvSpPr>
        <p:spPr>
          <a:xfrm>
            <a:off x="2286000" y="5271221"/>
            <a:ext cx="844105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LO4: Zero Trust &amp; Cybersecurity Adoption</a:t>
            </a:r>
            <a:endParaRPr/>
          </a:p>
        </p:txBody>
      </p:sp>
      <p:sp>
        <p:nvSpPr>
          <p:cNvPr id="152" name="Google Shape;152;p14"/>
          <p:cNvSpPr txBox="1"/>
          <p:nvPr/>
        </p:nvSpPr>
        <p:spPr>
          <a:xfrm>
            <a:off x="2286000" y="5499821"/>
            <a:ext cx="80391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Zero Trust principles &amp; risk mitigation (25m) + </a:t>
            </a:r>
            <a:r>
              <a:rPr lang="en-US" sz="10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Activity 4: Security Simulation</a:t>
            </a: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(15m)</a:t>
            </a:r>
            <a:endParaRPr/>
          </a:p>
        </p:txBody>
      </p:sp>
      <p:pic>
        <p:nvPicPr>
          <p:cNvPr id="153" name="Google Shape;153;p14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762000" y="6299921"/>
            <a:ext cx="1238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4"/>
          <p:cNvSpPr txBox="1"/>
          <p:nvPr/>
        </p:nvSpPr>
        <p:spPr>
          <a:xfrm>
            <a:off x="2286000" y="6157046"/>
            <a:ext cx="844105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Unit Synthesis &amp; Q&amp;A Wrap-Up</a:t>
            </a:r>
            <a:endParaRPr/>
          </a:p>
        </p:txBody>
      </p:sp>
      <p:sp>
        <p:nvSpPr>
          <p:cNvPr id="155" name="Google Shape;155;p14"/>
          <p:cNvSpPr txBox="1"/>
          <p:nvPr/>
        </p:nvSpPr>
        <p:spPr>
          <a:xfrm>
            <a:off x="2286000" y="6385646"/>
            <a:ext cx="8039100" cy="85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Key takeaways, inter-LO connections, and final participant Q&amp;A.</a:t>
            </a:r>
            <a:endParaRPr/>
          </a:p>
        </p:txBody>
      </p:sp>
      <p:sp>
        <p:nvSpPr>
          <p:cNvPr id="156" name="Google Shape;156;p14"/>
          <p:cNvSpPr txBox="1"/>
          <p:nvPr/>
        </p:nvSpPr>
        <p:spPr>
          <a:xfrm>
            <a:off x="514364" y="94384"/>
            <a:ext cx="851303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Lesson Agenda &amp; Schedule Breakdown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8191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1990725"/>
            <a:ext cx="5467350" cy="1652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1990725"/>
            <a:ext cx="5467350" cy="1652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3400" y="3833812"/>
            <a:ext cx="5467350" cy="1652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91250" y="3833812"/>
            <a:ext cx="5467350" cy="1652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142785" y="495300"/>
            <a:ext cx="1515814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05880" y="571500"/>
            <a:ext cx="1364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5"/>
          <p:cNvSpPr txBox="1"/>
          <p:nvPr/>
        </p:nvSpPr>
        <p:spPr>
          <a:xfrm>
            <a:off x="771525" y="2762250"/>
            <a:ext cx="499110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Evaluate foundational technological enablers—</a:t>
            </a:r>
            <a:r>
              <a:rPr lang="en-US" sz="11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Cloud Computing, Artificial Intelligence (AI), Internet of Things (IoT), and Blockchain</a:t>
            </a: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—to streamline enterprise operations and eliminate workflow friction.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6429375" y="2762250"/>
            <a:ext cx="499110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Synthesize multi-technology architectures that solve real-world operational bottlenecks across </a:t>
            </a:r>
            <a:r>
              <a:rPr lang="en-US" sz="11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logistics, data security, and real-time executive decision-making</a:t>
            </a: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771525" y="4605337"/>
            <a:ext cx="499110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Apply </a:t>
            </a:r>
            <a:r>
              <a:rPr lang="en-US" sz="11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Rogers' Diffusion of Innovation framework</a:t>
            </a: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to analyze technological adoption lifecycles, user dynamics, and friction points across enterprise user segments.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6429375" y="4605337"/>
            <a:ext cx="499110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Construct robust cybersecurity adoption frameworks that balance risk mitigation, </a:t>
            </a:r>
            <a:r>
              <a:rPr lang="en-US" sz="1125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Zero Trust principles</a:t>
            </a:r>
            <a:r>
              <a:rPr lang="en-US" sz="112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and complex organizational change dynamics.</a:t>
            </a:r>
            <a:endParaRPr/>
          </a:p>
        </p:txBody>
      </p:sp>
      <p:pic>
        <p:nvPicPr>
          <p:cNvPr id="172" name="Google Shape;172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1525" y="222885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29375" y="222885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71525" y="407193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29375" y="4071937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5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85825" y="234315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5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529387" y="2343150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5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71537" y="4186237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5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519862" y="4186237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5"/>
          <p:cNvSpPr txBox="1"/>
          <p:nvPr/>
        </p:nvSpPr>
        <p:spPr>
          <a:xfrm>
            <a:off x="533400" y="494915"/>
            <a:ext cx="4897768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Learning Outcomes (LOs)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6"/>
          <p:cNvSpPr txBox="1"/>
          <p:nvPr/>
        </p:nvSpPr>
        <p:spPr>
          <a:xfrm>
            <a:off x="533400" y="800100"/>
            <a:ext cx="5640705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Technologies Streamlining Operations</a:t>
            </a:r>
            <a:endParaRPr/>
          </a:p>
        </p:txBody>
      </p:sp>
      <p:pic>
        <p:nvPicPr>
          <p:cNvPr id="187" name="Google Shape;18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67506"/>
            <a:ext cx="5905500" cy="6790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" y="457200"/>
            <a:ext cx="22479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3400" y="165735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33400" y="238125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33400" y="310515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33400" y="382905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09600" y="1752600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6"/>
          <p:cNvSpPr txBox="1"/>
          <p:nvPr/>
        </p:nvSpPr>
        <p:spPr>
          <a:xfrm>
            <a:off x="1009649" y="1657350"/>
            <a:ext cx="2046533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Cloud Computing:</a:t>
            </a:r>
            <a:endParaRPr dirty="0"/>
          </a:p>
        </p:txBody>
      </p:sp>
      <p:sp>
        <p:nvSpPr>
          <p:cNvPr id="195" name="Google Shape;195;p16"/>
          <p:cNvSpPr txBox="1"/>
          <p:nvPr/>
        </p:nvSpPr>
        <p:spPr>
          <a:xfrm>
            <a:off x="1009650" y="1847850"/>
            <a:ext cx="48958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Provides elastic scalability, democratized access to data, and reduced legacy infrastructure costs.</a:t>
            </a:r>
            <a:endParaRPr/>
          </a:p>
        </p:txBody>
      </p:sp>
      <p:pic>
        <p:nvPicPr>
          <p:cNvPr id="196" name="Google Shape;196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28650" y="247650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6"/>
          <p:cNvSpPr txBox="1"/>
          <p:nvPr/>
        </p:nvSpPr>
        <p:spPr>
          <a:xfrm>
            <a:off x="1009650" y="2381250"/>
            <a:ext cx="2292009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Artificial Intelligence (AI):</a:t>
            </a:r>
            <a:endParaRPr dirty="0"/>
          </a:p>
        </p:txBody>
      </p:sp>
      <p:sp>
        <p:nvSpPr>
          <p:cNvPr id="198" name="Google Shape;198;p16"/>
          <p:cNvSpPr txBox="1"/>
          <p:nvPr/>
        </p:nvSpPr>
        <p:spPr>
          <a:xfrm>
            <a:off x="1009650" y="2571750"/>
            <a:ext cx="48958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Automates repetitive workflows, powers predictive analytics, and drives intelligent decision assistance.</a:t>
            </a:r>
            <a:endParaRPr/>
          </a:p>
        </p:txBody>
      </p:sp>
      <p:pic>
        <p:nvPicPr>
          <p:cNvPr id="199" name="Google Shape;199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09600" y="3200400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6"/>
          <p:cNvSpPr txBox="1"/>
          <p:nvPr/>
        </p:nvSpPr>
        <p:spPr>
          <a:xfrm>
            <a:off x="1009650" y="3105150"/>
            <a:ext cx="17907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Internet of Things (IoT):</a:t>
            </a:r>
            <a:endParaRPr dirty="0"/>
          </a:p>
        </p:txBody>
      </p:sp>
      <p:sp>
        <p:nvSpPr>
          <p:cNvPr id="201" name="Google Shape;201;p16"/>
          <p:cNvSpPr txBox="1"/>
          <p:nvPr/>
        </p:nvSpPr>
        <p:spPr>
          <a:xfrm>
            <a:off x="1009650" y="3295650"/>
            <a:ext cx="48958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Captures real-time telemetry from physical assets, supply chains, and operational environments.</a:t>
            </a:r>
            <a:endParaRPr/>
          </a:p>
        </p:txBody>
      </p:sp>
      <p:pic>
        <p:nvPicPr>
          <p:cNvPr id="202" name="Google Shape;202;p1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09600" y="3924300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6"/>
          <p:cNvSpPr txBox="1"/>
          <p:nvPr/>
        </p:nvSpPr>
        <p:spPr>
          <a:xfrm>
            <a:off x="1009650" y="3829050"/>
            <a:ext cx="857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Blockchain:</a:t>
            </a:r>
            <a:endParaRPr/>
          </a:p>
        </p:txBody>
      </p:sp>
      <p:sp>
        <p:nvSpPr>
          <p:cNvPr id="204" name="Google Shape;204;p16"/>
          <p:cNvSpPr txBox="1"/>
          <p:nvPr/>
        </p:nvSpPr>
        <p:spPr>
          <a:xfrm>
            <a:off x="1009650" y="4019550"/>
            <a:ext cx="48958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Ensures immutable record-keeping, decentralized verification, and smart contract execution.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1988343"/>
            <a:ext cx="11125200" cy="3500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0100" y="3636168"/>
            <a:ext cx="5200650" cy="1585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0" y="3636168"/>
            <a:ext cx="5200650" cy="1585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53175" y="4569618"/>
            <a:ext cx="4876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35033" y="495300"/>
            <a:ext cx="1623566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110402" y="594880"/>
            <a:ext cx="1364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7"/>
          <p:cNvSpPr txBox="1"/>
          <p:nvPr/>
        </p:nvSpPr>
        <p:spPr>
          <a:xfrm>
            <a:off x="800100" y="2636043"/>
            <a:ext cx="1112139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Enterprise Tech Capability &amp; Audit Matrix</a:t>
            </a:r>
            <a:endParaRPr dirty="0"/>
          </a:p>
        </p:txBody>
      </p:sp>
      <p:sp>
        <p:nvSpPr>
          <p:cNvPr id="218" name="Google Shape;218;p17"/>
          <p:cNvSpPr txBox="1"/>
          <p:nvPr/>
        </p:nvSpPr>
        <p:spPr>
          <a:xfrm>
            <a:off x="800100" y="3017043"/>
            <a:ext cx="105918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Select a target enterprise sector (e.g., Healthcare, Logistics, Banking). Evaluate how integrating Cloud, AI, IoT, and Blockchain directly solves current operational friction points.</a:t>
            </a:r>
            <a:endParaRPr/>
          </a:p>
        </p:txBody>
      </p:sp>
      <p:pic>
        <p:nvPicPr>
          <p:cNvPr id="219" name="Google Shape;219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00100" y="2293141"/>
            <a:ext cx="2329726" cy="24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97256" y="2347718"/>
            <a:ext cx="157162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7"/>
          <p:cNvSpPr txBox="1"/>
          <p:nvPr/>
        </p:nvSpPr>
        <p:spPr>
          <a:xfrm>
            <a:off x="962025" y="3798093"/>
            <a:ext cx="512064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Participant Tasks: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6353175" y="3798093"/>
            <a:ext cx="512064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59E0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Expected Deliverable:</a:t>
            </a:r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6353175" y="4074318"/>
            <a:ext cx="48768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Complete a 2x2 Enabler Assessment Matrix on flipcharts/digital board detailing technology synergy and operational ROI.</a:t>
            </a:r>
            <a:endParaRPr/>
          </a:p>
        </p:txBody>
      </p:sp>
      <p:pic>
        <p:nvPicPr>
          <p:cNvPr id="224" name="Google Shape;224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37477" y="3820531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7"/>
          <p:cNvSpPr txBox="1"/>
          <p:nvPr/>
        </p:nvSpPr>
        <p:spPr>
          <a:xfrm>
            <a:off x="1228725" y="4074318"/>
            <a:ext cx="461010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Identify 2 key operational bottlenecks in your chosen sector.</a:t>
            </a:r>
            <a:endParaRPr/>
          </a:p>
        </p:txBody>
      </p:sp>
      <p:sp>
        <p:nvSpPr>
          <p:cNvPr id="226" name="Google Shape;226;p17"/>
          <p:cNvSpPr txBox="1"/>
          <p:nvPr/>
        </p:nvSpPr>
        <p:spPr>
          <a:xfrm>
            <a:off x="1228725" y="4402931"/>
            <a:ext cx="461010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Map at least 2 foundational technologies as direct enablers.</a:t>
            </a:r>
            <a:endParaRPr/>
          </a:p>
        </p:txBody>
      </p:sp>
      <p:sp>
        <p:nvSpPr>
          <p:cNvPr id="227" name="Google Shape;227;p17"/>
          <p:cNvSpPr txBox="1"/>
          <p:nvPr/>
        </p:nvSpPr>
        <p:spPr>
          <a:xfrm>
            <a:off x="1228725" y="4731543"/>
            <a:ext cx="461010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Estimate efficiency gain (e.g., speed, accuracy, cost).</a:t>
            </a:r>
            <a:endParaRPr/>
          </a:p>
        </p:txBody>
      </p:sp>
      <p:pic>
        <p:nvPicPr>
          <p:cNvPr id="228" name="Google Shape;228;p17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281862" y="4683918"/>
            <a:ext cx="152400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7"/>
          <p:cNvSpPr txBox="1"/>
          <p:nvPr/>
        </p:nvSpPr>
        <p:spPr>
          <a:xfrm>
            <a:off x="533400" y="475059"/>
            <a:ext cx="6837032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LO1 Activity: Enabler Impact Assessment</a:t>
            </a:r>
            <a:endParaRPr dirty="0"/>
          </a:p>
        </p:txBody>
      </p:sp>
      <p:pic>
        <p:nvPicPr>
          <p:cNvPr id="230" name="Google Shape;230;p17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62025" y="4093368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7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62025" y="4421981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7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62025" y="4750593"/>
            <a:ext cx="114300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1323975"/>
            <a:ext cx="5372100" cy="96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" y="2438400"/>
            <a:ext cx="5372100" cy="96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" y="3552825"/>
            <a:ext cx="5372100" cy="9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8"/>
          <p:cNvSpPr txBox="1"/>
          <p:nvPr/>
        </p:nvSpPr>
        <p:spPr>
          <a:xfrm>
            <a:off x="533400" y="800100"/>
            <a:ext cx="564070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Synthesizing Multi-Technology Stack</a:t>
            </a:r>
            <a:endParaRPr/>
          </a:p>
        </p:txBody>
      </p:sp>
      <p:pic>
        <p:nvPicPr>
          <p:cNvPr id="243" name="Google Shape;24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3400" y="457200"/>
            <a:ext cx="262413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8"/>
          <p:cNvSpPr txBox="1"/>
          <p:nvPr/>
        </p:nvSpPr>
        <p:spPr>
          <a:xfrm>
            <a:off x="695325" y="1485900"/>
            <a:ext cx="530066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Operational Logistics Integration</a:t>
            </a:r>
            <a:endParaRPr/>
          </a:p>
        </p:txBody>
      </p:sp>
      <p:sp>
        <p:nvSpPr>
          <p:cNvPr id="245" name="Google Shape;245;p18"/>
          <p:cNvSpPr txBox="1"/>
          <p:nvPr/>
        </p:nvSpPr>
        <p:spPr>
          <a:xfrm>
            <a:off x="695325" y="1724025"/>
            <a:ext cx="50482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Combining IoT sensor telemetry with Cloud database storage and AI prediction models to optimize supply chain delivery schedules in real time.</a:t>
            </a:r>
            <a:endParaRPr/>
          </a:p>
        </p:txBody>
      </p:sp>
      <p:sp>
        <p:nvSpPr>
          <p:cNvPr id="246" name="Google Shape;246;p18"/>
          <p:cNvSpPr txBox="1"/>
          <p:nvPr/>
        </p:nvSpPr>
        <p:spPr>
          <a:xfrm>
            <a:off x="695325" y="2600325"/>
            <a:ext cx="530066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Security Layering</a:t>
            </a:r>
            <a:endParaRPr/>
          </a:p>
        </p:txBody>
      </p:sp>
      <p:sp>
        <p:nvSpPr>
          <p:cNvPr id="247" name="Google Shape;247;p18"/>
          <p:cNvSpPr txBox="1"/>
          <p:nvPr/>
        </p:nvSpPr>
        <p:spPr>
          <a:xfrm>
            <a:off x="695325" y="2838450"/>
            <a:ext cx="50482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Embedding Blockchain ledger verification alongside AI-driven anomaly detection to safeguard sensitive cross-border transaction logs.</a:t>
            </a:r>
            <a:endParaRPr/>
          </a:p>
        </p:txBody>
      </p:sp>
      <p:sp>
        <p:nvSpPr>
          <p:cNvPr id="248" name="Google Shape;248;p18"/>
          <p:cNvSpPr txBox="1"/>
          <p:nvPr/>
        </p:nvSpPr>
        <p:spPr>
          <a:xfrm>
            <a:off x="695325" y="3714750"/>
            <a:ext cx="530066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Real-time Executive Decision Making</a:t>
            </a:r>
            <a:endParaRPr/>
          </a:p>
        </p:txBody>
      </p:sp>
      <p:sp>
        <p:nvSpPr>
          <p:cNvPr id="249" name="Google Shape;249;p18"/>
          <p:cNvSpPr txBox="1"/>
          <p:nvPr/>
        </p:nvSpPr>
        <p:spPr>
          <a:xfrm>
            <a:off x="695325" y="3952875"/>
            <a:ext cx="50482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Consolidating disparate multi-cloud and edge feeds into automated executive dashboards powered by prescriptive intelligence algorithms.</a:t>
            </a:r>
            <a:endParaRPr/>
          </a:p>
        </p:txBody>
      </p:sp>
      <p:pic>
        <p:nvPicPr>
          <p:cNvPr id="250" name="Google Shape;250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3887" y="1504790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2937" y="263708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3887" y="374332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F487FBC-8815-11DA-1455-1EA194E8ACE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67425" y="1323975"/>
            <a:ext cx="6006248" cy="43552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2135981"/>
            <a:ext cx="11125200" cy="3205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0100" y="4683918"/>
            <a:ext cx="105918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0100" y="3569493"/>
            <a:ext cx="3429000" cy="9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381500" y="3569493"/>
            <a:ext cx="3429000" cy="9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62900" y="3569493"/>
            <a:ext cx="3429000" cy="9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46877" y="495300"/>
            <a:ext cx="2111722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28382" y="581025"/>
            <a:ext cx="1364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9"/>
          <p:cNvSpPr txBox="1"/>
          <p:nvPr/>
        </p:nvSpPr>
        <p:spPr>
          <a:xfrm>
            <a:off x="2629731" y="2402681"/>
            <a:ext cx="8829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59E0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Case Scenario Challenge</a:t>
            </a:r>
            <a:endParaRPr dirty="0"/>
          </a:p>
        </p:txBody>
      </p:sp>
      <p:sp>
        <p:nvSpPr>
          <p:cNvPr id="266" name="Google Shape;266;p19"/>
          <p:cNvSpPr txBox="1"/>
          <p:nvPr/>
        </p:nvSpPr>
        <p:spPr>
          <a:xfrm>
            <a:off x="800100" y="2783681"/>
            <a:ext cx="1112139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Scenario: Resolving Global Logistics &amp; Data Friction</a:t>
            </a:r>
            <a:endParaRPr/>
          </a:p>
        </p:txBody>
      </p:sp>
      <p:sp>
        <p:nvSpPr>
          <p:cNvPr id="267" name="Google Shape;267;p19"/>
          <p:cNvSpPr txBox="1"/>
          <p:nvPr/>
        </p:nvSpPr>
        <p:spPr>
          <a:xfrm>
            <a:off x="800100" y="3164681"/>
            <a:ext cx="1059180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global shipping enterprise suffers from delayed container tracking, data tampering risks, and slow decision-making due to fragmented legacy databases.</a:t>
            </a:r>
            <a:endParaRPr/>
          </a:p>
        </p:txBody>
      </p:sp>
      <p:pic>
        <p:nvPicPr>
          <p:cNvPr id="268" name="Google Shape;268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00100" y="2402681"/>
            <a:ext cx="17621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9"/>
          <p:cNvSpPr txBox="1"/>
          <p:nvPr/>
        </p:nvSpPr>
        <p:spPr>
          <a:xfrm>
            <a:off x="962025" y="3731418"/>
            <a:ext cx="31051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Step 1: Data Ingestion</a:t>
            </a:r>
            <a:endParaRPr/>
          </a:p>
        </p:txBody>
      </p:sp>
      <p:sp>
        <p:nvSpPr>
          <p:cNvPr id="270" name="Google Shape;270;p19"/>
          <p:cNvSpPr txBox="1"/>
          <p:nvPr/>
        </p:nvSpPr>
        <p:spPr>
          <a:xfrm>
            <a:off x="962025" y="3979068"/>
            <a:ext cx="31051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Design IoT sensor deployment for containers to capture location, temp, and status.</a:t>
            </a:r>
            <a:endParaRPr/>
          </a:p>
        </p:txBody>
      </p:sp>
      <p:sp>
        <p:nvSpPr>
          <p:cNvPr id="271" name="Google Shape;271;p19"/>
          <p:cNvSpPr txBox="1"/>
          <p:nvPr/>
        </p:nvSpPr>
        <p:spPr>
          <a:xfrm>
            <a:off x="4543425" y="3731418"/>
            <a:ext cx="31051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Step 2: Trust &amp; Compute</a:t>
            </a:r>
            <a:endParaRPr/>
          </a:p>
        </p:txBody>
      </p:sp>
      <p:sp>
        <p:nvSpPr>
          <p:cNvPr id="272" name="Google Shape;272;p19"/>
          <p:cNvSpPr txBox="1"/>
          <p:nvPr/>
        </p:nvSpPr>
        <p:spPr>
          <a:xfrm>
            <a:off x="4543425" y="3979068"/>
            <a:ext cx="31051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Pipe data into Cloud storage and lock bill-of-lading logs onto Blockchain.</a:t>
            </a:r>
            <a:endParaRPr/>
          </a:p>
        </p:txBody>
      </p:sp>
      <p:sp>
        <p:nvSpPr>
          <p:cNvPr id="273" name="Google Shape;273;p19"/>
          <p:cNvSpPr txBox="1"/>
          <p:nvPr/>
        </p:nvSpPr>
        <p:spPr>
          <a:xfrm>
            <a:off x="8124825" y="3731418"/>
            <a:ext cx="31051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Step 3: AI Intelligence</a:t>
            </a:r>
            <a:endParaRPr/>
          </a:p>
        </p:txBody>
      </p:sp>
      <p:sp>
        <p:nvSpPr>
          <p:cNvPr id="274" name="Google Shape;274;p19"/>
          <p:cNvSpPr txBox="1"/>
          <p:nvPr/>
        </p:nvSpPr>
        <p:spPr>
          <a:xfrm>
            <a:off x="8124825" y="3979068"/>
            <a:ext cx="31051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Apply machine learning models to predict customs delays and auto-reroute ships.</a:t>
            </a:r>
            <a:endParaRPr/>
          </a:p>
        </p:txBody>
      </p:sp>
      <p:sp>
        <p:nvSpPr>
          <p:cNvPr id="275" name="Google Shape;275;p19"/>
          <p:cNvSpPr txBox="1"/>
          <p:nvPr/>
        </p:nvSpPr>
        <p:spPr>
          <a:xfrm>
            <a:off x="533400" y="457200"/>
            <a:ext cx="8162605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LO2 Activity: Multi-Tech Architecture Blueprinting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0"/>
          <p:cNvSpPr txBox="1"/>
          <p:nvPr/>
        </p:nvSpPr>
        <p:spPr>
          <a:xfrm>
            <a:off x="533400" y="800100"/>
            <a:ext cx="564070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Diffusion of Innovation Framework</a:t>
            </a:r>
            <a:endParaRPr/>
          </a:p>
        </p:txBody>
      </p:sp>
      <p:pic>
        <p:nvPicPr>
          <p:cNvPr id="283" name="Google Shape;28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457200"/>
            <a:ext cx="26384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0"/>
          <p:cNvSpPr txBox="1"/>
          <p:nvPr/>
        </p:nvSpPr>
        <p:spPr>
          <a:xfrm>
            <a:off x="533400" y="1285875"/>
            <a:ext cx="53721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Understanding how innovative technologies spread across enterprise user segments is critical for overcoming adoption resistance.</a:t>
            </a:r>
            <a:endParaRPr/>
          </a:p>
        </p:txBody>
      </p:sp>
      <p:pic>
        <p:nvPicPr>
          <p:cNvPr id="285" name="Google Shape;28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" y="1838325"/>
            <a:ext cx="571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0"/>
          <p:cNvSpPr txBox="1"/>
          <p:nvPr/>
        </p:nvSpPr>
        <p:spPr>
          <a:xfrm>
            <a:off x="1219199" y="1838325"/>
            <a:ext cx="495490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Innovators: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Risk-tolerant tech pioneers who champion new tech.</a:t>
            </a:r>
            <a:endParaRPr dirty="0"/>
          </a:p>
        </p:txBody>
      </p:sp>
      <p:pic>
        <p:nvPicPr>
          <p:cNvPr id="287" name="Google Shape;28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3400" y="2158304"/>
            <a:ext cx="571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0"/>
          <p:cNvSpPr txBox="1"/>
          <p:nvPr/>
        </p:nvSpPr>
        <p:spPr>
          <a:xfrm>
            <a:off x="1219200" y="2158303"/>
            <a:ext cx="468629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Early Adopters: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Visionary leaders seeking strategic edge.</a:t>
            </a:r>
            <a:endParaRPr dirty="0"/>
          </a:p>
        </p:txBody>
      </p:sp>
      <p:pic>
        <p:nvPicPr>
          <p:cNvPr id="289" name="Google Shape;28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33400" y="2505421"/>
            <a:ext cx="571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0"/>
          <p:cNvSpPr txBox="1"/>
          <p:nvPr/>
        </p:nvSpPr>
        <p:spPr>
          <a:xfrm>
            <a:off x="1219200" y="2505421"/>
            <a:ext cx="47053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Early Majority: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Pragmatists requiring proven ROI &amp; case studies.</a:t>
            </a:r>
            <a:endParaRPr dirty="0"/>
          </a:p>
        </p:txBody>
      </p:sp>
      <p:pic>
        <p:nvPicPr>
          <p:cNvPr id="291" name="Google Shape;291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33400" y="2917106"/>
            <a:ext cx="552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0"/>
          <p:cNvSpPr txBox="1"/>
          <p:nvPr/>
        </p:nvSpPr>
        <p:spPr>
          <a:xfrm>
            <a:off x="1200150" y="2821856"/>
            <a:ext cx="47053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Late Majority: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Skeptics who adopt only due to market/peer pressure.</a:t>
            </a:r>
            <a:endParaRPr dirty="0"/>
          </a:p>
        </p:txBody>
      </p:sp>
      <p:pic>
        <p:nvPicPr>
          <p:cNvPr id="293" name="Google Shape;293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33400" y="3393356"/>
            <a:ext cx="563314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0"/>
          <p:cNvSpPr txBox="1"/>
          <p:nvPr/>
        </p:nvSpPr>
        <p:spPr>
          <a:xfrm>
            <a:off x="1211014" y="3298106"/>
            <a:ext cx="469448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Laggards: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Traditionalists bound by legacy habits and risk aversion.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041AB4-BD9A-9A67-CADE-956D1528B8E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65257" y="834551"/>
            <a:ext cx="5621548" cy="39746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1909762"/>
            <a:ext cx="111252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0100" y="3557587"/>
            <a:ext cx="5200650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0" y="3557587"/>
            <a:ext cx="5200650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99252" y="495300"/>
            <a:ext cx="2159347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42127" y="581025"/>
            <a:ext cx="1364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1"/>
          <p:cNvSpPr txBox="1"/>
          <p:nvPr/>
        </p:nvSpPr>
        <p:spPr>
          <a:xfrm>
            <a:off x="2690812" y="2176462"/>
            <a:ext cx="870108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59E0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Organizational Change Analysis</a:t>
            </a:r>
            <a:endParaRPr/>
          </a:p>
        </p:txBody>
      </p:sp>
      <p:sp>
        <p:nvSpPr>
          <p:cNvPr id="306" name="Google Shape;306;p21"/>
          <p:cNvSpPr txBox="1"/>
          <p:nvPr/>
        </p:nvSpPr>
        <p:spPr>
          <a:xfrm>
            <a:off x="800100" y="2557462"/>
            <a:ext cx="1112139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Crossing the Tech Adoption "Chasm" in Enterprise</a:t>
            </a:r>
            <a:endParaRPr/>
          </a:p>
        </p:txBody>
      </p:sp>
      <p:sp>
        <p:nvSpPr>
          <p:cNvPr id="307" name="Google Shape;307;p21"/>
          <p:cNvSpPr txBox="1"/>
          <p:nvPr/>
        </p:nvSpPr>
        <p:spPr>
          <a:xfrm>
            <a:off x="800100" y="2938462"/>
            <a:ext cx="105918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Analyze a target enterprise user base undergoing Enterprise AI or Cloud ERP adoption. Map internal stakeholders to Rogers' 5 user segments and devise targeted adoption nudges.</a:t>
            </a:r>
            <a:endParaRPr/>
          </a:p>
        </p:txBody>
      </p:sp>
      <p:pic>
        <p:nvPicPr>
          <p:cNvPr id="308" name="Google Shape;308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0100" y="2176462"/>
            <a:ext cx="1890712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95350" y="2233612"/>
            <a:ext cx="128587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1"/>
          <p:cNvSpPr txBox="1"/>
          <p:nvPr/>
        </p:nvSpPr>
        <p:spPr>
          <a:xfrm>
            <a:off x="981075" y="3738562"/>
            <a:ext cx="508063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Stakeholder Categorization</a:t>
            </a:r>
            <a:endParaRPr/>
          </a:p>
        </p:txBody>
      </p:sp>
      <p:sp>
        <p:nvSpPr>
          <p:cNvPr id="311" name="Google Shape;311;p21"/>
          <p:cNvSpPr txBox="1"/>
          <p:nvPr/>
        </p:nvSpPr>
        <p:spPr>
          <a:xfrm>
            <a:off x="6372225" y="3738562"/>
            <a:ext cx="508063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4D39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Strategic Enablement Plan</a:t>
            </a:r>
            <a:endParaRPr/>
          </a:p>
        </p:txBody>
      </p:sp>
      <p:pic>
        <p:nvPicPr>
          <p:cNvPr id="312" name="Google Shape;312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81075" y="3767137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1"/>
          <p:cNvSpPr txBox="1"/>
          <p:nvPr/>
        </p:nvSpPr>
        <p:spPr>
          <a:xfrm>
            <a:off x="1247775" y="4033837"/>
            <a:ext cx="45720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Identify who inside the enterprise acts as the </a:t>
            </a:r>
            <a:r>
              <a:rPr lang="en-US" sz="1125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Early Majority</a:t>
            </a: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vs </a:t>
            </a:r>
            <a:r>
              <a:rPr lang="en-US" sz="1125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Late Majority</a:t>
            </a: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314" name="Google Shape;314;p21"/>
          <p:cNvSpPr txBox="1"/>
          <p:nvPr/>
        </p:nvSpPr>
        <p:spPr>
          <a:xfrm>
            <a:off x="1247775" y="4576762"/>
            <a:ext cx="45720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Pinpoint the main psychological &amp; technical barriers causing inertia.</a:t>
            </a:r>
            <a:endParaRPr/>
          </a:p>
        </p:txBody>
      </p:sp>
      <p:pic>
        <p:nvPicPr>
          <p:cNvPr id="315" name="Google Shape;315;p2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372225" y="3767137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1"/>
          <p:cNvSpPr txBox="1"/>
          <p:nvPr/>
        </p:nvSpPr>
        <p:spPr>
          <a:xfrm>
            <a:off x="6638925" y="4033837"/>
            <a:ext cx="45720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Formulate 2 tactics to convert </a:t>
            </a:r>
            <a:r>
              <a:rPr lang="en-US" sz="1125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Early Adopters</a:t>
            </a: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into internal change champions.</a:t>
            </a:r>
            <a:endParaRPr/>
          </a:p>
        </p:txBody>
      </p:sp>
      <p:sp>
        <p:nvSpPr>
          <p:cNvPr id="317" name="Google Shape;317;p21"/>
          <p:cNvSpPr txBox="1"/>
          <p:nvPr/>
        </p:nvSpPr>
        <p:spPr>
          <a:xfrm>
            <a:off x="6638925" y="4576762"/>
            <a:ext cx="457200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Design a training &amp; risk-mitigation incentive for the </a:t>
            </a:r>
            <a:r>
              <a:rPr lang="en-US" sz="1125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Late Majority</a:t>
            </a: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318" name="Google Shape;318;p21"/>
          <p:cNvSpPr txBox="1"/>
          <p:nvPr/>
        </p:nvSpPr>
        <p:spPr>
          <a:xfrm>
            <a:off x="533400" y="457200"/>
            <a:ext cx="11125200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LO3 Activity: Tech Adoption &amp; Chasm Mapping</a:t>
            </a:r>
            <a:endParaRPr/>
          </a:p>
        </p:txBody>
      </p:sp>
      <p:pic>
        <p:nvPicPr>
          <p:cNvPr id="319" name="Google Shape;319;p21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81075" y="4052887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1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81075" y="4595812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1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372225" y="4052887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1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372225" y="4595812"/>
            <a:ext cx="114300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1838325"/>
            <a:ext cx="53721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" y="2809875"/>
            <a:ext cx="53721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3400" y="3781425"/>
            <a:ext cx="537210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2"/>
          <p:cNvSpPr txBox="1"/>
          <p:nvPr/>
        </p:nvSpPr>
        <p:spPr>
          <a:xfrm>
            <a:off x="533400" y="800100"/>
            <a:ext cx="564070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 Trust Architecture &amp; Risk Principles</a:t>
            </a:r>
            <a:endParaRPr/>
          </a:p>
        </p:txBody>
      </p:sp>
      <p:pic>
        <p:nvPicPr>
          <p:cNvPr id="333" name="Google Shape;333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33400" y="457200"/>
            <a:ext cx="261461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2"/>
          <p:cNvSpPr txBox="1"/>
          <p:nvPr/>
        </p:nvSpPr>
        <p:spPr>
          <a:xfrm>
            <a:off x="533400" y="1285875"/>
            <a:ext cx="53721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Modern business enablement requires shifting from perimeter-based defense to a strict </a:t>
            </a:r>
            <a:r>
              <a:rPr lang="en-US" sz="10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Never Trust, Always Verify</a:t>
            </a: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security stance.</a:t>
            </a:r>
            <a:endParaRPr/>
          </a:p>
        </p:txBody>
      </p:sp>
      <p:sp>
        <p:nvSpPr>
          <p:cNvPr id="335" name="Google Shape;335;p22"/>
          <p:cNvSpPr txBox="1"/>
          <p:nvPr/>
        </p:nvSpPr>
        <p:spPr>
          <a:xfrm>
            <a:off x="676275" y="1981200"/>
            <a:ext cx="534066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Explicit Verification</a:t>
            </a:r>
            <a:endParaRPr/>
          </a:p>
        </p:txBody>
      </p:sp>
      <p:sp>
        <p:nvSpPr>
          <p:cNvPr id="336" name="Google Shape;336;p22"/>
          <p:cNvSpPr txBox="1"/>
          <p:nvPr/>
        </p:nvSpPr>
        <p:spPr>
          <a:xfrm>
            <a:off x="676275" y="2181225"/>
            <a:ext cx="50863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Always authenticate and authorize based on all available data points (user identity, location, device health).</a:t>
            </a:r>
            <a:endParaRPr/>
          </a:p>
        </p:txBody>
      </p:sp>
      <p:sp>
        <p:nvSpPr>
          <p:cNvPr id="337" name="Google Shape;337;p22"/>
          <p:cNvSpPr txBox="1"/>
          <p:nvPr/>
        </p:nvSpPr>
        <p:spPr>
          <a:xfrm>
            <a:off x="676275" y="2952750"/>
            <a:ext cx="534066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9A34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Least Privilege Access</a:t>
            </a:r>
            <a:endParaRPr/>
          </a:p>
        </p:txBody>
      </p:sp>
      <p:sp>
        <p:nvSpPr>
          <p:cNvPr id="338" name="Google Shape;338;p22"/>
          <p:cNvSpPr txBox="1"/>
          <p:nvPr/>
        </p:nvSpPr>
        <p:spPr>
          <a:xfrm>
            <a:off x="676275" y="3152775"/>
            <a:ext cx="50863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7C2D12"/>
                </a:solidFill>
                <a:latin typeface="Inter"/>
                <a:ea typeface="Inter"/>
                <a:cs typeface="Inter"/>
                <a:sym typeface="Inter"/>
              </a:rPr>
              <a:t>Limit user access with Just-In-Time (JIT) and Just-Enough-Access (JEA) policies to safeguard core assets.</a:t>
            </a:r>
            <a:endParaRPr/>
          </a:p>
        </p:txBody>
      </p:sp>
      <p:sp>
        <p:nvSpPr>
          <p:cNvPr id="339" name="Google Shape;339;p22"/>
          <p:cNvSpPr txBox="1"/>
          <p:nvPr/>
        </p:nvSpPr>
        <p:spPr>
          <a:xfrm>
            <a:off x="676275" y="3924300"/>
            <a:ext cx="534066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Assume Breach</a:t>
            </a:r>
            <a:endParaRPr/>
          </a:p>
        </p:txBody>
      </p:sp>
      <p:sp>
        <p:nvSpPr>
          <p:cNvPr id="340" name="Google Shape;340;p22"/>
          <p:cNvSpPr txBox="1"/>
          <p:nvPr/>
        </p:nvSpPr>
        <p:spPr>
          <a:xfrm>
            <a:off x="676275" y="4124325"/>
            <a:ext cx="50863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rPr>
              <a:t>Minimize blast radius by segmenting networks, encrypting end-to-end data, and utilizing real-time AI threat analytics.</a:t>
            </a:r>
            <a:endParaRPr/>
          </a:p>
        </p:txBody>
      </p:sp>
      <p:pic>
        <p:nvPicPr>
          <p:cNvPr id="341" name="Google Shape;341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6275" y="2009775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6275" y="2981325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76275" y="3952875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238FBA1-AB06-058F-5DAE-6BD12371DFF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72200" y="1509712"/>
            <a:ext cx="5486400" cy="3086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6CC457-B6E9-F031-174A-4C3D895C5CD7}"/>
              </a:ext>
            </a:extLst>
          </p:cNvPr>
          <p:cNvSpPr txBox="1"/>
          <p:nvPr/>
        </p:nvSpPr>
        <p:spPr>
          <a:xfrm>
            <a:off x="6389153" y="1201935"/>
            <a:ext cx="56885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Zero trust cybersecurity shield network infrastructure security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2216943"/>
            <a:ext cx="11125200" cy="3043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0100" y="3864768"/>
            <a:ext cx="3429000" cy="1128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81500" y="3864768"/>
            <a:ext cx="3429000" cy="1128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62900" y="3864768"/>
            <a:ext cx="3429000" cy="1128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30047" y="495300"/>
            <a:ext cx="2228552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17689" y="581025"/>
            <a:ext cx="1364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3"/>
          <p:cNvSpPr txBox="1"/>
          <p:nvPr/>
        </p:nvSpPr>
        <p:spPr>
          <a:xfrm>
            <a:off x="2795587" y="2477234"/>
            <a:ext cx="869156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59E0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Strategy &amp; Change Dynamics</a:t>
            </a:r>
            <a:endParaRPr dirty="0"/>
          </a:p>
        </p:txBody>
      </p:sp>
      <p:sp>
        <p:nvSpPr>
          <p:cNvPr id="356" name="Google Shape;356;p23"/>
          <p:cNvSpPr txBox="1"/>
          <p:nvPr/>
        </p:nvSpPr>
        <p:spPr>
          <a:xfrm>
            <a:off x="800100" y="2864643"/>
            <a:ext cx="1112139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Balancing Zero Trust Controls &amp; User Experience</a:t>
            </a:r>
            <a:endParaRPr/>
          </a:p>
        </p:txBody>
      </p:sp>
      <p:sp>
        <p:nvSpPr>
          <p:cNvPr id="357" name="Google Shape;357;p23"/>
          <p:cNvSpPr txBox="1"/>
          <p:nvPr/>
        </p:nvSpPr>
        <p:spPr>
          <a:xfrm>
            <a:off x="800100" y="3245643"/>
            <a:ext cx="105918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Strict security policies often create user friction and push staff toward unauthorized "Shadow IT". How do you balance risk mitigation with business productivity?</a:t>
            </a:r>
            <a:endParaRPr/>
          </a:p>
        </p:txBody>
      </p:sp>
      <p:pic>
        <p:nvPicPr>
          <p:cNvPr id="358" name="Google Shape;358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0100" y="2483643"/>
            <a:ext cx="1900237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95350" y="2540793"/>
            <a:ext cx="128587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3"/>
          <p:cNvSpPr txBox="1"/>
          <p:nvPr/>
        </p:nvSpPr>
        <p:spPr>
          <a:xfrm>
            <a:off x="962025" y="4026693"/>
            <a:ext cx="31051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Risk Analysis</a:t>
            </a:r>
            <a:endParaRPr/>
          </a:p>
        </p:txBody>
      </p:sp>
      <p:sp>
        <p:nvSpPr>
          <p:cNvPr id="361" name="Google Shape;361;p23"/>
          <p:cNvSpPr txBox="1"/>
          <p:nvPr/>
        </p:nvSpPr>
        <p:spPr>
          <a:xfrm>
            <a:off x="962025" y="4274343"/>
            <a:ext cx="31051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Identify 3 security vulnerabilities caused by rapid Cloud/IoT adoption in mobile work environments.</a:t>
            </a:r>
            <a:endParaRPr/>
          </a:p>
        </p:txBody>
      </p:sp>
      <p:sp>
        <p:nvSpPr>
          <p:cNvPr id="362" name="Google Shape;362;p23"/>
          <p:cNvSpPr txBox="1"/>
          <p:nvPr/>
        </p:nvSpPr>
        <p:spPr>
          <a:xfrm>
            <a:off x="4543425" y="4026693"/>
            <a:ext cx="31051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Policy Design</a:t>
            </a:r>
            <a:endParaRPr/>
          </a:p>
        </p:txBody>
      </p:sp>
      <p:sp>
        <p:nvSpPr>
          <p:cNvPr id="363" name="Google Shape;363;p23"/>
          <p:cNvSpPr txBox="1"/>
          <p:nvPr/>
        </p:nvSpPr>
        <p:spPr>
          <a:xfrm>
            <a:off x="4543425" y="4274343"/>
            <a:ext cx="31051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Formulate dynamic MFA and Passwordless policies that secure devices without frustrating employees.</a:t>
            </a:r>
            <a:endParaRPr/>
          </a:p>
        </p:txBody>
      </p:sp>
      <p:sp>
        <p:nvSpPr>
          <p:cNvPr id="364" name="Google Shape;364;p23"/>
          <p:cNvSpPr txBox="1"/>
          <p:nvPr/>
        </p:nvSpPr>
        <p:spPr>
          <a:xfrm>
            <a:off x="8124825" y="4026693"/>
            <a:ext cx="31051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Change Management</a:t>
            </a:r>
            <a:endParaRPr/>
          </a:p>
        </p:txBody>
      </p:sp>
      <p:sp>
        <p:nvSpPr>
          <p:cNvPr id="365" name="Google Shape;365;p23"/>
          <p:cNvSpPr txBox="1"/>
          <p:nvPr/>
        </p:nvSpPr>
        <p:spPr>
          <a:xfrm>
            <a:off x="8124825" y="4274343"/>
            <a:ext cx="3105150" cy="55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Outline a rollout campaign to educate staff and overcome organizational pushback against Zero Trust.</a:t>
            </a:r>
            <a:endParaRPr/>
          </a:p>
        </p:txBody>
      </p:sp>
      <p:pic>
        <p:nvPicPr>
          <p:cNvPr id="366" name="Google Shape;366;p2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62025" y="4045743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2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543425" y="4045743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124825" y="4045743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3"/>
          <p:cNvSpPr txBox="1"/>
          <p:nvPr/>
        </p:nvSpPr>
        <p:spPr>
          <a:xfrm>
            <a:off x="533400" y="457200"/>
            <a:ext cx="7321848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LO4 Activity: Zero Trust Adoption Simulation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72650" y="628650"/>
            <a:ext cx="1885950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" y="2519362"/>
            <a:ext cx="5448300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0300" y="2519362"/>
            <a:ext cx="5448300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4"/>
          <p:cNvSpPr txBox="1"/>
          <p:nvPr/>
        </p:nvSpPr>
        <p:spPr>
          <a:xfrm>
            <a:off x="533400" y="457200"/>
            <a:ext cx="3924300" cy="65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Summary &amp; Synthesis</a:t>
            </a:r>
            <a:endParaRPr/>
          </a:p>
        </p:txBody>
      </p:sp>
      <p:sp>
        <p:nvSpPr>
          <p:cNvPr id="379" name="Google Shape;379;p24"/>
          <p:cNvSpPr txBox="1"/>
          <p:nvPr/>
        </p:nvSpPr>
        <p:spPr>
          <a:xfrm>
            <a:off x="533400" y="685800"/>
            <a:ext cx="4120515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LU5 Strategic Synthesis</a:t>
            </a:r>
            <a:endParaRPr/>
          </a:p>
        </p:txBody>
      </p:sp>
      <p:pic>
        <p:nvPicPr>
          <p:cNvPr id="380" name="Google Shape;380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33634" y="723900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4"/>
          <p:cNvSpPr txBox="1"/>
          <p:nvPr/>
        </p:nvSpPr>
        <p:spPr>
          <a:xfrm>
            <a:off x="771525" y="2757487"/>
            <a:ext cx="5220652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Takeaways</a:t>
            </a:r>
            <a:endParaRPr/>
          </a:p>
        </p:txBody>
      </p:sp>
      <p:pic>
        <p:nvPicPr>
          <p:cNvPr id="382" name="Google Shape;382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48700" y="300037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24"/>
          <p:cNvSpPr txBox="1"/>
          <p:nvPr/>
        </p:nvSpPr>
        <p:spPr>
          <a:xfrm>
            <a:off x="7574280" y="3724275"/>
            <a:ext cx="272034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Questions &amp; Discussion</a:t>
            </a:r>
            <a:endParaRPr/>
          </a:p>
        </p:txBody>
      </p:sp>
      <p:sp>
        <p:nvSpPr>
          <p:cNvPr id="384" name="Google Shape;384;p24"/>
          <p:cNvSpPr txBox="1"/>
          <p:nvPr/>
        </p:nvSpPr>
        <p:spPr>
          <a:xfrm>
            <a:off x="7029450" y="4086225"/>
            <a:ext cx="38100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Thank you for participating! Open floor for participant questions, scenario reviews, and module feedback.</a:t>
            </a:r>
            <a:endParaRPr/>
          </a:p>
        </p:txBody>
      </p:sp>
      <p:pic>
        <p:nvPicPr>
          <p:cNvPr id="385" name="Google Shape;385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1525" y="2795587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24"/>
          <p:cNvSpPr txBox="1"/>
          <p:nvPr/>
        </p:nvSpPr>
        <p:spPr>
          <a:xfrm>
            <a:off x="1038225" y="3128962"/>
            <a:ext cx="47053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Technology enablers (Cloud, AI, IoT, Blockchain) deliver exponential value when synthesized into multi-tech architectures.</a:t>
            </a:r>
            <a:endParaRPr/>
          </a:p>
        </p:txBody>
      </p:sp>
      <p:sp>
        <p:nvSpPr>
          <p:cNvPr id="387" name="Google Shape;387;p24"/>
          <p:cNvSpPr txBox="1"/>
          <p:nvPr/>
        </p:nvSpPr>
        <p:spPr>
          <a:xfrm>
            <a:off x="1038225" y="3671887"/>
            <a:ext cx="47053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Rogers' Diffusion Framework provides the strategic lens needed to bridge technical design with human adoption.</a:t>
            </a:r>
            <a:endParaRPr/>
          </a:p>
        </p:txBody>
      </p:sp>
      <p:sp>
        <p:nvSpPr>
          <p:cNvPr id="388" name="Google Shape;388;p24"/>
          <p:cNvSpPr txBox="1"/>
          <p:nvPr/>
        </p:nvSpPr>
        <p:spPr>
          <a:xfrm>
            <a:off x="1038225" y="4214812"/>
            <a:ext cx="47053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Zero Trust security must act as an enabler—balancing risk mitigation with seamless user experience.</a:t>
            </a:r>
            <a:endParaRPr/>
          </a:p>
        </p:txBody>
      </p:sp>
      <p:pic>
        <p:nvPicPr>
          <p:cNvPr id="389" name="Google Shape;389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767762" y="3152775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2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1525" y="3148012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2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1525" y="3690937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2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1525" y="4233862"/>
            <a:ext cx="114300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5"/>
          <p:cNvSpPr/>
          <p:nvPr/>
        </p:nvSpPr>
        <p:spPr>
          <a:xfrm>
            <a:off x="533400" y="2124075"/>
            <a:ext cx="111252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5"/>
          <p:cNvSpPr/>
          <p:nvPr/>
        </p:nvSpPr>
        <p:spPr>
          <a:xfrm>
            <a:off x="533400" y="2895600"/>
            <a:ext cx="111252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5"/>
          <p:cNvSpPr/>
          <p:nvPr/>
        </p:nvSpPr>
        <p:spPr>
          <a:xfrm>
            <a:off x="533400" y="3667125"/>
            <a:ext cx="111252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5"/>
          <p:cNvSpPr/>
          <p:nvPr/>
        </p:nvSpPr>
        <p:spPr>
          <a:xfrm>
            <a:off x="533400" y="288607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5"/>
          <p:cNvSpPr/>
          <p:nvPr/>
        </p:nvSpPr>
        <p:spPr>
          <a:xfrm>
            <a:off x="533400" y="288607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5"/>
          <p:cNvSpPr/>
          <p:nvPr/>
        </p:nvSpPr>
        <p:spPr>
          <a:xfrm>
            <a:off x="533400" y="3657600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5"/>
          <p:cNvSpPr/>
          <p:nvPr/>
        </p:nvSpPr>
        <p:spPr>
          <a:xfrm>
            <a:off x="533400" y="3657600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5"/>
          <p:cNvSpPr/>
          <p:nvPr/>
        </p:nvSpPr>
        <p:spPr>
          <a:xfrm>
            <a:off x="533400" y="442912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5"/>
          <p:cNvSpPr/>
          <p:nvPr/>
        </p:nvSpPr>
        <p:spPr>
          <a:xfrm>
            <a:off x="533400" y="442912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7" name="Google Shape;407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22669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25"/>
          <p:cNvSpPr txBox="1"/>
          <p:nvPr/>
        </p:nvSpPr>
        <p:spPr>
          <a:xfrm>
            <a:off x="1628775" y="2274093"/>
            <a:ext cx="100298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https://www.mdpi.com/sensors/sensors-25-02147/article_deploy/html/images/sensors-25-02147-g004-550.jpg</a:t>
            </a:r>
            <a:endParaRPr/>
          </a:p>
        </p:txBody>
      </p:sp>
      <p:sp>
        <p:nvSpPr>
          <p:cNvPr id="409" name="Google Shape;409;p25"/>
          <p:cNvSpPr txBox="1"/>
          <p:nvPr/>
        </p:nvSpPr>
        <p:spPr>
          <a:xfrm>
            <a:off x="1628775" y="2507456"/>
            <a:ext cx="100298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www.mdpi.com</a:t>
            </a:r>
            <a:endParaRPr/>
          </a:p>
        </p:txBody>
      </p:sp>
      <p:pic>
        <p:nvPicPr>
          <p:cNvPr id="410" name="Google Shape;410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" y="30384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5"/>
          <p:cNvSpPr txBox="1"/>
          <p:nvPr/>
        </p:nvSpPr>
        <p:spPr>
          <a:xfrm>
            <a:off x="1628775" y="3045618"/>
            <a:ext cx="100298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https://iotdunia.com/wp-content/uploads/2019/09/working-of-a-smart-supply-chain.jpg</a:t>
            </a:r>
            <a:endParaRPr dirty="0"/>
          </a:p>
        </p:txBody>
      </p:sp>
      <p:sp>
        <p:nvSpPr>
          <p:cNvPr id="412" name="Google Shape;412;p25"/>
          <p:cNvSpPr txBox="1"/>
          <p:nvPr/>
        </p:nvSpPr>
        <p:spPr>
          <a:xfrm>
            <a:off x="1628775" y="3278981"/>
            <a:ext cx="100298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iotdunia.com</a:t>
            </a:r>
            <a:endParaRPr/>
          </a:p>
        </p:txBody>
      </p:sp>
      <p:pic>
        <p:nvPicPr>
          <p:cNvPr id="413" name="Google Shape;413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3400" y="38100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25"/>
          <p:cNvSpPr txBox="1"/>
          <p:nvPr/>
        </p:nvSpPr>
        <p:spPr>
          <a:xfrm>
            <a:off x="1628775" y="3817143"/>
            <a:ext cx="100298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https://b-plannow.com/wp-content/uploads/2025/02/The-Rogers-curve-diffusion-of-innovation.png</a:t>
            </a:r>
            <a:endParaRPr dirty="0"/>
          </a:p>
        </p:txBody>
      </p:sp>
      <p:sp>
        <p:nvSpPr>
          <p:cNvPr id="415" name="Google Shape;415;p25"/>
          <p:cNvSpPr txBox="1"/>
          <p:nvPr/>
        </p:nvSpPr>
        <p:spPr>
          <a:xfrm>
            <a:off x="1628775" y="4050506"/>
            <a:ext cx="100298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b-plannow.com</a:t>
            </a:r>
            <a:endParaRPr/>
          </a:p>
        </p:txBody>
      </p:sp>
      <p:pic>
        <p:nvPicPr>
          <p:cNvPr id="416" name="Google Shape;416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33400" y="46672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5"/>
          <p:cNvSpPr txBox="1"/>
          <p:nvPr/>
        </p:nvSpPr>
        <p:spPr>
          <a:xfrm>
            <a:off x="1628775" y="4581525"/>
            <a:ext cx="100298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https://lh4.googleusercontent.com/A7ka3pFstseL-KtKzoPkr8UflXeLjPobaqCgTPBmiQRyVHEqpwVwB3LknNy0osrYoBeA9LkWuei9s3HcTpKOZJ46Lxjf1pWxQGDvfe9OPrmT67BF2mvTKDZ-8zN7K6hWScHDt-KL</a:t>
            </a:r>
            <a:endParaRPr dirty="0"/>
          </a:p>
        </p:txBody>
      </p:sp>
      <p:sp>
        <p:nvSpPr>
          <p:cNvPr id="418" name="Google Shape;418;p25"/>
          <p:cNvSpPr txBox="1"/>
          <p:nvPr/>
        </p:nvSpPr>
        <p:spPr>
          <a:xfrm>
            <a:off x="1628775" y="5000625"/>
            <a:ext cx="100298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www.actiac.org</a:t>
            </a:r>
            <a:endParaRPr/>
          </a:p>
        </p:txBody>
      </p:sp>
      <p:sp>
        <p:nvSpPr>
          <p:cNvPr id="419" name="Google Shape;419;p25"/>
          <p:cNvSpPr txBox="1"/>
          <p:nvPr/>
        </p:nvSpPr>
        <p:spPr>
          <a:xfrm>
            <a:off x="533400" y="457200"/>
            <a:ext cx="1165860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1215</Words>
  <Application>Microsoft Office PowerPoint</Application>
  <PresentationFormat>Widescreen</PresentationFormat>
  <Paragraphs>125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Plus Jakarta Sans</vt:lpstr>
      <vt:lpstr>Calibri</vt:lpstr>
      <vt:lpstr>Plus Jakarta Sans ExtraBold</vt:lpstr>
      <vt:lpstr>Inter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Marie Chris Soque</cp:lastModifiedBy>
  <cp:revision>2</cp:revision>
  <dcterms:modified xsi:type="dcterms:W3CDTF">2026-09-09T09:51:07Z</dcterms:modified>
</cp:coreProperties>
</file>